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Inter"/>
      <p:bold r:id="rId32"/>
      <p:boldItalic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488EA3-85B3-4B72-9505-CE827A8DE694}">
  <a:tblStyle styleId="{FF488EA3-85B3-4B72-9505-CE827A8DE69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nter-boldItalic.fntdata"/><Relationship Id="rId10" Type="http://schemas.openxmlformats.org/officeDocument/2006/relationships/slide" Target="slides/slide4.xml"/><Relationship Id="rId32" Type="http://schemas.openxmlformats.org/officeDocument/2006/relationships/font" Target="fonts/Inter-bold.fntdata"/><Relationship Id="rId13" Type="http://schemas.openxmlformats.org/officeDocument/2006/relationships/slide" Target="slides/slide7.xml"/><Relationship Id="rId35" Type="http://schemas.openxmlformats.org/officeDocument/2006/relationships/font" Target="fonts/RobotoMono-bold.fntdata"/><Relationship Id="rId12" Type="http://schemas.openxmlformats.org/officeDocument/2006/relationships/slide" Target="slides/slide6.xml"/><Relationship Id="rId34" Type="http://schemas.openxmlformats.org/officeDocument/2006/relationships/font" Target="fonts/RobotoMono-regular.fntdata"/><Relationship Id="rId15" Type="http://schemas.openxmlformats.org/officeDocument/2006/relationships/slide" Target="slides/slide9.xml"/><Relationship Id="rId37" Type="http://schemas.openxmlformats.org/officeDocument/2006/relationships/font" Target="fonts/RobotoMono-boldItalic.fntdata"/><Relationship Id="rId14" Type="http://schemas.openxmlformats.org/officeDocument/2006/relationships/slide" Target="slides/slide8.xml"/><Relationship Id="rId36" Type="http://schemas.openxmlformats.org/officeDocument/2006/relationships/font" Target="fonts/RobotoMon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 name="Shape 8"/>
        <p:cNvGrpSpPr/>
        <p:nvPr/>
      </p:nvGrpSpPr>
      <p:grpSpPr>
        <a:xfrm>
          <a:off x="0" y="0"/>
          <a:ext cx="0" cy="0"/>
          <a:chOff x="0" y="0"/>
          <a:chExt cx="0" cy="0"/>
        </a:xfrm>
      </p:grpSpPr>
      <p:sp>
        <p:nvSpPr>
          <p:cNvPr id="9" name="Google Shape;9;g3e4bfc8af25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 name="Google Shape;10;g3e4bfc8af25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 name="Google Shape;11;g3e4bfc8af25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g3ed07dcc34b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 name="Google Shape;23;g3ed07dcc34b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4bfc8af25_2_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g3e4bfc8af25_2_5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g3e4bfc8af25_2_5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4bfc8af25_2_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e4bfc8af25_2_7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3e4bfc8af25_2_7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4bfc8af25_2_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e4bfc8af25_2_8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e4bfc8af25_2_8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4bfc8af25_2_1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e4bfc8af25_2_12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e4bfc8af25_2_12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4bfc8af25_2_1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3e4bfc8af25_2_16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e4bfc8af25_2_16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4faecdc0d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4faecdc0d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8c8c53a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8c8c53a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d07dcc34b_0_1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ed07dcc34b_0_12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GB" sz="1050">
                <a:solidFill>
                  <a:srgbClr val="D4D4D4"/>
                </a:solidFill>
                <a:highlight>
                  <a:srgbClr val="1E1E1E"/>
                </a:highlight>
              </a:rPr>
              <a:t>“Every sample becomes a fixed 2304-number fingerprint: we parse the PE and scan bytes, hash imports and section names, and lightly disassemble code. No sandbox run. The model learns patterns in headers, entropy, strings, and API usage—typical malware signals like packing, odd sections, and dangerous imports.”</a:t>
            </a:r>
            <a:endParaRPr/>
          </a:p>
        </p:txBody>
      </p:sp>
      <p:sp>
        <p:nvSpPr>
          <p:cNvPr id="210" name="Google Shape;210;g3ed07dcc34b_0_12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4bfc8af25_2_2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e4bfc8af25_2_21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GB" sz="1050">
                <a:solidFill>
                  <a:srgbClr val="D4D4D4"/>
                </a:solidFill>
                <a:highlight>
                  <a:srgbClr val="1E1E1E"/>
                </a:highlight>
              </a:rPr>
              <a:t>“Every sample becomes a fixed 2304-number fingerprint: we parse the PE and scan bytes, hash imports and section names, and lightly disassemble code. No sandbox run. The model learns patterns in headers, entropy, strings, and API usage—typical malware signals like packing, odd sections, and dangerous imports.”</a:t>
            </a:r>
            <a:endParaRPr/>
          </a:p>
        </p:txBody>
      </p:sp>
      <p:sp>
        <p:nvSpPr>
          <p:cNvPr id="246" name="Google Shape;246;g3e4bfc8af25_2_21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d07dcc34b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ed07dcc34b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e4bfc8af25_2_2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3e4bfc8af25_2_25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The 3-Step Training Process</a:t>
            </a:r>
            <a:endParaRPr b="1" sz="13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Step 1: Feature Selection (Filtering the Noise)</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Every file starts with </a:t>
            </a:r>
            <a:r>
              <a:rPr b="1" lang="en-GB">
                <a:solidFill>
                  <a:schemeClr val="dk1"/>
                </a:solidFill>
              </a:rPr>
              <a:t>2,304 features</a:t>
            </a:r>
            <a:r>
              <a:rPr lang="en-GB">
                <a:solidFill>
                  <a:schemeClr val="dk1"/>
                </a:solidFill>
              </a:rPr>
              <a:t> (data points) extracted from it.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To keep the model fast and smart, a quick, temporary </a:t>
            </a:r>
            <a:r>
              <a:rPr b="1" lang="en-GB">
                <a:solidFill>
                  <a:schemeClr val="dk1"/>
                </a:solidFill>
              </a:rPr>
              <a:t>XGBoost</a:t>
            </a:r>
            <a:r>
              <a:rPr lang="en-GB">
                <a:solidFill>
                  <a:schemeClr val="dk1"/>
                </a:solidFill>
              </a:rPr>
              <a:t> model is trained.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only job is to rank the features by importance and keep only the </a:t>
            </a:r>
            <a:r>
              <a:rPr b="1" lang="en-GB">
                <a:solidFill>
                  <a:schemeClr val="dk1"/>
                </a:solidFill>
              </a:rPr>
              <a:t>top 384 features</a:t>
            </a:r>
            <a:r>
              <a:rPr lang="en-GB">
                <a:solidFill>
                  <a:schemeClr val="dk1"/>
                </a:solidFill>
              </a:rPr>
              <a:t>, throwing away the rest. </a:t>
            </a:r>
            <a:r>
              <a:rPr i="1" lang="en-GB">
                <a:solidFill>
                  <a:schemeClr val="dk1"/>
                </a:solidFill>
              </a:rPr>
              <a:t>(If this fails, it falls back to keeping the features with the highest variance).</a:t>
            </a:r>
            <a:endParaRPr i="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Step 2: Optuna (Finding the Best Settings)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Using only those 384 features, an optimization tool called </a:t>
            </a:r>
            <a:r>
              <a:rPr b="1" lang="en-GB">
                <a:solidFill>
                  <a:schemeClr val="dk1"/>
                </a:solidFill>
              </a:rPr>
              <a:t>Optuna</a:t>
            </a:r>
            <a:r>
              <a:rPr lang="en-GB">
                <a:solidFill>
                  <a:schemeClr val="dk1"/>
                </a:solidFill>
              </a:rPr>
              <a:t> runs up to 25 quick tests.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 experiments with different settings (hyperparameters) for the main model, </a:t>
            </a:r>
            <a:r>
              <a:rPr b="1" lang="en-GB">
                <a:solidFill>
                  <a:schemeClr val="dk1"/>
                </a:solidFill>
              </a:rPr>
              <a:t>LightGBM</a:t>
            </a:r>
            <a:r>
              <a:rPr lang="en-GB">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 scores each test based on finding the most malware (True Positive Rate) while strictly keeping false alarms (False Positive Rate) under a specific target (e.g., 5%, 1%, or 0.1%).</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Step 3: Final Model (The Decision Maker)</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The best settings from Step 2 are used to train the final </a:t>
            </a:r>
            <a:r>
              <a:rPr b="1" lang="en-GB">
                <a:solidFill>
                  <a:schemeClr val="dk1"/>
                </a:solidFill>
              </a:rPr>
              <a:t>LightGBM</a:t>
            </a:r>
            <a:r>
              <a:rPr lang="en-GB">
                <a:solidFill>
                  <a:schemeClr val="dk1"/>
                </a:solidFill>
              </a:rPr>
              <a:t> model.</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 calculates the exact final "threshold" (the cutoff score) required to catch maximum malware without crossing the allowed false alarm limit.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Everything is saved into a single bundle file (</a:t>
            </a:r>
            <a:r>
              <a:rPr lang="en-GB">
                <a:solidFill>
                  <a:srgbClr val="188038"/>
                </a:solidFill>
                <a:latin typeface="Roboto Mono"/>
                <a:ea typeface="Roboto Mono"/>
                <a:cs typeface="Roboto Mono"/>
                <a:sym typeface="Roboto Mono"/>
              </a:rPr>
              <a:t>model.pkl</a:t>
            </a:r>
            <a:r>
              <a:rPr lang="en-GB">
                <a:solidFill>
                  <a:schemeClr val="dk1"/>
                </a:solidFill>
              </a:rPr>
              <a:t>): the trained LightGBM model, the final cutoff threshold, and the list of the 384 chosen features.</a:t>
            </a:r>
            <a:endParaRPr>
              <a:solidFill>
                <a:schemeClr val="dk1"/>
              </a:solidFill>
            </a:endParaRPr>
          </a:p>
          <a:p>
            <a:pPr indent="0" lvl="0" marL="0" rtl="0" algn="l">
              <a:spcBef>
                <a:spcPts val="1200"/>
              </a:spcBef>
              <a:spcAft>
                <a:spcPts val="0"/>
              </a:spcAft>
              <a:buNone/>
            </a:pPr>
            <a:r>
              <a:t/>
            </a:r>
            <a:endParaRPr/>
          </a:p>
        </p:txBody>
      </p:sp>
      <p:sp>
        <p:nvSpPr>
          <p:cNvPr id="306" name="Google Shape;306;g3e4bfc8af25_2_25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4faecdc0d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e4faecdc0d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e4faecdc0d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e4faecdc0d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e4faecdc0d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e4faecdc0d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400"/>
              <a:t>Problem</a:t>
            </a:r>
            <a:endParaRPr sz="1400"/>
          </a:p>
          <a:p>
            <a:pPr indent="0" lvl="0" marL="0" rtl="0" algn="l">
              <a:spcBef>
                <a:spcPts val="0"/>
              </a:spcBef>
              <a:spcAft>
                <a:spcPts val="0"/>
              </a:spcAft>
              <a:buClr>
                <a:schemeClr val="dk1"/>
              </a:buClr>
              <a:buSzPts val="1100"/>
              <a:buFont typeface="Arial"/>
              <a:buNone/>
            </a:pPr>
            <a:r>
              <a:rPr lang="en-GB" sz="1400"/>
              <a:t>malware detection is non-stationary: new families arrive, feature distributions shift, and a old model.pkl drifts. Retraining on “everything in the DB” overfits the recent tail and forgets rare older families; training on the newest slice leaks future into overfit and inflates offline metrics. So we put them into test and training accordingly.</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t/>
            </a:r>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e4faecdc0d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e4faecdc0d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2000"/>
              </a:lnSpc>
              <a:spcBef>
                <a:spcPts val="1200"/>
              </a:spcBef>
              <a:spcAft>
                <a:spcPts val="0"/>
              </a:spcAft>
              <a:buClr>
                <a:schemeClr val="dk1"/>
              </a:buClr>
              <a:buSzPts val="1100"/>
              <a:buFont typeface="Arial"/>
              <a:buNone/>
            </a:pPr>
            <a:r>
              <a:rPr b="1" lang="en-GB" sz="1600">
                <a:solidFill>
                  <a:srgbClr val="D4D4D4"/>
                </a:solidFill>
                <a:highlight>
                  <a:srgbClr val="1E1E1E"/>
                </a:highlight>
              </a:rPr>
              <a:t>What you </a:t>
            </a:r>
            <a:r>
              <a:rPr lang="en-GB" sz="1600">
                <a:solidFill>
                  <a:srgbClr val="D4D4D4"/>
                </a:solidFill>
                <a:highlight>
                  <a:srgbClr val="1E1E1E"/>
                </a:highlight>
              </a:rPr>
              <a:t>use it for</a:t>
            </a:r>
            <a:r>
              <a:rPr b="1" lang="en-GB" sz="1600">
                <a:solidFill>
                  <a:srgbClr val="D4D4D4"/>
                </a:solidFill>
                <a:highlight>
                  <a:srgbClr val="1E1E1E"/>
                </a:highlight>
              </a:rPr>
              <a:t> (practical)</a:t>
            </a:r>
            <a:endParaRPr b="1" sz="1600">
              <a:solidFill>
                <a:srgbClr val="D4D4D4"/>
              </a:solidFill>
              <a:highlight>
                <a:srgbClr val="1E1E1E"/>
              </a:highlight>
            </a:endParaRPr>
          </a:p>
          <a:p>
            <a:pPr indent="-295275" lvl="0" marL="457200" rtl="0" algn="l">
              <a:lnSpc>
                <a:spcPct val="115000"/>
              </a:lnSpc>
              <a:spcBef>
                <a:spcPts val="500"/>
              </a:spcBef>
              <a:spcAft>
                <a:spcPts val="0"/>
              </a:spcAft>
              <a:buClr>
                <a:srgbClr val="D4D4D4"/>
              </a:buClr>
              <a:buSzPts val="1050"/>
              <a:buAutoNum type="arabicPeriod"/>
            </a:pPr>
            <a:r>
              <a:rPr lang="en-GB" sz="1050">
                <a:solidFill>
                  <a:srgbClr val="D4D4D4"/>
                </a:solidFill>
                <a:highlight>
                  <a:srgbClr val="1E1E1E"/>
                </a:highlight>
              </a:rPr>
              <a:t>Monitoring — track accuracy/FPR over time (are we stable?).</a:t>
            </a:r>
            <a:endParaRPr sz="1050">
              <a:solidFill>
                <a:srgbClr val="D4D4D4"/>
              </a:solidFill>
              <a:highlight>
                <a:srgbClr val="1E1E1E"/>
              </a:highlight>
            </a:endParaRPr>
          </a:p>
          <a:p>
            <a:pPr indent="-295275" lvl="0" marL="457200" rtl="0" algn="l">
              <a:lnSpc>
                <a:spcPct val="115000"/>
              </a:lnSpc>
              <a:spcBef>
                <a:spcPts val="0"/>
              </a:spcBef>
              <a:spcAft>
                <a:spcPts val="0"/>
              </a:spcAft>
              <a:buClr>
                <a:srgbClr val="D4D4D4"/>
              </a:buClr>
              <a:buSzPts val="1050"/>
              <a:buAutoNum type="arabicPeriod"/>
            </a:pPr>
            <a:r>
              <a:rPr lang="en-GB" sz="1050">
                <a:solidFill>
                  <a:srgbClr val="D4D4D4"/>
                </a:solidFill>
                <a:highlight>
                  <a:srgbClr val="1E1E1E"/>
                </a:highlight>
              </a:rPr>
              <a:t>After retrain check — did the last MADAR run look OK on “future” data?</a:t>
            </a:r>
            <a:endParaRPr sz="1050">
              <a:solidFill>
                <a:srgbClr val="D4D4D4"/>
              </a:solidFill>
              <a:highlight>
                <a:srgbClr val="1E1E1E"/>
              </a:highlight>
            </a:endParaRPr>
          </a:p>
          <a:p>
            <a:pPr indent="-295275" lvl="0" marL="457200" rtl="0" algn="l">
              <a:lnSpc>
                <a:spcPct val="115000"/>
              </a:lnSpc>
              <a:spcBef>
                <a:spcPts val="0"/>
              </a:spcBef>
              <a:spcAft>
                <a:spcPts val="0"/>
              </a:spcAft>
              <a:buClr>
                <a:srgbClr val="D4D4D4"/>
              </a:buClr>
              <a:buSzPts val="1050"/>
              <a:buAutoNum type="arabicPeriod"/>
            </a:pPr>
            <a:r>
              <a:rPr lang="en-GB" sz="1050">
                <a:solidFill>
                  <a:srgbClr val="D4D4D4"/>
                </a:solidFill>
                <a:highlight>
                  <a:srgbClr val="1E1E1E"/>
                </a:highlight>
              </a:rPr>
              <a:t>Slides / papers — honest temporal metric, not full-DB cheating.</a:t>
            </a:r>
            <a:endParaRPr sz="1050">
              <a:solidFill>
                <a:srgbClr val="D4D4D4"/>
              </a:solidFill>
              <a:highlight>
                <a:srgbClr val="1E1E1E"/>
              </a:highlight>
            </a:endParaRPr>
          </a:p>
          <a:p>
            <a:pPr indent="-295275" lvl="0" marL="457200" rtl="0" algn="l">
              <a:lnSpc>
                <a:spcPct val="115000"/>
              </a:lnSpc>
              <a:spcBef>
                <a:spcPts val="0"/>
              </a:spcBef>
              <a:spcAft>
                <a:spcPts val="0"/>
              </a:spcAft>
              <a:buClr>
                <a:srgbClr val="D4D4D4"/>
              </a:buClr>
              <a:buSzPts val="1050"/>
              <a:buAutoNum type="arabicPeriod"/>
            </a:pPr>
            <a:r>
              <a:rPr lang="en-GB" sz="1050">
                <a:solidFill>
                  <a:srgbClr val="D4D4D4"/>
                </a:solidFill>
                <a:highlight>
                  <a:srgbClr val="1E1E1E"/>
                </a:highlight>
              </a:rPr>
              <a:t>Trigger discussion — sustained drop → drift path / more data / investigate s</a:t>
            </a:r>
            <a:endParaRPr sz="1050">
              <a:solidFill>
                <a:srgbClr val="D4D4D4"/>
              </a:solidFill>
              <a:highlight>
                <a:srgbClr val="1E1E1E"/>
              </a:highlight>
            </a:endParaRPr>
          </a:p>
          <a:p>
            <a:pPr indent="0" lvl="0" marL="0" rtl="0" algn="l">
              <a:spcBef>
                <a:spcPts val="500"/>
              </a:spcBef>
              <a:spcAft>
                <a:spcPts val="0"/>
              </a:spcAft>
              <a:buNone/>
            </a:pPr>
            <a:r>
              <a:t/>
            </a:r>
            <a:endParaRPr b="1" sz="1400"/>
          </a:p>
          <a:p>
            <a:pPr indent="0" lvl="0" marL="0" rtl="0" algn="l">
              <a:spcBef>
                <a:spcPts val="0"/>
              </a:spcBef>
              <a:spcAft>
                <a:spcPts val="0"/>
              </a:spcAft>
              <a:buNone/>
            </a:pPr>
            <a:r>
              <a:rPr b="1" lang="en-GB" sz="1350">
                <a:solidFill>
                  <a:srgbClr val="D4D4D4"/>
                </a:solidFill>
                <a:highlight>
                  <a:srgbClr val="1E1E1E"/>
                </a:highlight>
              </a:rPr>
              <a:t>TESSERACT is monitoring and documentation; MADAR is what actually changes the model. Bad TESSERACT scores don’t auto-fix anything — they tell you (and the logs) that it may be time to investigate or that the last retrain should be reviewed.</a:t>
            </a:r>
            <a:endParaRPr b="1"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ed07dcc34b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ed07dcc34b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e4bfc8af25_2_33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g3e4bfc8af25_2_33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3e4bfc8af25_2_33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e4bfc8af25_2_36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g3e4bfc8af25_2_36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g3e4bfc8af25_2_36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e4faecdc0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e4faecdc0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ed07dcc34b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ed07dcc34b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e4bfc8af25_2_3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g3e4bfc8af25_2_36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g3e4bfc8af25_2_36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e4bfc8af25_2_38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g3e4bfc8af25_2_38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g3e4bfc8af25_2_38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4bfc8af25_2_3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g3e4bfc8af25_2_3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g3e4bfc8af25_2_3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4faecdc0d_7_0)">
  <p:cSld name="Generated (g3e4faecdc0d_7_0)">
    <p:spTree>
      <p:nvGrpSpPr>
        <p:cNvPr id="7" name="Shape 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www.youtube.com/watch?v=kfz-re2LLKs" TargetMode="Externa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2" name="Shape 12"/>
        <p:cNvGrpSpPr/>
        <p:nvPr/>
      </p:nvGrpSpPr>
      <p:grpSpPr>
        <a:xfrm>
          <a:off x="0" y="0"/>
          <a:ext cx="0" cy="0"/>
          <a:chOff x="0" y="0"/>
          <a:chExt cx="0" cy="0"/>
        </a:xfrm>
      </p:grpSpPr>
      <p:sp>
        <p:nvSpPr>
          <p:cNvPr id="13" name="Google Shape;13;p4"/>
          <p:cNvSpPr/>
          <p:nvPr/>
        </p:nvSpPr>
        <p:spPr>
          <a:xfrm>
            <a:off x="0" y="0"/>
            <a:ext cx="100584" cy="514350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4"/>
          <p:cNvSpPr/>
          <p:nvPr/>
        </p:nvSpPr>
        <p:spPr>
          <a:xfrm>
            <a:off x="7132320" y="0"/>
            <a:ext cx="2011680" cy="1828800"/>
          </a:xfrm>
          <a:prstGeom prst="rect">
            <a:avLst/>
          </a:prstGeom>
          <a:solidFill>
            <a:srgbClr val="16213E"/>
          </a:solidFill>
          <a:ln cap="flat" cmpd="sng" w="12700">
            <a:solidFill>
              <a:srgbClr val="1621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4"/>
          <p:cNvSpPr/>
          <p:nvPr/>
        </p:nvSpPr>
        <p:spPr>
          <a:xfrm>
            <a:off x="7863840" y="0"/>
            <a:ext cx="1280160" cy="109728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
          <p:cNvSpPr/>
          <p:nvPr/>
        </p:nvSpPr>
        <p:spPr>
          <a:xfrm>
            <a:off x="365760" y="777240"/>
            <a:ext cx="45720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4560"/>
              </a:buClr>
              <a:buSzPts val="8800"/>
              <a:buFont typeface="Calibri"/>
              <a:buNone/>
            </a:pPr>
            <a:r>
              <a:rPr b="1" i="0" lang="en-GB" sz="8800" u="none" cap="none" strike="noStrike">
                <a:solidFill>
                  <a:srgbClr val="E94560"/>
                </a:solidFill>
                <a:latin typeface="Calibri"/>
                <a:ea typeface="Calibri"/>
                <a:cs typeface="Calibri"/>
                <a:sym typeface="Calibri"/>
              </a:rPr>
              <a:t>AMD</a:t>
            </a:r>
            <a:endParaRPr b="0" i="0" sz="8800" u="none" cap="none" strike="noStrike">
              <a:solidFill>
                <a:schemeClr val="dk1"/>
              </a:solidFill>
              <a:latin typeface="Calibri"/>
              <a:ea typeface="Calibri"/>
              <a:cs typeface="Calibri"/>
              <a:sym typeface="Calibri"/>
            </a:endParaRPr>
          </a:p>
        </p:txBody>
      </p:sp>
      <p:sp>
        <p:nvSpPr>
          <p:cNvPr id="17" name="Google Shape;17;p4"/>
          <p:cNvSpPr/>
          <p:nvPr/>
        </p:nvSpPr>
        <p:spPr>
          <a:xfrm>
            <a:off x="365760" y="1783080"/>
            <a:ext cx="5486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600"/>
              <a:buFont typeface="Calibri"/>
              <a:buNone/>
            </a:pPr>
            <a:r>
              <a:rPr b="1" i="0" lang="en-GB" sz="5600" u="none" cap="none" strike="noStrike">
                <a:solidFill>
                  <a:srgbClr val="FFFFFF"/>
                </a:solidFill>
                <a:latin typeface="Calibri"/>
                <a:ea typeface="Calibri"/>
                <a:cs typeface="Calibri"/>
                <a:sym typeface="Calibri"/>
              </a:rPr>
              <a:t>AGENT</a:t>
            </a:r>
            <a:endParaRPr b="0" i="0" sz="5600" u="none" cap="none" strike="noStrike">
              <a:solidFill>
                <a:schemeClr val="dk1"/>
              </a:solidFill>
              <a:latin typeface="Calibri"/>
              <a:ea typeface="Calibri"/>
              <a:cs typeface="Calibri"/>
              <a:sym typeface="Calibri"/>
            </a:endParaRPr>
          </a:p>
        </p:txBody>
      </p:sp>
      <p:sp>
        <p:nvSpPr>
          <p:cNvPr id="18" name="Google Shape;18;p4"/>
          <p:cNvSpPr/>
          <p:nvPr/>
        </p:nvSpPr>
        <p:spPr>
          <a:xfrm>
            <a:off x="365760" y="2724912"/>
            <a:ext cx="65836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700"/>
              <a:buFont typeface="Calibri"/>
              <a:buNone/>
            </a:pPr>
            <a:r>
              <a:rPr b="0" i="0" lang="en-GB" sz="1700" u="none" cap="none" strike="noStrike">
                <a:solidFill>
                  <a:srgbClr val="9CA3AF"/>
                </a:solidFill>
                <a:latin typeface="Calibri"/>
                <a:ea typeface="Calibri"/>
                <a:cs typeface="Calibri"/>
                <a:sym typeface="Calibri"/>
              </a:rPr>
              <a:t>Autonomous Malware Detection Agent</a:t>
            </a:r>
            <a:endParaRPr b="0" i="0" sz="1700" u="none" cap="none" strike="noStrike">
              <a:solidFill>
                <a:schemeClr val="dk1"/>
              </a:solidFill>
              <a:latin typeface="Calibri"/>
              <a:ea typeface="Calibri"/>
              <a:cs typeface="Calibri"/>
              <a:sym typeface="Calibri"/>
            </a:endParaRPr>
          </a:p>
        </p:txBody>
      </p:sp>
      <p:sp>
        <p:nvSpPr>
          <p:cNvPr id="19" name="Google Shape;19;p4"/>
          <p:cNvSpPr/>
          <p:nvPr/>
        </p:nvSpPr>
        <p:spPr>
          <a:xfrm>
            <a:off x="365760" y="3246120"/>
            <a:ext cx="4389120" cy="41148"/>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365760" y="3364992"/>
            <a:ext cx="65836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5E7EB"/>
              </a:buClr>
              <a:buSzPts val="1300"/>
              <a:buFont typeface="Calibri"/>
              <a:buNone/>
            </a:pPr>
            <a:r>
              <a:rPr b="1" i="0" lang="en-GB" sz="1300" u="none" cap="none" strike="noStrike">
                <a:solidFill>
                  <a:srgbClr val="E5E7EB"/>
                </a:solidFill>
                <a:latin typeface="Calibri"/>
                <a:ea typeface="Calibri"/>
                <a:cs typeface="Calibri"/>
                <a:sym typeface="Calibri"/>
              </a:rPr>
              <a:t>Baruh Ifraimov  |  Dor Cohen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1300"/>
              <a:buFont typeface="Calibri"/>
              <a:buNone/>
            </a:pPr>
            <a:r>
              <a:rPr b="0" i="0" lang="en-GB" sz="1300" u="none" cap="none" strike="noStrike">
                <a:solidFill>
                  <a:srgbClr val="6B7280"/>
                </a:solidFill>
                <a:latin typeface="Calibri"/>
                <a:ea typeface="Calibri"/>
                <a:cs typeface="Calibri"/>
                <a:sym typeface="Calibri"/>
              </a:rPr>
              <a:t>Advanced Cyber Defense Topics — Ariel University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4" name="Shape 24"/>
        <p:cNvGrpSpPr/>
        <p:nvPr/>
      </p:nvGrpSpPr>
      <p:grpSpPr>
        <a:xfrm>
          <a:off x="0" y="0"/>
          <a:ext cx="0" cy="0"/>
          <a:chOff x="0" y="0"/>
          <a:chExt cx="0" cy="0"/>
        </a:xfrm>
      </p:grpSpPr>
      <p:sp>
        <p:nvSpPr>
          <p:cNvPr id="25" name="Google Shape;25;p5"/>
          <p:cNvSpPr/>
          <p:nvPr/>
        </p:nvSpPr>
        <p:spPr>
          <a:xfrm>
            <a:off x="0" y="0"/>
            <a:ext cx="9144000" cy="639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 name="Google Shape;26;p5"/>
          <p:cNvSpPr/>
          <p:nvPr/>
        </p:nvSpPr>
        <p:spPr>
          <a:xfrm>
            <a:off x="7124700" y="0"/>
            <a:ext cx="2009700" cy="1828800"/>
          </a:xfrm>
          <a:prstGeom prst="rect">
            <a:avLst/>
          </a:prstGeom>
          <a:solidFill>
            <a:srgbClr val="1621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 name="Google Shape;27;p5"/>
          <p:cNvSpPr/>
          <p:nvPr/>
        </p:nvSpPr>
        <p:spPr>
          <a:xfrm>
            <a:off x="7858125" y="0"/>
            <a:ext cx="1276500" cy="1095300"/>
          </a:xfrm>
          <a:prstGeom prst="rect">
            <a:avLst/>
          </a:prstGeom>
          <a:solidFill>
            <a:srgbClr val="0F34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 name="Google Shape;28;p5"/>
          <p:cNvSpPr txBox="1"/>
          <p:nvPr/>
        </p:nvSpPr>
        <p:spPr>
          <a:xfrm>
            <a:off x="409575" y="123825"/>
            <a:ext cx="83154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300">
                <a:solidFill>
                  <a:srgbClr val="FFFFFF"/>
                </a:solidFill>
                <a:latin typeface="Calibri"/>
                <a:ea typeface="Calibri"/>
                <a:cs typeface="Calibri"/>
                <a:sym typeface="Calibri"/>
              </a:rPr>
              <a:t>Agenda</a:t>
            </a:r>
            <a:endParaRPr b="1" sz="2300">
              <a:solidFill>
                <a:srgbClr val="FFFFFF"/>
              </a:solidFill>
              <a:latin typeface="Calibri"/>
              <a:ea typeface="Calibri"/>
              <a:cs typeface="Calibri"/>
              <a:sym typeface="Calibri"/>
            </a:endParaRPr>
          </a:p>
        </p:txBody>
      </p:sp>
      <p:grpSp>
        <p:nvGrpSpPr>
          <p:cNvPr id="29" name="Google Shape;29;p5"/>
          <p:cNvGrpSpPr/>
          <p:nvPr/>
        </p:nvGrpSpPr>
        <p:grpSpPr>
          <a:xfrm>
            <a:off x="409575" y="866775"/>
            <a:ext cx="4171950" cy="419100"/>
            <a:chOff x="409575" y="866775"/>
            <a:chExt cx="4171950" cy="419100"/>
          </a:xfrm>
        </p:grpSpPr>
        <p:sp>
          <p:nvSpPr>
            <p:cNvPr id="30" name="Google Shape;30;p5"/>
            <p:cNvSpPr/>
            <p:nvPr/>
          </p:nvSpPr>
          <p:spPr>
            <a:xfrm>
              <a:off x="409575" y="866775"/>
              <a:ext cx="419100" cy="4191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 name="Google Shape;31;p5"/>
            <p:cNvSpPr txBox="1"/>
            <p:nvPr/>
          </p:nvSpPr>
          <p:spPr>
            <a:xfrm>
              <a:off x="409575" y="866775"/>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01</a:t>
              </a:r>
              <a:endParaRPr b="1" sz="1300">
                <a:solidFill>
                  <a:srgbClr val="FFFFFF"/>
                </a:solidFill>
                <a:latin typeface="Calibri"/>
                <a:ea typeface="Calibri"/>
                <a:cs typeface="Calibri"/>
                <a:sym typeface="Calibri"/>
              </a:endParaRPr>
            </a:p>
          </p:txBody>
        </p:sp>
        <p:sp>
          <p:nvSpPr>
            <p:cNvPr id="32" name="Google Shape;32;p5"/>
            <p:cNvSpPr txBox="1"/>
            <p:nvPr/>
          </p:nvSpPr>
          <p:spPr>
            <a:xfrm>
              <a:off x="923925" y="866775"/>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Problem &amp; Motivation</a:t>
              </a:r>
              <a:endParaRPr b="0" sz="1300">
                <a:solidFill>
                  <a:srgbClr val="E5E7EB"/>
                </a:solidFill>
                <a:latin typeface="Calibri"/>
                <a:ea typeface="Calibri"/>
                <a:cs typeface="Calibri"/>
                <a:sym typeface="Calibri"/>
              </a:endParaRPr>
            </a:p>
          </p:txBody>
        </p:sp>
      </p:grpSp>
      <p:grpSp>
        <p:nvGrpSpPr>
          <p:cNvPr id="33" name="Google Shape;33;p5"/>
          <p:cNvGrpSpPr/>
          <p:nvPr/>
        </p:nvGrpSpPr>
        <p:grpSpPr>
          <a:xfrm>
            <a:off x="409575" y="1485900"/>
            <a:ext cx="4171950" cy="419100"/>
            <a:chOff x="409575" y="1485900"/>
            <a:chExt cx="4171950" cy="419100"/>
          </a:xfrm>
        </p:grpSpPr>
        <p:sp>
          <p:nvSpPr>
            <p:cNvPr id="34" name="Google Shape;34;p5"/>
            <p:cNvSpPr/>
            <p:nvPr/>
          </p:nvSpPr>
          <p:spPr>
            <a:xfrm>
              <a:off x="409575" y="1485900"/>
              <a:ext cx="419100" cy="419100"/>
            </a:xfrm>
            <a:prstGeom prst="rect">
              <a:avLst/>
            </a:prstGeom>
            <a:solidFill>
              <a:srgbClr val="0F34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 name="Google Shape;35;p5"/>
            <p:cNvSpPr txBox="1"/>
            <p:nvPr/>
          </p:nvSpPr>
          <p:spPr>
            <a:xfrm>
              <a:off x="409575" y="148590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02</a:t>
              </a:r>
              <a:endParaRPr b="1" sz="1300">
                <a:solidFill>
                  <a:srgbClr val="FFFFFF"/>
                </a:solidFill>
                <a:latin typeface="Calibri"/>
                <a:ea typeface="Calibri"/>
                <a:cs typeface="Calibri"/>
                <a:sym typeface="Calibri"/>
              </a:endParaRPr>
            </a:p>
          </p:txBody>
        </p:sp>
        <p:sp>
          <p:nvSpPr>
            <p:cNvPr id="36" name="Google Shape;36;p5"/>
            <p:cNvSpPr txBox="1"/>
            <p:nvPr/>
          </p:nvSpPr>
          <p:spPr>
            <a:xfrm>
              <a:off x="923925" y="1485900"/>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Related Work</a:t>
              </a:r>
              <a:endParaRPr b="0" sz="1300">
                <a:solidFill>
                  <a:srgbClr val="E5E7EB"/>
                </a:solidFill>
                <a:latin typeface="Calibri"/>
                <a:ea typeface="Calibri"/>
                <a:cs typeface="Calibri"/>
                <a:sym typeface="Calibri"/>
              </a:endParaRPr>
            </a:p>
          </p:txBody>
        </p:sp>
      </p:grpSp>
      <p:grpSp>
        <p:nvGrpSpPr>
          <p:cNvPr id="37" name="Google Shape;37;p5"/>
          <p:cNvGrpSpPr/>
          <p:nvPr/>
        </p:nvGrpSpPr>
        <p:grpSpPr>
          <a:xfrm>
            <a:off x="409575" y="2105025"/>
            <a:ext cx="4171950" cy="419100"/>
            <a:chOff x="409575" y="2105025"/>
            <a:chExt cx="4171950" cy="419100"/>
          </a:xfrm>
        </p:grpSpPr>
        <p:sp>
          <p:nvSpPr>
            <p:cNvPr id="38" name="Google Shape;38;p5"/>
            <p:cNvSpPr/>
            <p:nvPr/>
          </p:nvSpPr>
          <p:spPr>
            <a:xfrm>
              <a:off x="409575" y="2105025"/>
              <a:ext cx="419100" cy="419100"/>
            </a:xfrm>
            <a:prstGeom prst="rect">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 name="Google Shape;39;p5"/>
            <p:cNvSpPr txBox="1"/>
            <p:nvPr/>
          </p:nvSpPr>
          <p:spPr>
            <a:xfrm>
              <a:off x="409575" y="2105025"/>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03</a:t>
              </a:r>
              <a:endParaRPr b="1" sz="1300">
                <a:solidFill>
                  <a:srgbClr val="FFFFFF"/>
                </a:solidFill>
                <a:latin typeface="Calibri"/>
                <a:ea typeface="Calibri"/>
                <a:cs typeface="Calibri"/>
                <a:sym typeface="Calibri"/>
              </a:endParaRPr>
            </a:p>
          </p:txBody>
        </p:sp>
        <p:sp>
          <p:nvSpPr>
            <p:cNvPr id="40" name="Google Shape;40;p5"/>
            <p:cNvSpPr txBox="1"/>
            <p:nvPr/>
          </p:nvSpPr>
          <p:spPr>
            <a:xfrm>
              <a:off x="923925" y="2105025"/>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System Architecture Overview</a:t>
              </a:r>
              <a:endParaRPr b="0" sz="1300">
                <a:solidFill>
                  <a:srgbClr val="E5E7EB"/>
                </a:solidFill>
                <a:latin typeface="Calibri"/>
                <a:ea typeface="Calibri"/>
                <a:cs typeface="Calibri"/>
                <a:sym typeface="Calibri"/>
              </a:endParaRPr>
            </a:p>
          </p:txBody>
        </p:sp>
      </p:grpSp>
      <p:grpSp>
        <p:nvGrpSpPr>
          <p:cNvPr id="41" name="Google Shape;41;p5"/>
          <p:cNvGrpSpPr/>
          <p:nvPr/>
        </p:nvGrpSpPr>
        <p:grpSpPr>
          <a:xfrm>
            <a:off x="409575" y="2733675"/>
            <a:ext cx="4171950" cy="419100"/>
            <a:chOff x="409575" y="2733675"/>
            <a:chExt cx="4171950" cy="419100"/>
          </a:xfrm>
        </p:grpSpPr>
        <p:sp>
          <p:nvSpPr>
            <p:cNvPr id="42" name="Google Shape;42;p5"/>
            <p:cNvSpPr/>
            <p:nvPr/>
          </p:nvSpPr>
          <p:spPr>
            <a:xfrm>
              <a:off x="409575" y="2733675"/>
              <a:ext cx="419100" cy="4191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 name="Google Shape;43;p5"/>
            <p:cNvSpPr txBox="1"/>
            <p:nvPr/>
          </p:nvSpPr>
          <p:spPr>
            <a:xfrm>
              <a:off x="409575" y="2733675"/>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04</a:t>
              </a:r>
              <a:endParaRPr b="1" sz="1300">
                <a:solidFill>
                  <a:srgbClr val="FFFFFF"/>
                </a:solidFill>
                <a:latin typeface="Calibri"/>
                <a:ea typeface="Calibri"/>
                <a:cs typeface="Calibri"/>
                <a:sym typeface="Calibri"/>
              </a:endParaRPr>
            </a:p>
          </p:txBody>
        </p:sp>
        <p:sp>
          <p:nvSpPr>
            <p:cNvPr id="44" name="Google Shape;44;p5"/>
            <p:cNvSpPr txBox="1"/>
            <p:nvPr/>
          </p:nvSpPr>
          <p:spPr>
            <a:xfrm>
              <a:off x="923925" y="2733675"/>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LangGraph Pipeline &amp; State</a:t>
              </a:r>
              <a:endParaRPr b="0" sz="1300">
                <a:solidFill>
                  <a:srgbClr val="E5E7EB"/>
                </a:solidFill>
                <a:latin typeface="Calibri"/>
                <a:ea typeface="Calibri"/>
                <a:cs typeface="Calibri"/>
                <a:sym typeface="Calibri"/>
              </a:endParaRPr>
            </a:p>
          </p:txBody>
        </p:sp>
      </p:grpSp>
      <p:grpSp>
        <p:nvGrpSpPr>
          <p:cNvPr id="45" name="Google Shape;45;p5"/>
          <p:cNvGrpSpPr/>
          <p:nvPr/>
        </p:nvGrpSpPr>
        <p:grpSpPr>
          <a:xfrm>
            <a:off x="409575" y="3352800"/>
            <a:ext cx="4171950" cy="419100"/>
            <a:chOff x="409575" y="3352800"/>
            <a:chExt cx="4171950" cy="419100"/>
          </a:xfrm>
        </p:grpSpPr>
        <p:sp>
          <p:nvSpPr>
            <p:cNvPr id="46" name="Google Shape;46;p5"/>
            <p:cNvSpPr/>
            <p:nvPr/>
          </p:nvSpPr>
          <p:spPr>
            <a:xfrm>
              <a:off x="409575" y="3352800"/>
              <a:ext cx="419100" cy="419100"/>
            </a:xfrm>
            <a:prstGeom prst="rect">
              <a:avLst/>
            </a:prstGeom>
            <a:solidFill>
              <a:srgbClr val="0F34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 name="Google Shape;47;p5"/>
            <p:cNvSpPr txBox="1"/>
            <p:nvPr/>
          </p:nvSpPr>
          <p:spPr>
            <a:xfrm>
              <a:off x="409575" y="335280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05</a:t>
              </a:r>
              <a:endParaRPr b="1" sz="1300">
                <a:solidFill>
                  <a:srgbClr val="FFFFFF"/>
                </a:solidFill>
                <a:latin typeface="Calibri"/>
                <a:ea typeface="Calibri"/>
                <a:cs typeface="Calibri"/>
                <a:sym typeface="Calibri"/>
              </a:endParaRPr>
            </a:p>
          </p:txBody>
        </p:sp>
        <p:sp>
          <p:nvSpPr>
            <p:cNvPr id="48" name="Google Shape;48;p5"/>
            <p:cNvSpPr txBox="1"/>
            <p:nvPr/>
          </p:nvSpPr>
          <p:spPr>
            <a:xfrm>
              <a:off x="923925" y="3352800"/>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Autonomous Data Collection &amp; Balancing</a:t>
              </a:r>
              <a:endParaRPr b="0" sz="1300">
                <a:solidFill>
                  <a:srgbClr val="E5E7EB"/>
                </a:solidFill>
                <a:latin typeface="Calibri"/>
                <a:ea typeface="Calibri"/>
                <a:cs typeface="Calibri"/>
                <a:sym typeface="Calibri"/>
              </a:endParaRPr>
            </a:p>
          </p:txBody>
        </p:sp>
      </p:grpSp>
      <p:grpSp>
        <p:nvGrpSpPr>
          <p:cNvPr id="49" name="Google Shape;49;p5"/>
          <p:cNvGrpSpPr/>
          <p:nvPr/>
        </p:nvGrpSpPr>
        <p:grpSpPr>
          <a:xfrm>
            <a:off x="409575" y="3971925"/>
            <a:ext cx="4171950" cy="419100"/>
            <a:chOff x="409575" y="3971925"/>
            <a:chExt cx="4171950" cy="419100"/>
          </a:xfrm>
        </p:grpSpPr>
        <p:sp>
          <p:nvSpPr>
            <p:cNvPr id="50" name="Google Shape;50;p5"/>
            <p:cNvSpPr/>
            <p:nvPr/>
          </p:nvSpPr>
          <p:spPr>
            <a:xfrm>
              <a:off x="409575" y="3971925"/>
              <a:ext cx="419100" cy="419100"/>
            </a:xfrm>
            <a:prstGeom prst="rect">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 name="Google Shape;51;p5"/>
            <p:cNvSpPr txBox="1"/>
            <p:nvPr/>
          </p:nvSpPr>
          <p:spPr>
            <a:xfrm>
              <a:off x="409575" y="3971925"/>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06</a:t>
              </a:r>
              <a:endParaRPr b="1" sz="1300">
                <a:solidFill>
                  <a:srgbClr val="FFFFFF"/>
                </a:solidFill>
                <a:latin typeface="Calibri"/>
                <a:ea typeface="Calibri"/>
                <a:cs typeface="Calibri"/>
                <a:sym typeface="Calibri"/>
              </a:endParaRPr>
            </a:p>
          </p:txBody>
        </p:sp>
        <p:sp>
          <p:nvSpPr>
            <p:cNvPr id="52" name="Google Shape;52;p5"/>
            <p:cNvSpPr txBox="1"/>
            <p:nvPr/>
          </p:nvSpPr>
          <p:spPr>
            <a:xfrm>
              <a:off x="923925" y="3971925"/>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Feature Engineering &amp; Selection</a:t>
              </a:r>
              <a:endParaRPr b="0" sz="1300">
                <a:solidFill>
                  <a:srgbClr val="E5E7EB"/>
                </a:solidFill>
                <a:latin typeface="Calibri"/>
                <a:ea typeface="Calibri"/>
                <a:cs typeface="Calibri"/>
                <a:sym typeface="Calibri"/>
              </a:endParaRPr>
            </a:p>
          </p:txBody>
        </p:sp>
      </p:grpSp>
      <p:grpSp>
        <p:nvGrpSpPr>
          <p:cNvPr id="53" name="Google Shape;53;p5"/>
          <p:cNvGrpSpPr/>
          <p:nvPr/>
        </p:nvGrpSpPr>
        <p:grpSpPr>
          <a:xfrm>
            <a:off x="4886325" y="866775"/>
            <a:ext cx="4171950" cy="419100"/>
            <a:chOff x="4886325" y="866775"/>
            <a:chExt cx="4171950" cy="419100"/>
          </a:xfrm>
        </p:grpSpPr>
        <p:sp>
          <p:nvSpPr>
            <p:cNvPr id="54" name="Google Shape;54;p5"/>
            <p:cNvSpPr/>
            <p:nvPr/>
          </p:nvSpPr>
          <p:spPr>
            <a:xfrm>
              <a:off x="4886325" y="866775"/>
              <a:ext cx="419100" cy="4191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 name="Google Shape;55;p5"/>
            <p:cNvSpPr txBox="1"/>
            <p:nvPr/>
          </p:nvSpPr>
          <p:spPr>
            <a:xfrm>
              <a:off x="4886325" y="866775"/>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07</a:t>
              </a:r>
              <a:endParaRPr b="1" sz="1300">
                <a:solidFill>
                  <a:srgbClr val="FFFFFF"/>
                </a:solidFill>
                <a:latin typeface="Calibri"/>
                <a:ea typeface="Calibri"/>
                <a:cs typeface="Calibri"/>
                <a:sym typeface="Calibri"/>
              </a:endParaRPr>
            </a:p>
          </p:txBody>
        </p:sp>
        <p:sp>
          <p:nvSpPr>
            <p:cNvPr id="56" name="Google Shape;56;p5"/>
            <p:cNvSpPr txBox="1"/>
            <p:nvPr/>
          </p:nvSpPr>
          <p:spPr>
            <a:xfrm>
              <a:off x="5400675" y="866775"/>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ML Pipeline &amp; Dynamic FPR Calibration</a:t>
              </a:r>
              <a:endParaRPr b="0" sz="1300">
                <a:solidFill>
                  <a:srgbClr val="E5E7EB"/>
                </a:solidFill>
                <a:latin typeface="Calibri"/>
                <a:ea typeface="Calibri"/>
                <a:cs typeface="Calibri"/>
                <a:sym typeface="Calibri"/>
              </a:endParaRPr>
            </a:p>
          </p:txBody>
        </p:sp>
      </p:grpSp>
      <p:grpSp>
        <p:nvGrpSpPr>
          <p:cNvPr id="57" name="Google Shape;57;p5"/>
          <p:cNvGrpSpPr/>
          <p:nvPr/>
        </p:nvGrpSpPr>
        <p:grpSpPr>
          <a:xfrm>
            <a:off x="4886325" y="1485900"/>
            <a:ext cx="4171950" cy="419100"/>
            <a:chOff x="4886325" y="1485900"/>
            <a:chExt cx="4171950" cy="419100"/>
          </a:xfrm>
        </p:grpSpPr>
        <p:sp>
          <p:nvSpPr>
            <p:cNvPr id="58" name="Google Shape;58;p5"/>
            <p:cNvSpPr/>
            <p:nvPr/>
          </p:nvSpPr>
          <p:spPr>
            <a:xfrm>
              <a:off x="4886325" y="1485900"/>
              <a:ext cx="419100" cy="419100"/>
            </a:xfrm>
            <a:prstGeom prst="rect">
              <a:avLst/>
            </a:prstGeom>
            <a:solidFill>
              <a:srgbClr val="0F34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5"/>
            <p:cNvSpPr txBox="1"/>
            <p:nvPr/>
          </p:nvSpPr>
          <p:spPr>
            <a:xfrm>
              <a:off x="4886325" y="148590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08</a:t>
              </a:r>
              <a:endParaRPr b="1" sz="1300">
                <a:solidFill>
                  <a:srgbClr val="FFFFFF"/>
                </a:solidFill>
                <a:latin typeface="Calibri"/>
                <a:ea typeface="Calibri"/>
                <a:cs typeface="Calibri"/>
                <a:sym typeface="Calibri"/>
              </a:endParaRPr>
            </a:p>
          </p:txBody>
        </p:sp>
        <p:sp>
          <p:nvSpPr>
            <p:cNvPr id="60" name="Google Shape;60;p5"/>
            <p:cNvSpPr txBox="1"/>
            <p:nvPr/>
          </p:nvSpPr>
          <p:spPr>
            <a:xfrm>
              <a:off x="5400675" y="1485900"/>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Continual Learning: Cold Start &amp; MADAR Retrain</a:t>
              </a:r>
              <a:endParaRPr b="0" sz="1300">
                <a:solidFill>
                  <a:srgbClr val="E5E7EB"/>
                </a:solidFill>
                <a:latin typeface="Calibri"/>
                <a:ea typeface="Calibri"/>
                <a:cs typeface="Calibri"/>
                <a:sym typeface="Calibri"/>
              </a:endParaRPr>
            </a:p>
          </p:txBody>
        </p:sp>
      </p:grpSp>
      <p:grpSp>
        <p:nvGrpSpPr>
          <p:cNvPr id="61" name="Google Shape;61;p5"/>
          <p:cNvGrpSpPr/>
          <p:nvPr/>
        </p:nvGrpSpPr>
        <p:grpSpPr>
          <a:xfrm>
            <a:off x="4886325" y="2105025"/>
            <a:ext cx="4171950" cy="419100"/>
            <a:chOff x="4886325" y="2105025"/>
            <a:chExt cx="4171950" cy="419100"/>
          </a:xfrm>
        </p:grpSpPr>
        <p:sp>
          <p:nvSpPr>
            <p:cNvPr id="62" name="Google Shape;62;p5"/>
            <p:cNvSpPr/>
            <p:nvPr/>
          </p:nvSpPr>
          <p:spPr>
            <a:xfrm>
              <a:off x="4886325" y="2105025"/>
              <a:ext cx="419100" cy="419100"/>
            </a:xfrm>
            <a:prstGeom prst="rect">
              <a:avLst/>
            </a:prstGeom>
            <a:solidFill>
              <a:srgbClr val="6B21A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5"/>
            <p:cNvSpPr txBox="1"/>
            <p:nvPr/>
          </p:nvSpPr>
          <p:spPr>
            <a:xfrm>
              <a:off x="4886325" y="2105025"/>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09</a:t>
              </a:r>
              <a:endParaRPr b="1" sz="1300">
                <a:solidFill>
                  <a:srgbClr val="FFFFFF"/>
                </a:solidFill>
                <a:latin typeface="Calibri"/>
                <a:ea typeface="Calibri"/>
                <a:cs typeface="Calibri"/>
                <a:sym typeface="Calibri"/>
              </a:endParaRPr>
            </a:p>
          </p:txBody>
        </p:sp>
        <p:sp>
          <p:nvSpPr>
            <p:cNvPr id="64" name="Google Shape;64;p5"/>
            <p:cNvSpPr txBox="1"/>
            <p:nvPr/>
          </p:nvSpPr>
          <p:spPr>
            <a:xfrm>
              <a:off x="5400675" y="2105025"/>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Drift Detection Logic &amp; TESSERACT Evaluation</a:t>
              </a:r>
              <a:endParaRPr b="0" sz="1300">
                <a:solidFill>
                  <a:srgbClr val="E5E7EB"/>
                </a:solidFill>
                <a:latin typeface="Calibri"/>
                <a:ea typeface="Calibri"/>
                <a:cs typeface="Calibri"/>
                <a:sym typeface="Calibri"/>
              </a:endParaRPr>
            </a:p>
          </p:txBody>
        </p:sp>
      </p:grpSp>
      <p:grpSp>
        <p:nvGrpSpPr>
          <p:cNvPr id="65" name="Google Shape;65;p5"/>
          <p:cNvGrpSpPr/>
          <p:nvPr/>
        </p:nvGrpSpPr>
        <p:grpSpPr>
          <a:xfrm>
            <a:off x="4886325" y="2733675"/>
            <a:ext cx="4171950" cy="419100"/>
            <a:chOff x="4886325" y="2733675"/>
            <a:chExt cx="4171950" cy="419100"/>
          </a:xfrm>
        </p:grpSpPr>
        <p:sp>
          <p:nvSpPr>
            <p:cNvPr id="66" name="Google Shape;66;p5"/>
            <p:cNvSpPr/>
            <p:nvPr/>
          </p:nvSpPr>
          <p:spPr>
            <a:xfrm>
              <a:off x="4886325" y="2733675"/>
              <a:ext cx="419100" cy="419100"/>
            </a:xfrm>
            <a:prstGeom prst="rect">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5"/>
            <p:cNvSpPr txBox="1"/>
            <p:nvPr/>
          </p:nvSpPr>
          <p:spPr>
            <a:xfrm>
              <a:off x="4886325" y="2733675"/>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10</a:t>
              </a:r>
              <a:endParaRPr b="1" sz="1300">
                <a:solidFill>
                  <a:srgbClr val="FFFFFF"/>
                </a:solidFill>
                <a:latin typeface="Calibri"/>
                <a:ea typeface="Calibri"/>
                <a:cs typeface="Calibri"/>
                <a:sym typeface="Calibri"/>
              </a:endParaRPr>
            </a:p>
          </p:txBody>
        </p:sp>
        <p:sp>
          <p:nvSpPr>
            <p:cNvPr id="68" name="Google Shape;68;p5"/>
            <p:cNvSpPr txBox="1"/>
            <p:nvPr/>
          </p:nvSpPr>
          <p:spPr>
            <a:xfrm>
              <a:off x="5400675" y="2733675"/>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LLM Sidecar (Ollama)</a:t>
              </a:r>
              <a:endParaRPr b="0" sz="1300">
                <a:solidFill>
                  <a:srgbClr val="E5E7EB"/>
                </a:solidFill>
                <a:latin typeface="Calibri"/>
                <a:ea typeface="Calibri"/>
                <a:cs typeface="Calibri"/>
                <a:sym typeface="Calibri"/>
              </a:endParaRPr>
            </a:p>
          </p:txBody>
        </p:sp>
      </p:grpSp>
      <p:grpSp>
        <p:nvGrpSpPr>
          <p:cNvPr id="69" name="Google Shape;69;p5"/>
          <p:cNvGrpSpPr/>
          <p:nvPr/>
        </p:nvGrpSpPr>
        <p:grpSpPr>
          <a:xfrm>
            <a:off x="4886325" y="3352800"/>
            <a:ext cx="4171950" cy="419100"/>
            <a:chOff x="4886325" y="3352800"/>
            <a:chExt cx="4171950" cy="419100"/>
          </a:xfrm>
        </p:grpSpPr>
        <p:sp>
          <p:nvSpPr>
            <p:cNvPr id="70" name="Google Shape;70;p5"/>
            <p:cNvSpPr/>
            <p:nvPr/>
          </p:nvSpPr>
          <p:spPr>
            <a:xfrm>
              <a:off x="4886325" y="3352800"/>
              <a:ext cx="419100" cy="419100"/>
            </a:xfrm>
            <a:prstGeom prst="rect">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5"/>
            <p:cNvSpPr txBox="1"/>
            <p:nvPr/>
          </p:nvSpPr>
          <p:spPr>
            <a:xfrm>
              <a:off x="4886325" y="335280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11</a:t>
              </a:r>
              <a:endParaRPr b="1" sz="1300">
                <a:solidFill>
                  <a:srgbClr val="FFFFFF"/>
                </a:solidFill>
                <a:latin typeface="Calibri"/>
                <a:ea typeface="Calibri"/>
                <a:cs typeface="Calibri"/>
                <a:sym typeface="Calibri"/>
              </a:endParaRPr>
            </a:p>
          </p:txBody>
        </p:sp>
        <p:sp>
          <p:nvSpPr>
            <p:cNvPr id="72" name="Google Shape;72;p5"/>
            <p:cNvSpPr txBox="1"/>
            <p:nvPr/>
          </p:nvSpPr>
          <p:spPr>
            <a:xfrm>
              <a:off x="5400675" y="3352800"/>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Live Demo</a:t>
              </a:r>
              <a:endParaRPr b="0" sz="1300">
                <a:solidFill>
                  <a:srgbClr val="E5E7EB"/>
                </a:solidFill>
                <a:latin typeface="Calibri"/>
                <a:ea typeface="Calibri"/>
                <a:cs typeface="Calibri"/>
                <a:sym typeface="Calibri"/>
              </a:endParaRPr>
            </a:p>
          </p:txBody>
        </p:sp>
      </p:grpSp>
      <p:grpSp>
        <p:nvGrpSpPr>
          <p:cNvPr id="73" name="Google Shape;73;p5"/>
          <p:cNvGrpSpPr/>
          <p:nvPr/>
        </p:nvGrpSpPr>
        <p:grpSpPr>
          <a:xfrm>
            <a:off x="4886325" y="3971925"/>
            <a:ext cx="4171950" cy="419100"/>
            <a:chOff x="4886325" y="3971925"/>
            <a:chExt cx="4171950" cy="419100"/>
          </a:xfrm>
        </p:grpSpPr>
        <p:sp>
          <p:nvSpPr>
            <p:cNvPr id="74" name="Google Shape;74;p5"/>
            <p:cNvSpPr/>
            <p:nvPr/>
          </p:nvSpPr>
          <p:spPr>
            <a:xfrm>
              <a:off x="4886325" y="3971925"/>
              <a:ext cx="419100" cy="4191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5"/>
            <p:cNvSpPr txBox="1"/>
            <p:nvPr/>
          </p:nvSpPr>
          <p:spPr>
            <a:xfrm>
              <a:off x="4886325" y="3971925"/>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300">
                  <a:solidFill>
                    <a:srgbClr val="FFFFFF"/>
                  </a:solidFill>
                  <a:latin typeface="Calibri"/>
                  <a:ea typeface="Calibri"/>
                  <a:cs typeface="Calibri"/>
                  <a:sym typeface="Calibri"/>
                </a:rPr>
                <a:t>12</a:t>
              </a:r>
              <a:endParaRPr b="1" sz="1300">
                <a:solidFill>
                  <a:srgbClr val="FFFFFF"/>
                </a:solidFill>
                <a:latin typeface="Calibri"/>
                <a:ea typeface="Calibri"/>
                <a:cs typeface="Calibri"/>
                <a:sym typeface="Calibri"/>
              </a:endParaRPr>
            </a:p>
          </p:txBody>
        </p:sp>
        <p:sp>
          <p:nvSpPr>
            <p:cNvPr id="76" name="Google Shape;76;p5"/>
            <p:cNvSpPr txBox="1"/>
            <p:nvPr/>
          </p:nvSpPr>
          <p:spPr>
            <a:xfrm>
              <a:off x="5400675" y="3971925"/>
              <a:ext cx="36576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300">
                  <a:solidFill>
                    <a:srgbClr val="E5E7EB"/>
                  </a:solidFill>
                  <a:latin typeface="Calibri"/>
                  <a:ea typeface="Calibri"/>
                  <a:cs typeface="Calibri"/>
                  <a:sym typeface="Calibri"/>
                </a:rPr>
                <a:t>Results, Evaluation &amp; Future Work</a:t>
              </a:r>
              <a:endParaRPr b="0" sz="1300">
                <a:solidFill>
                  <a:srgbClr val="E5E7EB"/>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81" name="Shape 81"/>
        <p:cNvGrpSpPr/>
        <p:nvPr/>
      </p:nvGrpSpPr>
      <p:grpSpPr>
        <a:xfrm>
          <a:off x="0" y="0"/>
          <a:ext cx="0" cy="0"/>
          <a:chOff x="0" y="0"/>
          <a:chExt cx="0" cy="0"/>
        </a:xfrm>
      </p:grpSpPr>
      <p:sp>
        <p:nvSpPr>
          <p:cNvPr id="82" name="Google Shape;82;p6"/>
          <p:cNvSpPr/>
          <p:nvPr/>
        </p:nvSpPr>
        <p:spPr>
          <a:xfrm>
            <a:off x="0" y="0"/>
            <a:ext cx="9144000" cy="64008"/>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411480" y="128016"/>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GB" sz="2300" u="none" cap="none" strike="noStrike">
                <a:solidFill>
                  <a:srgbClr val="FFFFFF"/>
                </a:solidFill>
                <a:latin typeface="Calibri"/>
                <a:ea typeface="Calibri"/>
                <a:cs typeface="Calibri"/>
                <a:sym typeface="Calibri"/>
              </a:rPr>
              <a:t>Problem &amp; Motivation</a:t>
            </a:r>
            <a:endParaRPr b="0" i="0" sz="2300" u="none" cap="none" strike="noStrike">
              <a:solidFill>
                <a:schemeClr val="dk1"/>
              </a:solidFill>
              <a:latin typeface="Calibri"/>
              <a:ea typeface="Calibri"/>
              <a:cs typeface="Calibri"/>
              <a:sym typeface="Calibri"/>
            </a:endParaRPr>
          </a:p>
        </p:txBody>
      </p:sp>
      <p:sp>
        <p:nvSpPr>
          <p:cNvPr id="84" name="Google Shape;84;p6"/>
          <p:cNvSpPr/>
          <p:nvPr/>
        </p:nvSpPr>
        <p:spPr>
          <a:xfrm>
            <a:off x="365760" y="841248"/>
            <a:ext cx="2606040" cy="1600200"/>
          </a:xfrm>
          <a:prstGeom prst="rect">
            <a:avLst/>
          </a:prstGeom>
          <a:solidFill>
            <a:srgbClr val="16213E"/>
          </a:solidFill>
          <a:ln cap="flat" cmpd="sng" w="254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457200" y="896112"/>
            <a:ext cx="242316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4560"/>
              </a:buClr>
              <a:buSzPts val="3400"/>
              <a:buFont typeface="Calibri"/>
              <a:buNone/>
            </a:pPr>
            <a:r>
              <a:rPr b="1" i="0" lang="en-GB" sz="3400" u="none" cap="none" strike="noStrike">
                <a:solidFill>
                  <a:srgbClr val="E94560"/>
                </a:solidFill>
                <a:latin typeface="Calibri"/>
                <a:ea typeface="Calibri"/>
                <a:cs typeface="Calibri"/>
                <a:sym typeface="Calibri"/>
              </a:rPr>
              <a:t>450K+</a:t>
            </a:r>
            <a:endParaRPr b="0" i="0" sz="3400" u="none" cap="none" strike="noStrike">
              <a:solidFill>
                <a:schemeClr val="dk1"/>
              </a:solidFill>
              <a:latin typeface="Calibri"/>
              <a:ea typeface="Calibri"/>
              <a:cs typeface="Calibri"/>
              <a:sym typeface="Calibri"/>
            </a:endParaRPr>
          </a:p>
        </p:txBody>
      </p:sp>
      <p:sp>
        <p:nvSpPr>
          <p:cNvPr id="86" name="Google Shape;86;p6"/>
          <p:cNvSpPr/>
          <p:nvPr/>
        </p:nvSpPr>
        <p:spPr>
          <a:xfrm>
            <a:off x="457200" y="1572768"/>
            <a:ext cx="242316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5E7EB"/>
              </a:buClr>
              <a:buSzPts val="1100"/>
              <a:buFont typeface="Calibri"/>
              <a:buNone/>
            </a:pPr>
            <a:r>
              <a:rPr b="0" i="0" lang="en-GB" sz="1100" u="none" cap="none" strike="noStrike">
                <a:solidFill>
                  <a:srgbClr val="E5E7EB"/>
                </a:solidFill>
                <a:latin typeface="Calibri"/>
                <a:ea typeface="Calibri"/>
                <a:cs typeface="Calibri"/>
                <a:sym typeface="Calibri"/>
              </a:rPr>
              <a:t>New malware variants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5E7EB"/>
              </a:buClr>
              <a:buSzPts val="1100"/>
              <a:buFont typeface="Calibri"/>
              <a:buNone/>
            </a:pPr>
            <a:r>
              <a:rPr b="0" i="0" lang="en-GB" sz="1100" u="none" cap="none" strike="noStrike">
                <a:solidFill>
                  <a:srgbClr val="E5E7EB"/>
                </a:solidFill>
                <a:latin typeface="Calibri"/>
                <a:ea typeface="Calibri"/>
                <a:cs typeface="Calibri"/>
                <a:sym typeface="Calibri"/>
              </a:rPr>
              <a:t>detected daily</a:t>
            </a:r>
            <a:endParaRPr b="0" i="0" sz="1100" u="none" cap="none" strike="noStrike">
              <a:solidFill>
                <a:schemeClr val="dk1"/>
              </a:solidFill>
              <a:latin typeface="Calibri"/>
              <a:ea typeface="Calibri"/>
              <a:cs typeface="Calibri"/>
              <a:sym typeface="Calibri"/>
            </a:endParaRPr>
          </a:p>
        </p:txBody>
      </p:sp>
      <p:sp>
        <p:nvSpPr>
          <p:cNvPr id="87" name="Google Shape;87;p6"/>
          <p:cNvSpPr/>
          <p:nvPr/>
        </p:nvSpPr>
        <p:spPr>
          <a:xfrm>
            <a:off x="3200400" y="841248"/>
            <a:ext cx="2606040" cy="1600200"/>
          </a:xfrm>
          <a:prstGeom prst="rect">
            <a:avLst/>
          </a:prstGeom>
          <a:solidFill>
            <a:srgbClr val="16213E"/>
          </a:solidFill>
          <a:ln cap="flat" cmpd="sng" w="254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3291840" y="896112"/>
            <a:ext cx="242316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3400"/>
              <a:buFont typeface="Calibri"/>
              <a:buNone/>
            </a:pPr>
            <a:r>
              <a:rPr b="1" i="0" lang="en-GB" sz="3400" u="none" cap="none" strike="noStrike">
                <a:solidFill>
                  <a:srgbClr val="0891B2"/>
                </a:solidFill>
                <a:latin typeface="Calibri"/>
                <a:ea typeface="Calibri"/>
                <a:cs typeface="Calibri"/>
                <a:sym typeface="Calibri"/>
              </a:rPr>
              <a:t>Static</a:t>
            </a:r>
            <a:endParaRPr b="0" i="0" sz="3400" u="none" cap="none" strike="noStrike">
              <a:solidFill>
                <a:schemeClr val="dk1"/>
              </a:solidFill>
              <a:latin typeface="Calibri"/>
              <a:ea typeface="Calibri"/>
              <a:cs typeface="Calibri"/>
              <a:sym typeface="Calibri"/>
            </a:endParaRPr>
          </a:p>
        </p:txBody>
      </p:sp>
      <p:sp>
        <p:nvSpPr>
          <p:cNvPr id="89" name="Google Shape;89;p6"/>
          <p:cNvSpPr/>
          <p:nvPr/>
        </p:nvSpPr>
        <p:spPr>
          <a:xfrm>
            <a:off x="3291840" y="1572768"/>
            <a:ext cx="242316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5E7EB"/>
              </a:buClr>
              <a:buSzPts val="1100"/>
              <a:buFont typeface="Calibri"/>
              <a:buNone/>
            </a:pPr>
            <a:r>
              <a:rPr b="0" i="0" lang="en-GB" sz="1100" u="none" cap="none" strike="noStrike">
                <a:solidFill>
                  <a:srgbClr val="E5E7EB"/>
                </a:solidFill>
                <a:latin typeface="Calibri"/>
                <a:ea typeface="Calibri"/>
                <a:cs typeface="Calibri"/>
                <a:sym typeface="Calibri"/>
              </a:rPr>
              <a:t>Classifiers become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5E7EB"/>
              </a:buClr>
              <a:buSzPts val="1100"/>
              <a:buFont typeface="Calibri"/>
              <a:buNone/>
            </a:pPr>
            <a:r>
              <a:rPr b="0" i="0" lang="en-GB" sz="1100" u="none" cap="none" strike="noStrike">
                <a:solidFill>
                  <a:srgbClr val="E5E7EB"/>
                </a:solidFill>
                <a:latin typeface="Calibri"/>
                <a:ea typeface="Calibri"/>
                <a:cs typeface="Calibri"/>
                <a:sym typeface="Calibri"/>
              </a:rPr>
              <a:t>stale within weeks</a:t>
            </a:r>
            <a:endParaRPr b="0" i="0" sz="1100" u="none" cap="none" strike="noStrike">
              <a:solidFill>
                <a:schemeClr val="dk1"/>
              </a:solidFill>
              <a:latin typeface="Calibri"/>
              <a:ea typeface="Calibri"/>
              <a:cs typeface="Calibri"/>
              <a:sym typeface="Calibri"/>
            </a:endParaRPr>
          </a:p>
        </p:txBody>
      </p:sp>
      <p:sp>
        <p:nvSpPr>
          <p:cNvPr id="90" name="Google Shape;90;p6"/>
          <p:cNvSpPr/>
          <p:nvPr/>
        </p:nvSpPr>
        <p:spPr>
          <a:xfrm>
            <a:off x="6035040" y="841248"/>
            <a:ext cx="2606040" cy="1600200"/>
          </a:xfrm>
          <a:prstGeom prst="rect">
            <a:avLst/>
          </a:prstGeom>
          <a:solidFill>
            <a:srgbClr val="16213E"/>
          </a:solidFill>
          <a:ln cap="flat" cmpd="sng" w="254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6126480" y="896112"/>
            <a:ext cx="242316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3460"/>
              </a:buClr>
              <a:buSzPts val="3400"/>
              <a:buFont typeface="Calibri"/>
              <a:buNone/>
            </a:pPr>
            <a:r>
              <a:rPr b="1" i="0" lang="en-GB" sz="3400" u="none" cap="none" strike="noStrike">
                <a:solidFill>
                  <a:srgbClr val="0F3460"/>
                </a:solidFill>
                <a:latin typeface="Calibri"/>
                <a:ea typeface="Calibri"/>
                <a:cs typeface="Calibri"/>
                <a:sym typeface="Calibri"/>
              </a:rPr>
              <a:t>0</a:t>
            </a:r>
            <a:endParaRPr b="0" i="0" sz="3400" u="none" cap="none" strike="noStrike">
              <a:solidFill>
                <a:schemeClr val="dk1"/>
              </a:solidFill>
              <a:latin typeface="Calibri"/>
              <a:ea typeface="Calibri"/>
              <a:cs typeface="Calibri"/>
              <a:sym typeface="Calibri"/>
            </a:endParaRPr>
          </a:p>
        </p:txBody>
      </p:sp>
      <p:sp>
        <p:nvSpPr>
          <p:cNvPr id="92" name="Google Shape;92;p6"/>
          <p:cNvSpPr/>
          <p:nvPr/>
        </p:nvSpPr>
        <p:spPr>
          <a:xfrm>
            <a:off x="6126480" y="1572768"/>
            <a:ext cx="242316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5E7EB"/>
              </a:buClr>
              <a:buSzPts val="1100"/>
              <a:buFont typeface="Calibri"/>
              <a:buNone/>
            </a:pPr>
            <a:r>
              <a:rPr b="0" i="0" lang="en-GB" sz="1100" u="none" cap="none" strike="noStrike">
                <a:solidFill>
                  <a:srgbClr val="E5E7EB"/>
                </a:solidFill>
                <a:latin typeface="Calibri"/>
                <a:ea typeface="Calibri"/>
                <a:cs typeface="Calibri"/>
                <a:sym typeface="Calibri"/>
              </a:rPr>
              <a:t>Predefined datasets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5E7EB"/>
              </a:buClr>
              <a:buSzPts val="1100"/>
              <a:buFont typeface="Calibri"/>
              <a:buNone/>
            </a:pPr>
            <a:r>
              <a:rPr b="0" i="0" lang="en-GB" sz="1100" u="none" cap="none" strike="noStrike">
                <a:solidFill>
                  <a:srgbClr val="E5E7EB"/>
                </a:solidFill>
                <a:latin typeface="Calibri"/>
                <a:ea typeface="Calibri"/>
                <a:cs typeface="Calibri"/>
                <a:sym typeface="Calibri"/>
              </a:rPr>
              <a:t>allowed by this assignment</a:t>
            </a:r>
            <a:endParaRPr b="0" i="0" sz="1100" u="none" cap="none" strike="noStrike">
              <a:solidFill>
                <a:schemeClr val="dk1"/>
              </a:solidFill>
              <a:latin typeface="Calibri"/>
              <a:ea typeface="Calibri"/>
              <a:cs typeface="Calibri"/>
              <a:sym typeface="Calibri"/>
            </a:endParaRPr>
          </a:p>
        </p:txBody>
      </p:sp>
      <p:sp>
        <p:nvSpPr>
          <p:cNvPr id="93" name="Google Shape;93;p6"/>
          <p:cNvSpPr/>
          <p:nvPr/>
        </p:nvSpPr>
        <p:spPr>
          <a:xfrm>
            <a:off x="411480" y="2606040"/>
            <a:ext cx="8321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4560"/>
              </a:buClr>
              <a:buSzPts val="1500"/>
              <a:buFont typeface="Calibri"/>
              <a:buNone/>
            </a:pPr>
            <a:r>
              <a:rPr b="1" i="0" lang="en-GB" sz="1500" u="none" cap="none" strike="noStrike">
                <a:solidFill>
                  <a:srgbClr val="E94560"/>
                </a:solidFill>
                <a:latin typeface="Calibri"/>
                <a:ea typeface="Calibri"/>
                <a:cs typeface="Calibri"/>
                <a:sym typeface="Calibri"/>
              </a:rPr>
              <a:t>The Core Challenges:</a:t>
            </a:r>
            <a:endParaRPr b="0" i="0" sz="1500" u="none" cap="none" strike="noStrike">
              <a:solidFill>
                <a:schemeClr val="dk1"/>
              </a:solidFill>
              <a:latin typeface="Calibri"/>
              <a:ea typeface="Calibri"/>
              <a:cs typeface="Calibri"/>
              <a:sym typeface="Calibri"/>
            </a:endParaRPr>
          </a:p>
        </p:txBody>
      </p:sp>
      <p:sp>
        <p:nvSpPr>
          <p:cNvPr id="94" name="Google Shape;94;p6"/>
          <p:cNvSpPr/>
          <p:nvPr/>
        </p:nvSpPr>
        <p:spPr>
          <a:xfrm>
            <a:off x="411480" y="2999232"/>
            <a:ext cx="8321040" cy="19202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E5E7EB"/>
              </a:buClr>
              <a:buSzPts val="1250"/>
              <a:buFont typeface="Calibri"/>
              <a:buChar char="•"/>
            </a:pPr>
            <a:r>
              <a:rPr b="0" i="0" lang="en-GB" sz="1250" u="none" cap="none" strike="noStrike">
                <a:solidFill>
                  <a:srgbClr val="E5E7EB"/>
                </a:solidFill>
                <a:latin typeface="Calibri"/>
                <a:ea typeface="Calibri"/>
                <a:cs typeface="Calibri"/>
                <a:sym typeface="Calibri"/>
              </a:rPr>
              <a:t>Concept drift — new malware variants evade classifiers trained on old data</a:t>
            </a:r>
            <a:endParaRPr b="0" i="0" sz="12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5E7EB"/>
              </a:buClr>
              <a:buSzPts val="1250"/>
              <a:buFont typeface="Calibri"/>
              <a:buChar char="•"/>
            </a:pPr>
            <a:r>
              <a:rPr b="0" i="0" lang="en-GB" sz="1250" u="none" cap="none" strike="noStrike">
                <a:solidFill>
                  <a:srgbClr val="E5E7EB"/>
                </a:solidFill>
                <a:latin typeface="Calibri"/>
                <a:ea typeface="Calibri"/>
                <a:cs typeface="Calibri"/>
                <a:sym typeface="Calibri"/>
              </a:rPr>
              <a:t>No static dataset — the agent must autonomously discover and collect live samples from the internet</a:t>
            </a:r>
            <a:endParaRPr b="0" i="0" sz="12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5E7EB"/>
              </a:buClr>
              <a:buSzPts val="1250"/>
              <a:buFont typeface="Calibri"/>
              <a:buChar char="•"/>
            </a:pPr>
            <a:r>
              <a:rPr b="0" i="0" lang="en-GB" sz="1250" u="none" cap="none" strike="noStrike">
                <a:solidFill>
                  <a:srgbClr val="E5E7EB"/>
                </a:solidFill>
                <a:latin typeface="Calibri"/>
                <a:ea typeface="Calibri"/>
                <a:cs typeface="Calibri"/>
                <a:sym typeface="Calibri"/>
              </a:rPr>
              <a:t>Temporal leakage — random train/test splits inflate benchmark scores; chronological splits are required</a:t>
            </a:r>
            <a:endParaRPr b="0" i="0" sz="12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5E7EB"/>
              </a:buClr>
              <a:buSzPts val="1250"/>
              <a:buFont typeface="Calibri"/>
              <a:buChar char="•"/>
            </a:pPr>
            <a:r>
              <a:rPr b="0" i="0" lang="en-GB" sz="1250" u="none" cap="none" strike="noStrike">
                <a:solidFill>
                  <a:srgbClr val="E5E7EB"/>
                </a:solidFill>
                <a:latin typeface="Calibri"/>
                <a:ea typeface="Calibri"/>
                <a:cs typeface="Calibri"/>
                <a:sym typeface="Calibri"/>
              </a:rPr>
              <a:t>Safe handling — live weaponized PE files require Docker isolation + iptables egress controls + no execution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99" name="Shape 99"/>
        <p:cNvGrpSpPr/>
        <p:nvPr/>
      </p:nvGrpSpPr>
      <p:grpSpPr>
        <a:xfrm>
          <a:off x="0" y="0"/>
          <a:ext cx="0" cy="0"/>
          <a:chOff x="0" y="0"/>
          <a:chExt cx="0" cy="0"/>
        </a:xfrm>
      </p:grpSpPr>
      <p:sp>
        <p:nvSpPr>
          <p:cNvPr id="100" name="Google Shape;100;p7"/>
          <p:cNvSpPr/>
          <p:nvPr/>
        </p:nvSpPr>
        <p:spPr>
          <a:xfrm>
            <a:off x="0" y="0"/>
            <a:ext cx="9144000" cy="64008"/>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411480" y="128016"/>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300"/>
              <a:buFont typeface="Calibri"/>
              <a:buNone/>
            </a:pPr>
            <a:r>
              <a:rPr b="1" i="0" lang="en-GB" sz="2300" u="none" cap="none" strike="noStrike">
                <a:solidFill>
                  <a:srgbClr val="1A1A2E"/>
                </a:solidFill>
                <a:latin typeface="Calibri"/>
                <a:ea typeface="Calibri"/>
                <a:cs typeface="Calibri"/>
                <a:sym typeface="Calibri"/>
              </a:rPr>
              <a:t>Related Work</a:t>
            </a:r>
            <a:endParaRPr b="0" i="0" sz="2300" u="none" cap="none" strike="noStrike">
              <a:solidFill>
                <a:schemeClr val="dk1"/>
              </a:solidFill>
              <a:latin typeface="Calibri"/>
              <a:ea typeface="Calibri"/>
              <a:cs typeface="Calibri"/>
              <a:sym typeface="Calibri"/>
            </a:endParaRPr>
          </a:p>
        </p:txBody>
      </p:sp>
      <p:graphicFrame>
        <p:nvGraphicFramePr>
          <p:cNvPr id="102" name="Google Shape;102;p7"/>
          <p:cNvGraphicFramePr/>
          <p:nvPr/>
        </p:nvGraphicFramePr>
        <p:xfrm>
          <a:off x="274320" y="786384"/>
          <a:ext cx="3000000" cy="3000000"/>
        </p:xfrm>
        <a:graphic>
          <a:graphicData uri="http://schemas.openxmlformats.org/drawingml/2006/table">
            <a:tbl>
              <a:tblPr>
                <a:noFill/>
                <a:tableStyleId>{FF488EA3-85B3-4B72-9505-CE827A8DE694}</a:tableStyleId>
              </a:tblPr>
              <a:tblGrid>
                <a:gridCol w="1417325"/>
                <a:gridCol w="1371600"/>
                <a:gridCol w="2514600"/>
                <a:gridCol w="3291850"/>
              </a:tblGrid>
              <a:tr h="420625">
                <a:tc>
                  <a:txBody>
                    <a:bodyPr/>
                    <a:lstStyle/>
                    <a:p>
                      <a:pPr indent="0" lvl="0" marL="0" marR="0" rtl="0" algn="l">
                        <a:spcBef>
                          <a:spcPts val="0"/>
                        </a:spcBef>
                        <a:spcAft>
                          <a:spcPts val="0"/>
                        </a:spcAft>
                        <a:buClr>
                          <a:srgbClr val="FFFFFF"/>
                        </a:buClr>
                        <a:buSzPts val="900"/>
                        <a:buFont typeface="Calibri"/>
                        <a:buNone/>
                      </a:pPr>
                      <a:r>
                        <a:rPr b="1" lang="en-GB" sz="900" u="none" cap="none" strike="noStrike">
                          <a:solidFill>
                            <a:srgbClr val="FFFFFF"/>
                          </a:solidFill>
                        </a:rPr>
                        <a:t>Tool / Paper</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F3460"/>
                    </a:solidFill>
                  </a:tcPr>
                </a:tc>
                <a:tc>
                  <a:txBody>
                    <a:bodyPr/>
                    <a:lstStyle/>
                    <a:p>
                      <a:pPr indent="0" lvl="0" marL="0" marR="0" rtl="0" algn="l">
                        <a:spcBef>
                          <a:spcPts val="0"/>
                        </a:spcBef>
                        <a:spcAft>
                          <a:spcPts val="0"/>
                        </a:spcAft>
                        <a:buClr>
                          <a:srgbClr val="FFFFFF"/>
                        </a:buClr>
                        <a:buSzPts val="900"/>
                        <a:buFont typeface="Calibri"/>
                        <a:buNone/>
                      </a:pPr>
                      <a:r>
                        <a:rPr b="1" lang="en-GB" sz="900" u="none" cap="none" strike="noStrike">
                          <a:solidFill>
                            <a:srgbClr val="FFFFFF"/>
                          </a:solidFill>
                        </a:rPr>
                        <a:t>Role</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F3460"/>
                    </a:solidFill>
                  </a:tcPr>
                </a:tc>
                <a:tc>
                  <a:txBody>
                    <a:bodyPr/>
                    <a:lstStyle/>
                    <a:p>
                      <a:pPr indent="0" lvl="0" marL="0" marR="0" rtl="0" algn="l">
                        <a:spcBef>
                          <a:spcPts val="0"/>
                        </a:spcBef>
                        <a:spcAft>
                          <a:spcPts val="0"/>
                        </a:spcAft>
                        <a:buClr>
                          <a:srgbClr val="FFFFFF"/>
                        </a:buClr>
                        <a:buSzPts val="900"/>
                        <a:buFont typeface="Calibri"/>
                        <a:buNone/>
                      </a:pPr>
                      <a:r>
                        <a:rPr b="1" lang="en-GB" sz="900" u="none" cap="none" strike="noStrike">
                          <a:solidFill>
                            <a:srgbClr val="FFFFFF"/>
                          </a:solidFill>
                        </a:rPr>
                        <a:t>Pros  /  Cons</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F3460"/>
                    </a:solidFill>
                  </a:tcPr>
                </a:tc>
                <a:tc>
                  <a:txBody>
                    <a:bodyPr/>
                    <a:lstStyle/>
                    <a:p>
                      <a:pPr indent="0" lvl="0" marL="0" marR="0" rtl="0" algn="l">
                        <a:spcBef>
                          <a:spcPts val="0"/>
                        </a:spcBef>
                        <a:spcAft>
                          <a:spcPts val="0"/>
                        </a:spcAft>
                        <a:buClr>
                          <a:srgbClr val="FFFFFF"/>
                        </a:buClr>
                        <a:buSzPts val="900"/>
                        <a:buFont typeface="Calibri"/>
                        <a:buNone/>
                      </a:pPr>
                      <a:r>
                        <a:rPr b="1" lang="en-GB" sz="900" u="none" cap="none" strike="noStrike">
                          <a:solidFill>
                            <a:srgbClr val="FFFFFF"/>
                          </a:solidFill>
                        </a:rPr>
                        <a:t>How We Used It</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F3460"/>
                    </a:solidFill>
                  </a:tcPr>
                </a:tc>
              </a:tr>
              <a:tr h="420625">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EMBER</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Feature representation</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Strong static baseline</a:t>
                      </a:r>
                      <a:endParaRPr sz="900" u="none" cap="none" strike="noStrike"/>
                    </a:p>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Evadable by packing</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Inspired our 2304-dim feature vector</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MADAR</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Continual learning</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Reduces catastrophic forgetting</a:t>
                      </a:r>
                      <a:endParaRPr sz="900" u="none" cap="none" strike="noStrike"/>
                    </a:p>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Needs stored history</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Family-aware replay before LightGBM retraining</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TESSERACT</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Evaluation framework</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No temporal leakage</a:t>
                      </a:r>
                      <a:endParaRPr sz="900" u="none" cap="none" strike="noStrike"/>
                    </a:p>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Skips single-class splits</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Chronological holdout + AUT metric + before/after delta</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River / ADWIN</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Drift detection</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Online &amp; lightweight</a:t>
                      </a:r>
                      <a:endParaRPr sz="900" u="none" cap="none" strike="noStrike"/>
                    </a:p>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Threshold tuning required</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Entropy stream + multivariate window shift checks</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MalwareBazaar</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Live malware source</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Real-world, metadata-rich</a:t>
                      </a:r>
                      <a:endParaRPr sz="900" u="none" cap="none" strike="noStrike"/>
                    </a:p>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API quotas, noisy</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Primary malware discovery &amp; PE download</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OTX / CTI feeds</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Threat intelligence</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Fresh indicators</a:t>
                      </a:r>
                      <a:endParaRPr sz="900" u="none" cap="none" strike="noStrike"/>
                    </a:p>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Unstructured text, noisy</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SHA256 extraction from pulses, Ollama-filtered</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Ollama (LLM)</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Semantic sidecar</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Local &amp; private</a:t>
                      </a:r>
                      <a:endParaRPr sz="900" u="none" cap="none" strike="noStrike"/>
                    </a:p>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Best-effort, needs fallbacks</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CTI filtering, source selection, drift explanations</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pefile</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PE static parsing</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Mature, safe API</a:t>
                      </a:r>
                      <a:endParaRPr sz="900" u="none" cap="none" strike="noStrike"/>
                    </a:p>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 No runtime behavior</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00"/>
                        <a:buFont typeface="Calibri"/>
                        <a:buNone/>
                      </a:pPr>
                      <a:r>
                        <a:rPr lang="en-GB" sz="900" u="none" cap="none" strike="noStrike">
                          <a:solidFill>
                            <a:srgbClr val="000000"/>
                          </a:solidFill>
                        </a:rPr>
                        <a:t>Headers, sections, imports, exports, entropy</a:t>
                      </a:r>
                      <a:endParaRPr sz="90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07" name="Shape 107"/>
        <p:cNvGrpSpPr/>
        <p:nvPr/>
      </p:nvGrpSpPr>
      <p:grpSpPr>
        <a:xfrm>
          <a:off x="0" y="0"/>
          <a:ext cx="0" cy="0"/>
          <a:chOff x="0" y="0"/>
          <a:chExt cx="0" cy="0"/>
        </a:xfrm>
      </p:grpSpPr>
      <p:sp>
        <p:nvSpPr>
          <p:cNvPr id="108" name="Google Shape;108;p8"/>
          <p:cNvSpPr/>
          <p:nvPr/>
        </p:nvSpPr>
        <p:spPr>
          <a:xfrm>
            <a:off x="0" y="0"/>
            <a:ext cx="9144000" cy="64008"/>
          </a:xfrm>
          <a:prstGeom prst="rect">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a:off x="411480" y="128016"/>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GB" sz="2300" u="none" cap="none" strike="noStrike">
                <a:solidFill>
                  <a:srgbClr val="FFFFFF"/>
                </a:solidFill>
                <a:latin typeface="Calibri"/>
                <a:ea typeface="Calibri"/>
                <a:cs typeface="Calibri"/>
                <a:sym typeface="Calibri"/>
              </a:rPr>
              <a:t>System Architecture Overview</a:t>
            </a:r>
            <a:endParaRPr b="0" i="0" sz="2300" u="none" cap="none" strike="noStrike">
              <a:solidFill>
                <a:schemeClr val="dk1"/>
              </a:solidFill>
              <a:latin typeface="Calibri"/>
              <a:ea typeface="Calibri"/>
              <a:cs typeface="Calibri"/>
              <a:sym typeface="Calibri"/>
            </a:endParaRPr>
          </a:p>
        </p:txBody>
      </p:sp>
      <p:sp>
        <p:nvSpPr>
          <p:cNvPr id="110" name="Google Shape;110;p8"/>
          <p:cNvSpPr/>
          <p:nvPr/>
        </p:nvSpPr>
        <p:spPr>
          <a:xfrm>
            <a:off x="228600" y="914400"/>
            <a:ext cx="1325880" cy="86868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228600" y="914400"/>
            <a:ext cx="13258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Source</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Selector</a:t>
            </a:r>
            <a:endParaRPr b="0" i="0" sz="850" u="none" cap="none" strike="noStrike">
              <a:solidFill>
                <a:schemeClr val="dk1"/>
              </a:solidFill>
              <a:latin typeface="Calibri"/>
              <a:ea typeface="Calibri"/>
              <a:cs typeface="Calibri"/>
              <a:sym typeface="Calibri"/>
            </a:endParaRPr>
          </a:p>
        </p:txBody>
      </p:sp>
      <p:cxnSp>
        <p:nvCxnSpPr>
          <p:cNvPr id="112" name="Google Shape;112;p8"/>
          <p:cNvCxnSpPr/>
          <p:nvPr/>
        </p:nvCxnSpPr>
        <p:spPr>
          <a:xfrm>
            <a:off x="1554480" y="1348740"/>
            <a:ext cx="365760" cy="0"/>
          </a:xfrm>
          <a:prstGeom prst="straightConnector1">
            <a:avLst/>
          </a:prstGeom>
          <a:noFill/>
          <a:ln cap="flat" cmpd="sng" w="22850">
            <a:solidFill>
              <a:srgbClr val="FF6B88"/>
            </a:solidFill>
            <a:prstDash val="solid"/>
            <a:round/>
            <a:headEnd len="sm" w="sm" type="none"/>
            <a:tailEnd len="sm" w="sm" type="none"/>
          </a:ln>
        </p:spPr>
      </p:cxnSp>
      <p:sp>
        <p:nvSpPr>
          <p:cNvPr id="113" name="Google Shape;113;p8"/>
          <p:cNvSpPr/>
          <p:nvPr/>
        </p:nvSpPr>
        <p:spPr>
          <a:xfrm>
            <a:off x="1691640" y="914400"/>
            <a:ext cx="1325880" cy="86868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8"/>
          <p:cNvSpPr/>
          <p:nvPr/>
        </p:nvSpPr>
        <p:spPr>
          <a:xfrm>
            <a:off x="1691640" y="914400"/>
            <a:ext cx="13258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Discovery</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&amp; Fetch</a:t>
            </a:r>
            <a:endParaRPr b="0" i="0" sz="850" u="none" cap="none" strike="noStrike">
              <a:solidFill>
                <a:schemeClr val="dk1"/>
              </a:solidFill>
              <a:latin typeface="Calibri"/>
              <a:ea typeface="Calibri"/>
              <a:cs typeface="Calibri"/>
              <a:sym typeface="Calibri"/>
            </a:endParaRPr>
          </a:p>
        </p:txBody>
      </p:sp>
      <p:cxnSp>
        <p:nvCxnSpPr>
          <p:cNvPr id="115" name="Google Shape;115;p8"/>
          <p:cNvCxnSpPr/>
          <p:nvPr/>
        </p:nvCxnSpPr>
        <p:spPr>
          <a:xfrm>
            <a:off x="3017520" y="1348740"/>
            <a:ext cx="365760" cy="0"/>
          </a:xfrm>
          <a:prstGeom prst="straightConnector1">
            <a:avLst/>
          </a:prstGeom>
          <a:noFill/>
          <a:ln cap="flat" cmpd="sng" w="22850">
            <a:solidFill>
              <a:srgbClr val="FF6B88"/>
            </a:solidFill>
            <a:prstDash val="solid"/>
            <a:round/>
            <a:headEnd len="sm" w="sm" type="none"/>
            <a:tailEnd len="sm" w="sm" type="none"/>
          </a:ln>
        </p:spPr>
      </p:cxnSp>
      <p:sp>
        <p:nvSpPr>
          <p:cNvPr id="116" name="Google Shape;116;p8"/>
          <p:cNvSpPr/>
          <p:nvPr/>
        </p:nvSpPr>
        <p:spPr>
          <a:xfrm>
            <a:off x="3154680" y="914400"/>
            <a:ext cx="1325880" cy="868680"/>
          </a:xfrm>
          <a:prstGeom prst="rect">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3154680" y="914400"/>
            <a:ext cx="13258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Validation</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&amp; Features</a:t>
            </a:r>
            <a:endParaRPr b="0" i="0" sz="850" u="none" cap="none" strike="noStrike">
              <a:solidFill>
                <a:schemeClr val="dk1"/>
              </a:solidFill>
              <a:latin typeface="Calibri"/>
              <a:ea typeface="Calibri"/>
              <a:cs typeface="Calibri"/>
              <a:sym typeface="Calibri"/>
            </a:endParaRPr>
          </a:p>
        </p:txBody>
      </p:sp>
      <p:cxnSp>
        <p:nvCxnSpPr>
          <p:cNvPr id="118" name="Google Shape;118;p8"/>
          <p:cNvCxnSpPr/>
          <p:nvPr/>
        </p:nvCxnSpPr>
        <p:spPr>
          <a:xfrm>
            <a:off x="4480560" y="1348740"/>
            <a:ext cx="365760" cy="0"/>
          </a:xfrm>
          <a:prstGeom prst="straightConnector1">
            <a:avLst/>
          </a:prstGeom>
          <a:noFill/>
          <a:ln cap="flat" cmpd="sng" w="22850">
            <a:solidFill>
              <a:srgbClr val="FF6B88"/>
            </a:solidFill>
            <a:prstDash val="solid"/>
            <a:round/>
            <a:headEnd len="sm" w="sm" type="none"/>
            <a:tailEnd len="sm" w="sm" type="none"/>
          </a:ln>
        </p:spPr>
      </p:cxnSp>
      <p:sp>
        <p:nvSpPr>
          <p:cNvPr id="119" name="Google Shape;119;p8"/>
          <p:cNvSpPr/>
          <p:nvPr/>
        </p:nvSpPr>
        <p:spPr>
          <a:xfrm>
            <a:off x="4617720" y="914400"/>
            <a:ext cx="1325880" cy="86868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4617720" y="914400"/>
            <a:ext cx="13258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Drift</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Monitor</a:t>
            </a:r>
            <a:endParaRPr b="0" i="0" sz="850" u="none" cap="none" strike="noStrike">
              <a:solidFill>
                <a:schemeClr val="dk1"/>
              </a:solidFill>
              <a:latin typeface="Calibri"/>
              <a:ea typeface="Calibri"/>
              <a:cs typeface="Calibri"/>
              <a:sym typeface="Calibri"/>
            </a:endParaRPr>
          </a:p>
        </p:txBody>
      </p:sp>
      <p:cxnSp>
        <p:nvCxnSpPr>
          <p:cNvPr id="121" name="Google Shape;121;p8"/>
          <p:cNvCxnSpPr/>
          <p:nvPr/>
        </p:nvCxnSpPr>
        <p:spPr>
          <a:xfrm>
            <a:off x="5943600" y="1348740"/>
            <a:ext cx="365760" cy="0"/>
          </a:xfrm>
          <a:prstGeom prst="straightConnector1">
            <a:avLst/>
          </a:prstGeom>
          <a:noFill/>
          <a:ln cap="flat" cmpd="sng" w="22850">
            <a:solidFill>
              <a:srgbClr val="FF6B88"/>
            </a:solidFill>
            <a:prstDash val="solid"/>
            <a:round/>
            <a:headEnd len="sm" w="sm" type="none"/>
            <a:tailEnd len="sm" w="sm" type="none"/>
          </a:ln>
        </p:spPr>
      </p:cxnSp>
      <p:sp>
        <p:nvSpPr>
          <p:cNvPr id="122" name="Google Shape;122;p8"/>
          <p:cNvSpPr/>
          <p:nvPr/>
        </p:nvSpPr>
        <p:spPr>
          <a:xfrm>
            <a:off x="6080760" y="914400"/>
            <a:ext cx="1325880" cy="86868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6080760" y="914400"/>
            <a:ext cx="13258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Infer /</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Retrain</a:t>
            </a:r>
            <a:endParaRPr b="0" i="0" sz="850" u="none" cap="none" strike="noStrike">
              <a:solidFill>
                <a:schemeClr val="dk1"/>
              </a:solidFill>
              <a:latin typeface="Calibri"/>
              <a:ea typeface="Calibri"/>
              <a:cs typeface="Calibri"/>
              <a:sym typeface="Calibri"/>
            </a:endParaRPr>
          </a:p>
        </p:txBody>
      </p:sp>
      <p:cxnSp>
        <p:nvCxnSpPr>
          <p:cNvPr id="124" name="Google Shape;124;p8"/>
          <p:cNvCxnSpPr/>
          <p:nvPr/>
        </p:nvCxnSpPr>
        <p:spPr>
          <a:xfrm>
            <a:off x="7406640" y="1348740"/>
            <a:ext cx="365760" cy="0"/>
          </a:xfrm>
          <a:prstGeom prst="straightConnector1">
            <a:avLst/>
          </a:prstGeom>
          <a:noFill/>
          <a:ln cap="flat" cmpd="sng" w="22850">
            <a:solidFill>
              <a:srgbClr val="FF6B88"/>
            </a:solidFill>
            <a:prstDash val="solid"/>
            <a:round/>
            <a:headEnd len="sm" w="sm" type="none"/>
            <a:tailEnd len="sm" w="sm" type="none"/>
          </a:ln>
        </p:spPr>
      </p:cxnSp>
      <p:sp>
        <p:nvSpPr>
          <p:cNvPr id="125" name="Google Shape;125;p8"/>
          <p:cNvSpPr/>
          <p:nvPr/>
        </p:nvSpPr>
        <p:spPr>
          <a:xfrm>
            <a:off x="7543800" y="914400"/>
            <a:ext cx="1325880" cy="86868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7543800" y="914400"/>
            <a:ext cx="13258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TESSERACT</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GB" sz="850" u="none" cap="none" strike="noStrike">
                <a:solidFill>
                  <a:srgbClr val="FFFFFF"/>
                </a:solidFill>
                <a:latin typeface="Calibri"/>
                <a:ea typeface="Calibri"/>
                <a:cs typeface="Calibri"/>
                <a:sym typeface="Calibri"/>
              </a:rPr>
              <a:t>Eval</a:t>
            </a:r>
            <a:endParaRPr b="0" i="0" sz="850" u="none" cap="none" strike="noStrike">
              <a:solidFill>
                <a:schemeClr val="dk1"/>
              </a:solidFill>
              <a:latin typeface="Calibri"/>
              <a:ea typeface="Calibri"/>
              <a:cs typeface="Calibri"/>
              <a:sym typeface="Calibri"/>
            </a:endParaRPr>
          </a:p>
        </p:txBody>
      </p:sp>
      <p:cxnSp>
        <p:nvCxnSpPr>
          <p:cNvPr id="127" name="Google Shape;127;p8"/>
          <p:cNvCxnSpPr/>
          <p:nvPr/>
        </p:nvCxnSpPr>
        <p:spPr>
          <a:xfrm>
            <a:off x="5276088" y="1783080"/>
            <a:ext cx="0" cy="594360"/>
          </a:xfrm>
          <a:prstGeom prst="straightConnector1">
            <a:avLst/>
          </a:prstGeom>
          <a:noFill/>
          <a:ln cap="flat" cmpd="sng" w="19050">
            <a:solidFill>
              <a:srgbClr val="FF6B88"/>
            </a:solidFill>
            <a:prstDash val="dash"/>
            <a:round/>
            <a:headEnd len="sm" w="sm" type="none"/>
            <a:tailEnd len="sm" w="sm" type="none"/>
          </a:ln>
        </p:spPr>
      </p:cxnSp>
      <p:sp>
        <p:nvSpPr>
          <p:cNvPr id="128" name="Google Shape;128;p8"/>
          <p:cNvSpPr/>
          <p:nvPr/>
        </p:nvSpPr>
        <p:spPr>
          <a:xfrm>
            <a:off x="4617720" y="2359152"/>
            <a:ext cx="13258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6B88"/>
              </a:buClr>
              <a:buSzPts val="750"/>
              <a:buFont typeface="Calibri"/>
              <a:buNone/>
            </a:pPr>
            <a:r>
              <a:rPr b="0" i="1" lang="en-GB" sz="750" u="none" cap="none" strike="noStrike">
                <a:solidFill>
                  <a:srgbClr val="FF6B88"/>
                </a:solidFill>
                <a:latin typeface="Calibri"/>
                <a:ea typeface="Calibri"/>
                <a:cs typeface="Calibri"/>
                <a:sym typeface="Calibri"/>
              </a:rPr>
              <a:t>drift detected</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6B88"/>
              </a:buClr>
              <a:buSzPts val="750"/>
              <a:buFont typeface="Calibri"/>
              <a:buNone/>
            </a:pPr>
            <a:r>
              <a:rPr b="0" i="1" lang="en-GB" sz="750" u="none" cap="none" strike="noStrike">
                <a:solidFill>
                  <a:srgbClr val="FF6B88"/>
                </a:solidFill>
                <a:latin typeface="Calibri"/>
                <a:ea typeface="Calibri"/>
                <a:cs typeface="Calibri"/>
                <a:sym typeface="Calibri"/>
              </a:rPr>
              <a:t>→ retrain path</a:t>
            </a:r>
            <a:endParaRPr b="0" i="0" sz="750" u="none" cap="none" strike="noStrike">
              <a:solidFill>
                <a:schemeClr val="dk1"/>
              </a:solidFill>
              <a:latin typeface="Calibri"/>
              <a:ea typeface="Calibri"/>
              <a:cs typeface="Calibri"/>
              <a:sym typeface="Calibri"/>
            </a:endParaRPr>
          </a:p>
        </p:txBody>
      </p:sp>
      <p:sp>
        <p:nvSpPr>
          <p:cNvPr id="129" name="Google Shape;129;p8"/>
          <p:cNvSpPr/>
          <p:nvPr/>
        </p:nvSpPr>
        <p:spPr>
          <a:xfrm>
            <a:off x="228600" y="2724912"/>
            <a:ext cx="2788920" cy="1353312"/>
          </a:xfrm>
          <a:prstGeom prst="rect">
            <a:avLst/>
          </a:prstGeom>
          <a:solidFill>
            <a:srgbClr val="16213E"/>
          </a:solidFill>
          <a:ln cap="flat" cmpd="sng" w="1905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228600" y="2724912"/>
            <a:ext cx="2788920" cy="27432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301752" y="2724912"/>
            <a:ext cx="264261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GB" sz="900" u="none" cap="none" strike="noStrike">
                <a:solidFill>
                  <a:srgbClr val="FFFFFF"/>
                </a:solidFill>
                <a:latin typeface="Calibri"/>
                <a:ea typeface="Calibri"/>
                <a:cs typeface="Calibri"/>
                <a:sym typeface="Calibri"/>
              </a:rPr>
              <a:t>Fork A — Collection</a:t>
            </a:r>
            <a:endParaRPr b="0" i="0" sz="900" u="none" cap="none" strike="noStrike">
              <a:solidFill>
                <a:schemeClr val="dk1"/>
              </a:solidFill>
              <a:latin typeface="Calibri"/>
              <a:ea typeface="Calibri"/>
              <a:cs typeface="Calibri"/>
              <a:sym typeface="Calibri"/>
            </a:endParaRPr>
          </a:p>
        </p:txBody>
      </p:sp>
      <p:sp>
        <p:nvSpPr>
          <p:cNvPr id="132" name="Google Shape;132;p8"/>
          <p:cNvSpPr/>
          <p:nvPr/>
        </p:nvSpPr>
        <p:spPr>
          <a:xfrm>
            <a:off x="320040" y="3044952"/>
            <a:ext cx="26060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5E7EB"/>
              </a:buClr>
              <a:buSzPts val="900"/>
              <a:buFont typeface="Calibri"/>
              <a:buNone/>
            </a:pPr>
            <a:r>
              <a:rPr b="0" i="0" lang="en-GB" sz="900" u="none" cap="none" strike="noStrike">
                <a:solidFill>
                  <a:srgbClr val="E5E7EB"/>
                </a:solidFill>
                <a:latin typeface="Calibri"/>
                <a:ea typeface="Calibri"/>
                <a:cs typeface="Calibri"/>
                <a:sym typeface="Calibri"/>
              </a:rPr>
              <a:t>Balance class counts from SQLite, rotate providers with cooldown &amp; success-rate ranking, reusable fetch/validate tools</a:t>
            </a:r>
            <a:endParaRPr b="0" i="0" sz="900" u="none" cap="none" strike="noStrike">
              <a:solidFill>
                <a:schemeClr val="dk1"/>
              </a:solidFill>
              <a:latin typeface="Calibri"/>
              <a:ea typeface="Calibri"/>
              <a:cs typeface="Calibri"/>
              <a:sym typeface="Calibri"/>
            </a:endParaRPr>
          </a:p>
        </p:txBody>
      </p:sp>
      <p:sp>
        <p:nvSpPr>
          <p:cNvPr id="133" name="Google Shape;133;p8"/>
          <p:cNvSpPr/>
          <p:nvPr/>
        </p:nvSpPr>
        <p:spPr>
          <a:xfrm>
            <a:off x="3172968" y="2724912"/>
            <a:ext cx="2788920" cy="1353312"/>
          </a:xfrm>
          <a:prstGeom prst="rect">
            <a:avLst/>
          </a:prstGeom>
          <a:solidFill>
            <a:srgbClr val="16213E"/>
          </a:solidFill>
          <a:ln cap="flat" cmpd="sng" w="1905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3172968" y="2724912"/>
            <a:ext cx="2788920" cy="27432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3246120" y="2724912"/>
            <a:ext cx="264261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GB" sz="900" u="none" cap="none" strike="noStrike">
                <a:solidFill>
                  <a:srgbClr val="FFFFFF"/>
                </a:solidFill>
                <a:latin typeface="Calibri"/>
                <a:ea typeface="Calibri"/>
                <a:cs typeface="Calibri"/>
                <a:sym typeface="Calibri"/>
              </a:rPr>
              <a:t>Fork B — ML</a:t>
            </a:r>
            <a:endParaRPr b="0" i="0" sz="900" u="none" cap="none" strike="noStrike">
              <a:solidFill>
                <a:schemeClr val="dk1"/>
              </a:solidFill>
              <a:latin typeface="Calibri"/>
              <a:ea typeface="Calibri"/>
              <a:cs typeface="Calibri"/>
              <a:sym typeface="Calibri"/>
            </a:endParaRPr>
          </a:p>
        </p:txBody>
      </p:sp>
      <p:sp>
        <p:nvSpPr>
          <p:cNvPr id="136" name="Google Shape;136;p8"/>
          <p:cNvSpPr/>
          <p:nvPr/>
        </p:nvSpPr>
        <p:spPr>
          <a:xfrm>
            <a:off x="3264408" y="3044952"/>
            <a:ext cx="26060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5E7EB"/>
              </a:buClr>
              <a:buSzPts val="900"/>
              <a:buFont typeface="Calibri"/>
              <a:buNone/>
            </a:pPr>
            <a:r>
              <a:rPr b="0" i="0" lang="en-GB" sz="900" u="none" cap="none" strike="noStrike">
                <a:solidFill>
                  <a:srgbClr val="E5E7EB"/>
                </a:solidFill>
                <a:latin typeface="Calibri"/>
                <a:ea typeface="Calibri"/>
                <a:cs typeface="Calibri"/>
                <a:sym typeface="Calibri"/>
              </a:rPr>
              <a:t>ADWIN entropy + multivariate window → drift flag routes to MADAR retraining; otherwise direct to LightGBM inference</a:t>
            </a:r>
            <a:endParaRPr b="0" i="0" sz="900" u="none" cap="none" strike="noStrike">
              <a:solidFill>
                <a:schemeClr val="dk1"/>
              </a:solidFill>
              <a:latin typeface="Calibri"/>
              <a:ea typeface="Calibri"/>
              <a:cs typeface="Calibri"/>
              <a:sym typeface="Calibri"/>
            </a:endParaRPr>
          </a:p>
        </p:txBody>
      </p:sp>
      <p:sp>
        <p:nvSpPr>
          <p:cNvPr id="137" name="Google Shape;137;p8"/>
          <p:cNvSpPr/>
          <p:nvPr/>
        </p:nvSpPr>
        <p:spPr>
          <a:xfrm>
            <a:off x="6117336" y="2724912"/>
            <a:ext cx="2788920" cy="1353312"/>
          </a:xfrm>
          <a:prstGeom prst="rect">
            <a:avLst/>
          </a:prstGeom>
          <a:solidFill>
            <a:srgbClr val="16213E"/>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6117336" y="2724912"/>
            <a:ext cx="2788920" cy="27432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6190488" y="2724912"/>
            <a:ext cx="264261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GB" sz="900" u="none" cap="none" strike="noStrike">
                <a:solidFill>
                  <a:srgbClr val="FFFFFF"/>
                </a:solidFill>
                <a:latin typeface="Calibri"/>
                <a:ea typeface="Calibri"/>
                <a:cs typeface="Calibri"/>
                <a:sym typeface="Calibri"/>
              </a:rPr>
              <a:t>Fork C — Evaluation</a:t>
            </a:r>
            <a:endParaRPr b="0" i="0" sz="900" u="none" cap="none" strike="noStrike">
              <a:solidFill>
                <a:schemeClr val="dk1"/>
              </a:solidFill>
              <a:latin typeface="Calibri"/>
              <a:ea typeface="Calibri"/>
              <a:cs typeface="Calibri"/>
              <a:sym typeface="Calibri"/>
            </a:endParaRPr>
          </a:p>
        </p:txBody>
      </p:sp>
      <p:sp>
        <p:nvSpPr>
          <p:cNvPr id="140" name="Google Shape;140;p8"/>
          <p:cNvSpPr/>
          <p:nvPr/>
        </p:nvSpPr>
        <p:spPr>
          <a:xfrm>
            <a:off x="6208776" y="3044952"/>
            <a:ext cx="26060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5E7EB"/>
              </a:buClr>
              <a:buSzPts val="900"/>
              <a:buFont typeface="Calibri"/>
              <a:buNone/>
            </a:pPr>
            <a:r>
              <a:rPr b="0" i="0" lang="en-GB" sz="900" u="none" cap="none" strike="noStrike">
                <a:solidFill>
                  <a:srgbClr val="E5E7EB"/>
                </a:solidFill>
                <a:latin typeface="Calibri"/>
                <a:ea typeface="Calibri"/>
                <a:cs typeface="Calibri"/>
                <a:sym typeface="Calibri"/>
              </a:rPr>
              <a:t>TESSERACT runs every 10 steady passes and after every retrain — strict chronological holdout, before/after delta logged</a:t>
            </a:r>
            <a:endParaRPr b="0" i="0" sz="900" u="none" cap="none" strike="noStrike">
              <a:solidFill>
                <a:schemeClr val="dk1"/>
              </a:solidFill>
              <a:latin typeface="Calibri"/>
              <a:ea typeface="Calibri"/>
              <a:cs typeface="Calibri"/>
              <a:sym typeface="Calibri"/>
            </a:endParaRPr>
          </a:p>
        </p:txBody>
      </p:sp>
      <p:sp>
        <p:nvSpPr>
          <p:cNvPr id="141" name="Google Shape;141;p8"/>
          <p:cNvSpPr/>
          <p:nvPr/>
        </p:nvSpPr>
        <p:spPr>
          <a:xfrm>
            <a:off x="228600" y="4206240"/>
            <a:ext cx="8686800" cy="713232"/>
          </a:xfrm>
          <a:prstGeom prst="rect">
            <a:avLst/>
          </a:prstGeom>
          <a:solidFill>
            <a:srgbClr val="16213E"/>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411480" y="4251960"/>
            <a:ext cx="83210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E7EB"/>
              </a:buClr>
              <a:buSzPts val="1050"/>
              <a:buFont typeface="Calibri"/>
              <a:buNone/>
            </a:pPr>
            <a:r>
              <a:rPr b="0" i="1" lang="en-GB" sz="1050" u="none" cap="none" strike="noStrike">
                <a:solidFill>
                  <a:srgbClr val="E5E7EB"/>
                </a:solidFill>
                <a:latin typeface="Calibri"/>
                <a:ea typeface="Calibri"/>
                <a:cs typeface="Calibri"/>
                <a:sym typeface="Calibri"/>
              </a:rPr>
              <a:t>LLM (Ollama) is a semantic sidecar only — never the classifier. All hard validation gates run regardless. Setting OLLAMA_ENABLED=False keeps the pipeline fully operational.</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47" name="Shape 147"/>
        <p:cNvGrpSpPr/>
        <p:nvPr/>
      </p:nvGrpSpPr>
      <p:grpSpPr>
        <a:xfrm>
          <a:off x="0" y="0"/>
          <a:ext cx="0" cy="0"/>
          <a:chOff x="0" y="0"/>
          <a:chExt cx="0" cy="0"/>
        </a:xfrm>
      </p:grpSpPr>
      <p:sp>
        <p:nvSpPr>
          <p:cNvPr id="148" name="Google Shape;148;p9"/>
          <p:cNvSpPr/>
          <p:nvPr/>
        </p:nvSpPr>
        <p:spPr>
          <a:xfrm>
            <a:off x="0" y="0"/>
            <a:ext cx="9144000" cy="64008"/>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411480" y="128016"/>
            <a:ext cx="83211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300"/>
              <a:buFont typeface="Calibri"/>
              <a:buNone/>
            </a:pPr>
            <a:r>
              <a:rPr b="1" i="0" lang="en-GB" sz="2300" u="none" cap="none" strike="noStrike">
                <a:solidFill>
                  <a:srgbClr val="1A1A2E"/>
                </a:solidFill>
                <a:latin typeface="Calibri"/>
                <a:ea typeface="Calibri"/>
                <a:cs typeface="Calibri"/>
                <a:sym typeface="Calibri"/>
              </a:rPr>
              <a:t>LangGraph Pipeline </a:t>
            </a:r>
            <a:r>
              <a:rPr b="1" lang="en-GB" sz="2300">
                <a:solidFill>
                  <a:srgbClr val="1A1A2E"/>
                </a:solidFill>
                <a:latin typeface="Calibri"/>
                <a:ea typeface="Calibri"/>
                <a:cs typeface="Calibri"/>
                <a:sym typeface="Calibri"/>
              </a:rPr>
              <a:t>-</a:t>
            </a:r>
            <a:r>
              <a:rPr b="1" i="0" lang="en-GB" sz="2300" u="none" cap="none" strike="noStrike">
                <a:solidFill>
                  <a:srgbClr val="1A1A2E"/>
                </a:solidFill>
                <a:latin typeface="Calibri"/>
                <a:ea typeface="Calibri"/>
                <a:cs typeface="Calibri"/>
                <a:sym typeface="Calibri"/>
              </a:rPr>
              <a:t> Nodes &amp; State Management</a:t>
            </a:r>
            <a:endParaRPr b="0" i="0" sz="2300" u="none" cap="none" strike="noStrike">
              <a:solidFill>
                <a:schemeClr val="dk1"/>
              </a:solidFill>
              <a:latin typeface="Calibri"/>
              <a:ea typeface="Calibri"/>
              <a:cs typeface="Calibri"/>
              <a:sym typeface="Calibri"/>
            </a:endParaRPr>
          </a:p>
        </p:txBody>
      </p:sp>
      <p:pic>
        <p:nvPicPr>
          <p:cNvPr id="150" name="Google Shape;150;p9" title="Untitled diagram-2026-05-26-175646.png"/>
          <p:cNvPicPr preferRelativeResize="0"/>
          <p:nvPr/>
        </p:nvPicPr>
        <p:blipFill>
          <a:blip r:embed="rId3">
            <a:alphaModFix/>
          </a:blip>
          <a:stretch>
            <a:fillRect/>
          </a:stretch>
        </p:blipFill>
        <p:spPr>
          <a:xfrm>
            <a:off x="1640075" y="862341"/>
            <a:ext cx="5863849" cy="41802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55" name="Shape 155"/>
        <p:cNvGrpSpPr/>
        <p:nvPr/>
      </p:nvGrpSpPr>
      <p:grpSpPr>
        <a:xfrm>
          <a:off x="0" y="0"/>
          <a:ext cx="0" cy="0"/>
          <a:chOff x="0" y="0"/>
          <a:chExt cx="0" cy="0"/>
        </a:xfrm>
      </p:grpSpPr>
      <p:sp>
        <p:nvSpPr>
          <p:cNvPr id="156" name="Google Shape;156;p10"/>
          <p:cNvSpPr/>
          <p:nvPr/>
        </p:nvSpPr>
        <p:spPr>
          <a:xfrm>
            <a:off x="0" y="0"/>
            <a:ext cx="9144000" cy="64008"/>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
          <p:cNvSpPr/>
          <p:nvPr/>
        </p:nvSpPr>
        <p:spPr>
          <a:xfrm>
            <a:off x="411480" y="128016"/>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300"/>
              <a:buFont typeface="Calibri"/>
              <a:buNone/>
            </a:pPr>
            <a:r>
              <a:rPr b="1" lang="en-GB" sz="2300">
                <a:solidFill>
                  <a:srgbClr val="1A1A2E"/>
                </a:solidFill>
                <a:latin typeface="Calibri"/>
                <a:ea typeface="Calibri"/>
                <a:cs typeface="Calibri"/>
                <a:sym typeface="Calibri"/>
              </a:rPr>
              <a:t>Data</a:t>
            </a:r>
            <a:endParaRPr b="0" i="0" sz="2300" u="none" cap="none" strike="noStrike">
              <a:solidFill>
                <a:schemeClr val="dk1"/>
              </a:solidFill>
              <a:latin typeface="Calibri"/>
              <a:ea typeface="Calibri"/>
              <a:cs typeface="Calibri"/>
              <a:sym typeface="Calibri"/>
            </a:endParaRPr>
          </a:p>
        </p:txBody>
      </p:sp>
      <p:sp>
        <p:nvSpPr>
          <p:cNvPr id="158" name="Google Shape;158;p10"/>
          <p:cNvSpPr/>
          <p:nvPr/>
        </p:nvSpPr>
        <p:spPr>
          <a:xfrm>
            <a:off x="274320" y="786384"/>
            <a:ext cx="3931920" cy="329184"/>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
          <p:cNvSpPr/>
          <p:nvPr/>
        </p:nvSpPr>
        <p:spPr>
          <a:xfrm>
            <a:off x="274320" y="786384"/>
            <a:ext cx="3931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GB" sz="1050" u="none" cap="none" strike="noStrike">
                <a:solidFill>
                  <a:srgbClr val="FFFFFF"/>
                </a:solidFill>
                <a:latin typeface="Calibri"/>
                <a:ea typeface="Calibri"/>
                <a:cs typeface="Calibri"/>
                <a:sym typeface="Calibri"/>
              </a:rPr>
              <a:t>MALWARE SOURCES</a:t>
            </a:r>
            <a:endParaRPr b="0" i="0" sz="1050" u="none" cap="none" strike="noStrike">
              <a:solidFill>
                <a:schemeClr val="dk1"/>
              </a:solidFill>
              <a:latin typeface="Calibri"/>
              <a:ea typeface="Calibri"/>
              <a:cs typeface="Calibri"/>
              <a:sym typeface="Calibri"/>
            </a:endParaRPr>
          </a:p>
        </p:txBody>
      </p:sp>
      <p:sp>
        <p:nvSpPr>
          <p:cNvPr id="160" name="Google Shape;160;p10"/>
          <p:cNvSpPr/>
          <p:nvPr/>
        </p:nvSpPr>
        <p:spPr>
          <a:xfrm>
            <a:off x="274320" y="1188720"/>
            <a:ext cx="3931920" cy="548640"/>
          </a:xfrm>
          <a:prstGeom prst="rect">
            <a:avLst/>
          </a:prstGeom>
          <a:solidFill>
            <a:srgbClr val="FFF5F5"/>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
          <p:cNvSpPr/>
          <p:nvPr/>
        </p:nvSpPr>
        <p:spPr>
          <a:xfrm>
            <a:off x="274320" y="1188720"/>
            <a:ext cx="100584" cy="54864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0"/>
          <p:cNvSpPr/>
          <p:nvPr/>
        </p:nvSpPr>
        <p:spPr>
          <a:xfrm>
            <a:off x="457200" y="1197864"/>
            <a:ext cx="3611880" cy="23774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94560"/>
              </a:buClr>
              <a:buSzPts val="1050"/>
              <a:buFont typeface="Calibri"/>
              <a:buNone/>
            </a:pPr>
            <a:r>
              <a:rPr b="1" i="0" lang="en-GB" sz="1050" u="none" cap="none" strike="noStrike">
                <a:solidFill>
                  <a:srgbClr val="E94560"/>
                </a:solidFill>
                <a:latin typeface="Calibri"/>
                <a:ea typeface="Calibri"/>
                <a:cs typeface="Calibri"/>
                <a:sym typeface="Calibri"/>
              </a:rPr>
              <a:t>MalwareBazaar</a:t>
            </a:r>
            <a:endParaRPr b="0" i="0" sz="1050" u="none" cap="none" strike="noStrike">
              <a:solidFill>
                <a:schemeClr val="dk1"/>
              </a:solidFill>
              <a:latin typeface="Calibri"/>
              <a:ea typeface="Calibri"/>
              <a:cs typeface="Calibri"/>
              <a:sym typeface="Calibri"/>
            </a:endParaRPr>
          </a:p>
        </p:txBody>
      </p:sp>
      <p:sp>
        <p:nvSpPr>
          <p:cNvPr id="163" name="Google Shape;163;p10"/>
          <p:cNvSpPr/>
          <p:nvPr/>
        </p:nvSpPr>
        <p:spPr>
          <a:xfrm>
            <a:off x="457200" y="1444752"/>
            <a:ext cx="361188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GB" sz="900" u="none" cap="none" strike="noStrike">
                <a:solidFill>
                  <a:srgbClr val="6B7280"/>
                </a:solidFill>
                <a:latin typeface="Calibri"/>
                <a:ea typeface="Calibri"/>
                <a:cs typeface="Calibri"/>
                <a:sym typeface="Calibri"/>
              </a:rPr>
              <a:t>Primary · metadata-rich · SHA256 verified · circuit-breaker · rate-limited</a:t>
            </a:r>
            <a:endParaRPr b="0" i="0" sz="900" u="none" cap="none" strike="noStrike">
              <a:solidFill>
                <a:schemeClr val="dk1"/>
              </a:solidFill>
              <a:latin typeface="Calibri"/>
              <a:ea typeface="Calibri"/>
              <a:cs typeface="Calibri"/>
              <a:sym typeface="Calibri"/>
            </a:endParaRPr>
          </a:p>
        </p:txBody>
      </p:sp>
      <p:sp>
        <p:nvSpPr>
          <p:cNvPr id="164" name="Google Shape;164;p10"/>
          <p:cNvSpPr/>
          <p:nvPr/>
        </p:nvSpPr>
        <p:spPr>
          <a:xfrm>
            <a:off x="274320" y="1828800"/>
            <a:ext cx="3931920" cy="548640"/>
          </a:xfrm>
          <a:prstGeom prst="rect">
            <a:avLst/>
          </a:prstGeom>
          <a:solidFill>
            <a:srgbClr val="FFF5F5"/>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p:nvPr/>
        </p:nvSpPr>
        <p:spPr>
          <a:xfrm>
            <a:off x="274320" y="1828800"/>
            <a:ext cx="100584" cy="54864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p:nvPr/>
        </p:nvSpPr>
        <p:spPr>
          <a:xfrm>
            <a:off x="457200" y="1837944"/>
            <a:ext cx="3611880" cy="23774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94560"/>
              </a:buClr>
              <a:buSzPts val="1050"/>
              <a:buFont typeface="Calibri"/>
              <a:buNone/>
            </a:pPr>
            <a:r>
              <a:rPr b="1" i="0" lang="en-GB" sz="1050" u="none" cap="none" strike="noStrike">
                <a:solidFill>
                  <a:srgbClr val="E94560"/>
                </a:solidFill>
                <a:latin typeface="Calibri"/>
                <a:ea typeface="Calibri"/>
                <a:cs typeface="Calibri"/>
                <a:sym typeface="Calibri"/>
              </a:rPr>
              <a:t>MalShare</a:t>
            </a:r>
            <a:endParaRPr b="0" i="0" sz="1050" u="none" cap="none" strike="noStrike">
              <a:solidFill>
                <a:schemeClr val="dk1"/>
              </a:solidFill>
              <a:latin typeface="Calibri"/>
              <a:ea typeface="Calibri"/>
              <a:cs typeface="Calibri"/>
              <a:sym typeface="Calibri"/>
            </a:endParaRPr>
          </a:p>
        </p:txBody>
      </p:sp>
      <p:sp>
        <p:nvSpPr>
          <p:cNvPr id="167" name="Google Shape;167;p10"/>
          <p:cNvSpPr/>
          <p:nvPr/>
        </p:nvSpPr>
        <p:spPr>
          <a:xfrm>
            <a:off x="457200" y="2084832"/>
            <a:ext cx="361188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GB" sz="900" u="none" cap="none" strike="noStrike">
                <a:solidFill>
                  <a:srgbClr val="6B7280"/>
                </a:solidFill>
                <a:latin typeface="Calibri"/>
                <a:ea typeface="Calibri"/>
                <a:cs typeface="Calibri"/>
                <a:sym typeface="Calibri"/>
              </a:rPr>
              <a:t>Secondary · large repo · API key · MB_FALLBACK_MALSHARE flag</a:t>
            </a:r>
            <a:endParaRPr b="0" i="0" sz="900" u="none" cap="none" strike="noStrike">
              <a:solidFill>
                <a:schemeClr val="dk1"/>
              </a:solidFill>
              <a:latin typeface="Calibri"/>
              <a:ea typeface="Calibri"/>
              <a:cs typeface="Calibri"/>
              <a:sym typeface="Calibri"/>
            </a:endParaRPr>
          </a:p>
        </p:txBody>
      </p:sp>
      <p:sp>
        <p:nvSpPr>
          <p:cNvPr id="168" name="Google Shape;168;p10"/>
          <p:cNvSpPr/>
          <p:nvPr/>
        </p:nvSpPr>
        <p:spPr>
          <a:xfrm>
            <a:off x="274320" y="2468880"/>
            <a:ext cx="3931920" cy="548640"/>
          </a:xfrm>
          <a:prstGeom prst="rect">
            <a:avLst/>
          </a:prstGeom>
          <a:solidFill>
            <a:srgbClr val="FFF5F5"/>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p:nvPr/>
        </p:nvSpPr>
        <p:spPr>
          <a:xfrm>
            <a:off x="274320" y="2468880"/>
            <a:ext cx="100584" cy="54864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p:nvPr/>
        </p:nvSpPr>
        <p:spPr>
          <a:xfrm>
            <a:off x="457200" y="2478024"/>
            <a:ext cx="3611880" cy="23774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94560"/>
              </a:buClr>
              <a:buSzPts val="1050"/>
              <a:buFont typeface="Calibri"/>
              <a:buNone/>
            </a:pPr>
            <a:r>
              <a:rPr b="1" i="0" lang="en-GB" sz="1050" u="none" cap="none" strike="noStrike">
                <a:solidFill>
                  <a:srgbClr val="E94560"/>
                </a:solidFill>
                <a:latin typeface="Calibri"/>
                <a:ea typeface="Calibri"/>
                <a:cs typeface="Calibri"/>
                <a:sym typeface="Calibri"/>
              </a:rPr>
              <a:t>ThreatFox</a:t>
            </a:r>
            <a:endParaRPr b="0" i="0" sz="1050" u="none" cap="none" strike="noStrike">
              <a:solidFill>
                <a:schemeClr val="dk1"/>
              </a:solidFill>
              <a:latin typeface="Calibri"/>
              <a:ea typeface="Calibri"/>
              <a:cs typeface="Calibri"/>
              <a:sym typeface="Calibri"/>
            </a:endParaRPr>
          </a:p>
        </p:txBody>
      </p:sp>
      <p:sp>
        <p:nvSpPr>
          <p:cNvPr id="171" name="Google Shape;171;p10"/>
          <p:cNvSpPr/>
          <p:nvPr/>
        </p:nvSpPr>
        <p:spPr>
          <a:xfrm>
            <a:off x="457200" y="2724912"/>
            <a:ext cx="361188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GB" sz="900" u="none" cap="none" strike="noStrike">
                <a:solidFill>
                  <a:srgbClr val="6B7280"/>
                </a:solidFill>
                <a:latin typeface="Calibri"/>
                <a:ea typeface="Calibri"/>
                <a:cs typeface="Calibri"/>
                <a:sym typeface="Calibri"/>
              </a:rPr>
              <a:t>IOC-tagged PE hashes · abuse.ch · tag queries: exe, dll, peexe, pedll</a:t>
            </a:r>
            <a:endParaRPr b="0" i="0" sz="900" u="none" cap="none" strike="noStrike">
              <a:solidFill>
                <a:schemeClr val="dk1"/>
              </a:solidFill>
              <a:latin typeface="Calibri"/>
              <a:ea typeface="Calibri"/>
              <a:cs typeface="Calibri"/>
              <a:sym typeface="Calibri"/>
            </a:endParaRPr>
          </a:p>
        </p:txBody>
      </p:sp>
      <p:sp>
        <p:nvSpPr>
          <p:cNvPr id="172" name="Google Shape;172;p10"/>
          <p:cNvSpPr/>
          <p:nvPr/>
        </p:nvSpPr>
        <p:spPr>
          <a:xfrm>
            <a:off x="274320" y="3108960"/>
            <a:ext cx="3931920" cy="548640"/>
          </a:xfrm>
          <a:prstGeom prst="rect">
            <a:avLst/>
          </a:prstGeom>
          <a:solidFill>
            <a:srgbClr val="FFF5F5"/>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p:nvPr/>
        </p:nvSpPr>
        <p:spPr>
          <a:xfrm>
            <a:off x="274320" y="3108960"/>
            <a:ext cx="100584" cy="54864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
          <p:cNvSpPr/>
          <p:nvPr/>
        </p:nvSpPr>
        <p:spPr>
          <a:xfrm>
            <a:off x="457200" y="3118104"/>
            <a:ext cx="3611880" cy="23774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94560"/>
              </a:buClr>
              <a:buSzPts val="1050"/>
              <a:buFont typeface="Calibri"/>
              <a:buNone/>
            </a:pPr>
            <a:r>
              <a:rPr b="1" i="0" lang="en-GB" sz="1050" u="none" cap="none" strike="noStrike">
                <a:solidFill>
                  <a:srgbClr val="E94560"/>
                </a:solidFill>
                <a:latin typeface="Calibri"/>
                <a:ea typeface="Calibri"/>
                <a:cs typeface="Calibri"/>
                <a:sym typeface="Calibri"/>
              </a:rPr>
              <a:t>OTX Pulse CTI</a:t>
            </a:r>
            <a:endParaRPr b="0" i="0" sz="1050" u="none" cap="none" strike="noStrike">
              <a:solidFill>
                <a:schemeClr val="dk1"/>
              </a:solidFill>
              <a:latin typeface="Calibri"/>
              <a:ea typeface="Calibri"/>
              <a:cs typeface="Calibri"/>
              <a:sym typeface="Calibri"/>
            </a:endParaRPr>
          </a:p>
        </p:txBody>
      </p:sp>
      <p:sp>
        <p:nvSpPr>
          <p:cNvPr id="175" name="Google Shape;175;p10"/>
          <p:cNvSpPr/>
          <p:nvPr/>
        </p:nvSpPr>
        <p:spPr>
          <a:xfrm>
            <a:off x="457200" y="3364992"/>
            <a:ext cx="361188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GB" sz="900" u="none" cap="none" strike="noStrike">
                <a:solidFill>
                  <a:srgbClr val="6B7280"/>
                </a:solidFill>
                <a:latin typeface="Calibri"/>
                <a:ea typeface="Calibri"/>
                <a:cs typeface="Calibri"/>
                <a:sym typeface="Calibri"/>
              </a:rPr>
              <a:t>AlienVault live pulses · Ollama semantic filter · confidence ≥ 0.6</a:t>
            </a:r>
            <a:endParaRPr b="0" i="0" sz="900" u="none" cap="none" strike="noStrike">
              <a:solidFill>
                <a:schemeClr val="dk1"/>
              </a:solidFill>
              <a:latin typeface="Calibri"/>
              <a:ea typeface="Calibri"/>
              <a:cs typeface="Calibri"/>
              <a:sym typeface="Calibri"/>
            </a:endParaRPr>
          </a:p>
        </p:txBody>
      </p:sp>
      <p:sp>
        <p:nvSpPr>
          <p:cNvPr id="176" name="Google Shape;176;p10"/>
          <p:cNvSpPr/>
          <p:nvPr/>
        </p:nvSpPr>
        <p:spPr>
          <a:xfrm>
            <a:off x="274320" y="3749040"/>
            <a:ext cx="3931920" cy="548640"/>
          </a:xfrm>
          <a:prstGeom prst="rect">
            <a:avLst/>
          </a:prstGeom>
          <a:solidFill>
            <a:srgbClr val="FFF5F5"/>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p:nvPr/>
        </p:nvSpPr>
        <p:spPr>
          <a:xfrm>
            <a:off x="274320" y="3749040"/>
            <a:ext cx="100584" cy="54864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457200" y="3758184"/>
            <a:ext cx="3611880" cy="23774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94560"/>
              </a:buClr>
              <a:buSzPts val="1050"/>
              <a:buFont typeface="Calibri"/>
              <a:buNone/>
            </a:pPr>
            <a:r>
              <a:rPr b="1" i="0" lang="en-GB" sz="1050" u="none" cap="none" strike="noStrike">
                <a:solidFill>
                  <a:srgbClr val="E94560"/>
                </a:solidFill>
                <a:latin typeface="Calibri"/>
                <a:ea typeface="Calibri"/>
                <a:cs typeface="Calibri"/>
                <a:sym typeface="Calibri"/>
              </a:rPr>
              <a:t>Twitter / DFIR</a:t>
            </a:r>
            <a:endParaRPr b="0" i="0" sz="1050" u="none" cap="none" strike="noStrike">
              <a:solidFill>
                <a:schemeClr val="dk1"/>
              </a:solidFill>
              <a:latin typeface="Calibri"/>
              <a:ea typeface="Calibri"/>
              <a:cs typeface="Calibri"/>
              <a:sym typeface="Calibri"/>
            </a:endParaRPr>
          </a:p>
        </p:txBody>
      </p:sp>
      <p:sp>
        <p:nvSpPr>
          <p:cNvPr id="179" name="Google Shape;179;p10"/>
          <p:cNvSpPr/>
          <p:nvPr/>
        </p:nvSpPr>
        <p:spPr>
          <a:xfrm>
            <a:off x="457200" y="4005072"/>
            <a:ext cx="361188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GB" sz="900" u="none" cap="none" strike="noStrike">
                <a:solidFill>
                  <a:srgbClr val="6B7280"/>
                </a:solidFill>
                <a:latin typeface="Calibri"/>
                <a:ea typeface="Calibri"/>
                <a:cs typeface="Calibri"/>
                <a:sym typeface="Calibri"/>
              </a:rPr>
              <a:t>Curated CTI feeds: DFIR Report, Talos, CISA · SHA256 scraping</a:t>
            </a:r>
            <a:endParaRPr b="0" i="0" sz="900" u="none" cap="none" strike="noStrike">
              <a:solidFill>
                <a:schemeClr val="dk1"/>
              </a:solidFill>
              <a:latin typeface="Calibri"/>
              <a:ea typeface="Calibri"/>
              <a:cs typeface="Calibri"/>
              <a:sym typeface="Calibri"/>
            </a:endParaRPr>
          </a:p>
        </p:txBody>
      </p:sp>
      <p:sp>
        <p:nvSpPr>
          <p:cNvPr id="180" name="Google Shape;180;p10"/>
          <p:cNvSpPr/>
          <p:nvPr/>
        </p:nvSpPr>
        <p:spPr>
          <a:xfrm>
            <a:off x="4480560" y="786384"/>
            <a:ext cx="4389120" cy="329184"/>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0"/>
          <p:cNvSpPr/>
          <p:nvPr/>
        </p:nvSpPr>
        <p:spPr>
          <a:xfrm>
            <a:off x="4480560" y="786384"/>
            <a:ext cx="43891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GB" sz="1050" u="none" cap="none" strike="noStrike">
                <a:solidFill>
                  <a:srgbClr val="FFFFFF"/>
                </a:solidFill>
                <a:latin typeface="Calibri"/>
                <a:ea typeface="Calibri"/>
                <a:cs typeface="Calibri"/>
                <a:sym typeface="Calibri"/>
              </a:rPr>
              <a:t>BENIGN SOURCES</a:t>
            </a:r>
            <a:endParaRPr b="0" i="0" sz="1050" u="none" cap="none" strike="noStrike">
              <a:solidFill>
                <a:schemeClr val="dk1"/>
              </a:solidFill>
              <a:latin typeface="Calibri"/>
              <a:ea typeface="Calibri"/>
              <a:cs typeface="Calibri"/>
              <a:sym typeface="Calibri"/>
            </a:endParaRPr>
          </a:p>
        </p:txBody>
      </p:sp>
      <p:sp>
        <p:nvSpPr>
          <p:cNvPr id="182" name="Google Shape;182;p10"/>
          <p:cNvSpPr/>
          <p:nvPr/>
        </p:nvSpPr>
        <p:spPr>
          <a:xfrm>
            <a:off x="4480560" y="1188720"/>
            <a:ext cx="4389120" cy="548640"/>
          </a:xfrm>
          <a:prstGeom prst="rect">
            <a:avLst/>
          </a:prstGeom>
          <a:solidFill>
            <a:srgbClr val="F0F7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4480560" y="1188720"/>
            <a:ext cx="100584" cy="54864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4663440" y="1197864"/>
            <a:ext cx="4069080" cy="23774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F3460"/>
              </a:buClr>
              <a:buSzPts val="1050"/>
              <a:buFont typeface="Calibri"/>
              <a:buNone/>
            </a:pPr>
            <a:r>
              <a:rPr b="1" i="0" lang="en-GB" sz="1050" u="none" cap="none" strike="noStrike">
                <a:solidFill>
                  <a:srgbClr val="0F3460"/>
                </a:solidFill>
                <a:latin typeface="Calibri"/>
                <a:ea typeface="Calibri"/>
                <a:cs typeface="Calibri"/>
                <a:sym typeface="Calibri"/>
              </a:rPr>
              <a:t>Sysinternals</a:t>
            </a:r>
            <a:endParaRPr b="0" i="0" sz="1050" u="none" cap="none" strike="noStrike">
              <a:solidFill>
                <a:schemeClr val="dk1"/>
              </a:solidFill>
              <a:latin typeface="Calibri"/>
              <a:ea typeface="Calibri"/>
              <a:cs typeface="Calibri"/>
              <a:sym typeface="Calibri"/>
            </a:endParaRPr>
          </a:p>
        </p:txBody>
      </p:sp>
      <p:sp>
        <p:nvSpPr>
          <p:cNvPr id="185" name="Google Shape;185;p10"/>
          <p:cNvSpPr/>
          <p:nvPr/>
        </p:nvSpPr>
        <p:spPr>
          <a:xfrm>
            <a:off x="4663440" y="1444752"/>
            <a:ext cx="406908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GB" sz="900" u="none" cap="none" strike="noStrike">
                <a:solidFill>
                  <a:srgbClr val="6B7280"/>
                </a:solidFill>
                <a:latin typeface="Calibri"/>
                <a:ea typeface="Calibri"/>
                <a:cs typeface="Calibri"/>
                <a:sym typeface="Calibri"/>
              </a:rPr>
              <a:t>live.sysinternals.com + /tools — trusted Microsoft tool set</a:t>
            </a:r>
            <a:endParaRPr b="0" i="0" sz="900" u="none" cap="none" strike="noStrike">
              <a:solidFill>
                <a:schemeClr val="dk1"/>
              </a:solidFill>
              <a:latin typeface="Calibri"/>
              <a:ea typeface="Calibri"/>
              <a:cs typeface="Calibri"/>
              <a:sym typeface="Calibri"/>
            </a:endParaRPr>
          </a:p>
        </p:txBody>
      </p:sp>
      <p:sp>
        <p:nvSpPr>
          <p:cNvPr id="186" name="Google Shape;186;p10"/>
          <p:cNvSpPr/>
          <p:nvPr/>
        </p:nvSpPr>
        <p:spPr>
          <a:xfrm>
            <a:off x="4480560" y="1828800"/>
            <a:ext cx="4389120" cy="548640"/>
          </a:xfrm>
          <a:prstGeom prst="rect">
            <a:avLst/>
          </a:prstGeom>
          <a:solidFill>
            <a:srgbClr val="F0F7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4480560" y="1828800"/>
            <a:ext cx="100584" cy="54864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4663440" y="1837944"/>
            <a:ext cx="4069080" cy="23774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F3460"/>
              </a:buClr>
              <a:buSzPts val="1050"/>
              <a:buFont typeface="Calibri"/>
              <a:buNone/>
            </a:pPr>
            <a:r>
              <a:rPr b="1" i="0" lang="en-GB" sz="1050" u="none" cap="none" strike="noStrike">
                <a:solidFill>
                  <a:srgbClr val="0F3460"/>
                </a:solidFill>
                <a:latin typeface="Calibri"/>
                <a:ea typeface="Calibri"/>
                <a:cs typeface="Calibri"/>
                <a:sym typeface="Calibri"/>
              </a:rPr>
              <a:t>GitHub Releases</a:t>
            </a:r>
            <a:endParaRPr b="0" i="0" sz="1050" u="none" cap="none" strike="noStrike">
              <a:solidFill>
                <a:schemeClr val="dk1"/>
              </a:solidFill>
              <a:latin typeface="Calibri"/>
              <a:ea typeface="Calibri"/>
              <a:cs typeface="Calibri"/>
              <a:sym typeface="Calibri"/>
            </a:endParaRPr>
          </a:p>
        </p:txBody>
      </p:sp>
      <p:sp>
        <p:nvSpPr>
          <p:cNvPr id="189" name="Google Shape;189;p10"/>
          <p:cNvSpPr/>
          <p:nvPr/>
        </p:nvSpPr>
        <p:spPr>
          <a:xfrm>
            <a:off x="4663440" y="2084832"/>
            <a:ext cx="406908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GB" sz="900" u="none" cap="none" strike="noStrike">
                <a:solidFill>
                  <a:srgbClr val="6B7280"/>
                </a:solidFill>
                <a:latin typeface="Calibri"/>
                <a:ea typeface="Calibri"/>
                <a:cs typeface="Calibri"/>
                <a:sym typeface="Calibri"/>
              </a:rPr>
              <a:t>Notepad++, ShareX, git-for-windows, PowerToys release assets</a:t>
            </a:r>
            <a:endParaRPr b="0" i="0" sz="900" u="none" cap="none" strike="noStrike">
              <a:solidFill>
                <a:schemeClr val="dk1"/>
              </a:solidFill>
              <a:latin typeface="Calibri"/>
              <a:ea typeface="Calibri"/>
              <a:cs typeface="Calibri"/>
              <a:sym typeface="Calibri"/>
            </a:endParaRPr>
          </a:p>
        </p:txBody>
      </p:sp>
      <p:sp>
        <p:nvSpPr>
          <p:cNvPr id="190" name="Google Shape;190;p10"/>
          <p:cNvSpPr/>
          <p:nvPr/>
        </p:nvSpPr>
        <p:spPr>
          <a:xfrm>
            <a:off x="4480560" y="2468880"/>
            <a:ext cx="4389120" cy="548640"/>
          </a:xfrm>
          <a:prstGeom prst="rect">
            <a:avLst/>
          </a:prstGeom>
          <a:solidFill>
            <a:srgbClr val="F0F7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4480560" y="2468880"/>
            <a:ext cx="100584" cy="54864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4663440" y="2478024"/>
            <a:ext cx="4069080" cy="23774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F3460"/>
              </a:buClr>
              <a:buSzPts val="1050"/>
              <a:buFont typeface="Calibri"/>
              <a:buNone/>
            </a:pPr>
            <a:r>
              <a:rPr b="1" i="0" lang="en-GB" sz="1050" u="none" cap="none" strike="noStrike">
                <a:solidFill>
                  <a:srgbClr val="0F3460"/>
                </a:solidFill>
                <a:latin typeface="Calibri"/>
                <a:ea typeface="Calibri"/>
                <a:cs typeface="Calibri"/>
                <a:sym typeface="Calibri"/>
              </a:rPr>
              <a:t>Benign-NET</a:t>
            </a:r>
            <a:endParaRPr b="0" i="0" sz="1050" u="none" cap="none" strike="noStrike">
              <a:solidFill>
                <a:schemeClr val="dk1"/>
              </a:solidFill>
              <a:latin typeface="Calibri"/>
              <a:ea typeface="Calibri"/>
              <a:cs typeface="Calibri"/>
              <a:sym typeface="Calibri"/>
            </a:endParaRPr>
          </a:p>
        </p:txBody>
      </p:sp>
      <p:sp>
        <p:nvSpPr>
          <p:cNvPr id="193" name="Google Shape;193;p10"/>
          <p:cNvSpPr/>
          <p:nvPr/>
        </p:nvSpPr>
        <p:spPr>
          <a:xfrm>
            <a:off x="4663440" y="2724912"/>
            <a:ext cx="406908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GB" sz="900" u="none" cap="none" strike="noStrike">
                <a:solidFill>
                  <a:srgbClr val="6B7280"/>
                </a:solidFill>
                <a:latin typeface="Calibri"/>
                <a:ea typeface="Calibri"/>
                <a:cs typeface="Calibri"/>
                <a:sym typeface="Calibri"/>
              </a:rPr>
              <a:t>Curated benign PE git repository (bormaa/Benign-NET)</a:t>
            </a:r>
            <a:endParaRPr b="0" i="0" sz="900" u="none" cap="none" strike="noStrike">
              <a:solidFill>
                <a:schemeClr val="dk1"/>
              </a:solidFill>
              <a:latin typeface="Calibri"/>
              <a:ea typeface="Calibri"/>
              <a:cs typeface="Calibri"/>
              <a:sym typeface="Calibri"/>
            </a:endParaRPr>
          </a:p>
        </p:txBody>
      </p:sp>
      <p:sp>
        <p:nvSpPr>
          <p:cNvPr id="194" name="Google Shape;194;p10"/>
          <p:cNvSpPr/>
          <p:nvPr/>
        </p:nvSpPr>
        <p:spPr>
          <a:xfrm>
            <a:off x="274320" y="4892040"/>
            <a:ext cx="8595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850"/>
              <a:buFont typeface="Calibri"/>
              <a:buNone/>
            </a:pPr>
            <a:r>
              <a:rPr b="0" i="1" lang="en-GB" sz="850" u="none" cap="none" strike="noStrike">
                <a:solidFill>
                  <a:srgbClr val="6B7280"/>
                </a:solidFill>
                <a:latin typeface="Calibri"/>
                <a:ea typeface="Calibri"/>
                <a:cs typeface="Calibri"/>
                <a:sym typeface="Calibri"/>
              </a:rPr>
              <a:t>Bootstrap: loops until ≥100 malware + ≥100 benign active  |  Steady: provider cooldown (12 h), success-rate ranking, balanced class control</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txBox="1"/>
          <p:nvPr/>
        </p:nvSpPr>
        <p:spPr>
          <a:xfrm>
            <a:off x="1492050" y="533775"/>
            <a:ext cx="61599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500"/>
              <a:t>We keep the dataset near 50/50 by counting active malware vs benign samples in SQLite and, on each collection run, </a:t>
            </a:r>
            <a:r>
              <a:rPr b="1" lang="en-GB" sz="2500"/>
              <a:t>downloading more of whichever class is behind</a:t>
            </a:r>
            <a:r>
              <a:rPr lang="en-GB" sz="2500"/>
              <a:t> (</a:t>
            </a:r>
            <a:r>
              <a:rPr lang="en-GB" sz="2500">
                <a:highlight>
                  <a:srgbClr val="FFFF00"/>
                </a:highlight>
              </a:rPr>
              <a:t>target ratio 1:1, with a threshold of ±10%</a:t>
            </a:r>
            <a:r>
              <a:rPr lang="en-GB" sz="2500"/>
              <a:t>) from malware feeds (MalwareBazaar, etc.) or benign feeds (Sysinternals, GitHub, Benign-NET) until both sides stay balanced.</a:t>
            </a:r>
            <a:endParaRPr sz="2500"/>
          </a:p>
        </p:txBody>
      </p:sp>
      <p:sp>
        <p:nvSpPr>
          <p:cNvPr id="200" name="Google Shape;200;p11"/>
          <p:cNvSpPr/>
          <p:nvPr/>
        </p:nvSpPr>
        <p:spPr>
          <a:xfrm>
            <a:off x="0" y="0"/>
            <a:ext cx="9144000" cy="666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descr="C:\Users\doric\Desktop\Dor\Studies\Ariel\Third Year\Semester B\נושאים מתקדמים בהגנת סייבר\Matala 2\graphs\data_per_source.png" id="205" name="Google Shape;205;p12"/>
          <p:cNvPicPr preferRelativeResize="0"/>
          <p:nvPr/>
        </p:nvPicPr>
        <p:blipFill rotWithShape="1">
          <a:blip r:embed="rId3">
            <a:alphaModFix/>
          </a:blip>
          <a:srcRect b="0" l="0" r="0" t="0"/>
          <a:stretch/>
        </p:blipFill>
        <p:spPr>
          <a:xfrm>
            <a:off x="1225379" y="715075"/>
            <a:ext cx="6693249" cy="3713349"/>
          </a:xfrm>
          <a:prstGeom prst="rect">
            <a:avLst/>
          </a:prstGeom>
          <a:noFill/>
          <a:ln>
            <a:noFill/>
          </a:ln>
        </p:spPr>
      </p:pic>
      <p:sp>
        <p:nvSpPr>
          <p:cNvPr id="206" name="Google Shape;206;p12"/>
          <p:cNvSpPr/>
          <p:nvPr/>
        </p:nvSpPr>
        <p:spPr>
          <a:xfrm>
            <a:off x="0" y="0"/>
            <a:ext cx="9144000" cy="666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4151"/>
        </a:solidFill>
      </p:bgPr>
    </p:bg>
    <p:spTree>
      <p:nvGrpSpPr>
        <p:cNvPr id="211" name="Shape 211"/>
        <p:cNvGrpSpPr/>
        <p:nvPr/>
      </p:nvGrpSpPr>
      <p:grpSpPr>
        <a:xfrm>
          <a:off x="0" y="0"/>
          <a:ext cx="0" cy="0"/>
          <a:chOff x="0" y="0"/>
          <a:chExt cx="0" cy="0"/>
        </a:xfrm>
      </p:grpSpPr>
      <p:sp>
        <p:nvSpPr>
          <p:cNvPr id="212" name="Google Shape;212;p13"/>
          <p:cNvSpPr/>
          <p:nvPr/>
        </p:nvSpPr>
        <p:spPr>
          <a:xfrm>
            <a:off x="0" y="0"/>
            <a:ext cx="9144000" cy="57300"/>
          </a:xfrm>
          <a:prstGeom prst="rect">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3"/>
          <p:cNvSpPr txBox="1"/>
          <p:nvPr/>
        </p:nvSpPr>
        <p:spPr>
          <a:xfrm>
            <a:off x="381000" y="238125"/>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040">
                <a:solidFill>
                  <a:srgbClr val="FFFFFF"/>
                </a:solidFill>
                <a:latin typeface="Inter"/>
                <a:ea typeface="Inter"/>
                <a:cs typeface="Inter"/>
                <a:sym typeface="Inter"/>
              </a:rPr>
              <a:t>Feature Engineering — 2304-Dimensional EMBER-like Vector 1/2</a:t>
            </a:r>
            <a:endParaRPr b="1" sz="2040">
              <a:solidFill>
                <a:srgbClr val="FFFFFF"/>
              </a:solidFill>
              <a:latin typeface="Inter"/>
              <a:ea typeface="Inter"/>
              <a:cs typeface="Inter"/>
              <a:sym typeface="Inter"/>
            </a:endParaRPr>
          </a:p>
        </p:txBody>
      </p:sp>
      <p:grpSp>
        <p:nvGrpSpPr>
          <p:cNvPr id="214" name="Google Shape;214;p13"/>
          <p:cNvGrpSpPr/>
          <p:nvPr/>
        </p:nvGrpSpPr>
        <p:grpSpPr>
          <a:xfrm>
            <a:off x="381000" y="952500"/>
            <a:ext cx="8382075" cy="381000"/>
            <a:chOff x="381000" y="952500"/>
            <a:chExt cx="8382075" cy="381000"/>
          </a:xfrm>
        </p:grpSpPr>
        <p:sp>
          <p:nvSpPr>
            <p:cNvPr id="215" name="Google Shape;215;p13"/>
            <p:cNvSpPr/>
            <p:nvPr/>
          </p:nvSpPr>
          <p:spPr>
            <a:xfrm>
              <a:off x="381000" y="952500"/>
              <a:ext cx="457200" cy="381000"/>
            </a:xfrm>
            <a:prstGeom prst="roundRect">
              <a:avLst>
                <a:gd fmla="val 10000" name="adj"/>
              </a:avLst>
            </a:prstGeom>
            <a:solidFill>
              <a:srgbClr val="0F34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3"/>
            <p:cNvSpPr txBox="1"/>
            <p:nvPr/>
          </p:nvSpPr>
          <p:spPr>
            <a:xfrm>
              <a:off x="381000" y="952500"/>
              <a:ext cx="4572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128</a:t>
              </a:r>
              <a:endParaRPr b="1" sz="800">
                <a:solidFill>
                  <a:srgbClr val="FFFFFF"/>
                </a:solidFill>
                <a:latin typeface="Inter"/>
                <a:ea typeface="Inter"/>
                <a:cs typeface="Inter"/>
                <a:sym typeface="Inter"/>
              </a:endParaRPr>
            </a:p>
          </p:txBody>
        </p:sp>
        <p:sp>
          <p:nvSpPr>
            <p:cNvPr id="217" name="Google Shape;217;p13"/>
            <p:cNvSpPr/>
            <p:nvPr/>
          </p:nvSpPr>
          <p:spPr>
            <a:xfrm>
              <a:off x="866775" y="952500"/>
              <a:ext cx="914400" cy="381000"/>
            </a:xfrm>
            <a:prstGeom prst="roundRect">
              <a:avLst>
                <a:gd fmla="val 10000" name="adj"/>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3"/>
            <p:cNvSpPr txBox="1"/>
            <p:nvPr/>
          </p:nvSpPr>
          <p:spPr>
            <a:xfrm>
              <a:off x="866775" y="952500"/>
              <a:ext cx="914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256</a:t>
              </a:r>
              <a:endParaRPr b="1" sz="800">
                <a:solidFill>
                  <a:srgbClr val="FFFFFF"/>
                </a:solidFill>
                <a:latin typeface="Inter"/>
                <a:ea typeface="Inter"/>
                <a:cs typeface="Inter"/>
                <a:sym typeface="Inter"/>
              </a:endParaRPr>
            </a:p>
          </p:txBody>
        </p:sp>
        <p:sp>
          <p:nvSpPr>
            <p:cNvPr id="219" name="Google Shape;219;p13"/>
            <p:cNvSpPr/>
            <p:nvPr/>
          </p:nvSpPr>
          <p:spPr>
            <a:xfrm>
              <a:off x="1809750" y="952500"/>
              <a:ext cx="914400" cy="381000"/>
            </a:xfrm>
            <a:prstGeom prst="roundRect">
              <a:avLst>
                <a:gd fmla="val 1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13"/>
            <p:cNvSpPr txBox="1"/>
            <p:nvPr/>
          </p:nvSpPr>
          <p:spPr>
            <a:xfrm>
              <a:off x="1809750" y="952500"/>
              <a:ext cx="914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256</a:t>
              </a:r>
              <a:endParaRPr b="1" sz="800">
                <a:solidFill>
                  <a:srgbClr val="FFFFFF"/>
                </a:solidFill>
                <a:latin typeface="Inter"/>
                <a:ea typeface="Inter"/>
                <a:cs typeface="Inter"/>
                <a:sym typeface="Inter"/>
              </a:endParaRPr>
            </a:p>
          </p:txBody>
        </p:sp>
        <p:sp>
          <p:nvSpPr>
            <p:cNvPr id="221" name="Google Shape;221;p13"/>
            <p:cNvSpPr/>
            <p:nvPr/>
          </p:nvSpPr>
          <p:spPr>
            <a:xfrm>
              <a:off x="2752725" y="952500"/>
              <a:ext cx="342900" cy="381000"/>
            </a:xfrm>
            <a:prstGeom prst="roundRect">
              <a:avLst>
                <a:gd fmla="val 11111" name="adj"/>
              </a:avLst>
            </a:prstGeom>
            <a:solidFill>
              <a:srgbClr val="6B21A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3"/>
            <p:cNvSpPr/>
            <p:nvPr/>
          </p:nvSpPr>
          <p:spPr>
            <a:xfrm>
              <a:off x="3124200" y="952500"/>
              <a:ext cx="3638700" cy="381000"/>
            </a:xfrm>
            <a:prstGeom prst="roundRect">
              <a:avLst>
                <a:gd fmla="val 10000" name="adj"/>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3"/>
            <p:cNvSpPr txBox="1"/>
            <p:nvPr/>
          </p:nvSpPr>
          <p:spPr>
            <a:xfrm>
              <a:off x="3124200" y="952500"/>
              <a:ext cx="3638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FFFFFF"/>
                  </a:solidFill>
                  <a:latin typeface="Inter"/>
                  <a:ea typeface="Inter"/>
                  <a:cs typeface="Inter"/>
                  <a:sym typeface="Inter"/>
                </a:rPr>
                <a:t>1024 (Import Hash)</a:t>
              </a:r>
              <a:endParaRPr b="1" sz="900">
                <a:solidFill>
                  <a:srgbClr val="FFFFFF"/>
                </a:solidFill>
                <a:latin typeface="Inter"/>
                <a:ea typeface="Inter"/>
                <a:cs typeface="Inter"/>
                <a:sym typeface="Inter"/>
              </a:endParaRPr>
            </a:p>
          </p:txBody>
        </p:sp>
        <p:sp>
          <p:nvSpPr>
            <p:cNvPr id="224" name="Google Shape;224;p13"/>
            <p:cNvSpPr/>
            <p:nvPr/>
          </p:nvSpPr>
          <p:spPr>
            <a:xfrm>
              <a:off x="6791325" y="952500"/>
              <a:ext cx="914400" cy="381000"/>
            </a:xfrm>
            <a:prstGeom prst="roundRect">
              <a:avLst>
                <a:gd fmla="val 10000" name="adj"/>
              </a:avLst>
            </a:prstGeom>
            <a:solidFill>
              <a:srgbClr val="DC680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3"/>
            <p:cNvSpPr txBox="1"/>
            <p:nvPr/>
          </p:nvSpPr>
          <p:spPr>
            <a:xfrm>
              <a:off x="6791325" y="952500"/>
              <a:ext cx="914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256</a:t>
              </a:r>
              <a:endParaRPr b="1" sz="800">
                <a:solidFill>
                  <a:srgbClr val="FFFFFF"/>
                </a:solidFill>
                <a:latin typeface="Inter"/>
                <a:ea typeface="Inter"/>
                <a:cs typeface="Inter"/>
                <a:sym typeface="Inter"/>
              </a:endParaRPr>
            </a:p>
          </p:txBody>
        </p:sp>
        <p:sp>
          <p:nvSpPr>
            <p:cNvPr id="226" name="Google Shape;226;p13"/>
            <p:cNvSpPr/>
            <p:nvPr/>
          </p:nvSpPr>
          <p:spPr>
            <a:xfrm>
              <a:off x="7734300" y="952500"/>
              <a:ext cx="457200" cy="381000"/>
            </a:xfrm>
            <a:prstGeom prst="roundRect">
              <a:avLst>
                <a:gd fmla="val 10000" name="adj"/>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3"/>
            <p:cNvSpPr txBox="1"/>
            <p:nvPr/>
          </p:nvSpPr>
          <p:spPr>
            <a:xfrm>
              <a:off x="7734300" y="952500"/>
              <a:ext cx="4572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128</a:t>
              </a:r>
              <a:endParaRPr b="1" sz="800">
                <a:solidFill>
                  <a:srgbClr val="FFFFFF"/>
                </a:solidFill>
                <a:latin typeface="Inter"/>
                <a:ea typeface="Inter"/>
                <a:cs typeface="Inter"/>
                <a:sym typeface="Inter"/>
              </a:endParaRPr>
            </a:p>
          </p:txBody>
        </p:sp>
        <p:sp>
          <p:nvSpPr>
            <p:cNvPr id="228" name="Google Shape;228;p13"/>
            <p:cNvSpPr/>
            <p:nvPr/>
          </p:nvSpPr>
          <p:spPr>
            <a:xfrm>
              <a:off x="8220075" y="952500"/>
              <a:ext cx="543000" cy="381000"/>
            </a:xfrm>
            <a:prstGeom prst="roundRect">
              <a:avLst>
                <a:gd fmla="val 1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3"/>
            <p:cNvSpPr txBox="1"/>
            <p:nvPr/>
          </p:nvSpPr>
          <p:spPr>
            <a:xfrm>
              <a:off x="8220075" y="952500"/>
              <a:ext cx="543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160</a:t>
              </a:r>
              <a:endParaRPr b="1" sz="800">
                <a:solidFill>
                  <a:srgbClr val="FFFFFF"/>
                </a:solidFill>
                <a:latin typeface="Inter"/>
                <a:ea typeface="Inter"/>
                <a:cs typeface="Inter"/>
                <a:sym typeface="Inter"/>
              </a:endParaRPr>
            </a:p>
          </p:txBody>
        </p:sp>
      </p:grpSp>
      <p:sp>
        <p:nvSpPr>
          <p:cNvPr id="230" name="Google Shape;230;p13"/>
          <p:cNvSpPr txBox="1"/>
          <p:nvPr/>
        </p:nvSpPr>
        <p:spPr>
          <a:xfrm>
            <a:off x="381000" y="4667250"/>
            <a:ext cx="838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1000">
                <a:solidFill>
                  <a:srgbClr val="6B7280"/>
                </a:solidFill>
                <a:latin typeface="Inter"/>
                <a:ea typeface="Inter"/>
                <a:cs typeface="Inter"/>
                <a:sym typeface="Inter"/>
              </a:rPr>
              <a:t>Total: 2304 dims · Feature version: ember_static_v1 · XGBoost ranks all 2304 → top 384 fed to LightGBM</a:t>
            </a:r>
            <a:endParaRPr i="1" sz="1000">
              <a:solidFill>
                <a:srgbClr val="6B7280"/>
              </a:solidFill>
              <a:latin typeface="Inter"/>
              <a:ea typeface="Inter"/>
              <a:cs typeface="Inter"/>
              <a:sym typeface="Inter"/>
            </a:endParaRPr>
          </a:p>
        </p:txBody>
      </p:sp>
      <p:sp>
        <p:nvSpPr>
          <p:cNvPr id="231" name="Google Shape;231;p13"/>
          <p:cNvSpPr/>
          <p:nvPr/>
        </p:nvSpPr>
        <p:spPr>
          <a:xfrm>
            <a:off x="381000" y="1500125"/>
            <a:ext cx="4093500" cy="17757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13"/>
          <p:cNvSpPr/>
          <p:nvPr/>
        </p:nvSpPr>
        <p:spPr>
          <a:xfrm>
            <a:off x="381000" y="1500125"/>
            <a:ext cx="77700" cy="1775700"/>
          </a:xfrm>
          <a:prstGeom prst="roundRect">
            <a:avLst>
              <a:gd fmla="val 50000" name="adj"/>
            </a:avLst>
          </a:prstGeom>
          <a:solidFill>
            <a:srgbClr val="0F34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3"/>
          <p:cNvSpPr txBox="1"/>
          <p:nvPr/>
        </p:nvSpPr>
        <p:spPr>
          <a:xfrm>
            <a:off x="653900" y="1595375"/>
            <a:ext cx="3626400" cy="168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0F3460"/>
                </a:solidFill>
                <a:latin typeface="Inter"/>
                <a:ea typeface="Inter"/>
                <a:cs typeface="Inter"/>
                <a:sym typeface="Inter"/>
              </a:rPr>
              <a:t>Scalars (128d)</a:t>
            </a:r>
            <a:endParaRPr b="1" sz="1100">
              <a:solidFill>
                <a:srgbClr val="0F3460"/>
              </a:solidFill>
              <a:latin typeface="Inter"/>
              <a:ea typeface="Inter"/>
              <a:cs typeface="Inter"/>
              <a:sym typeface="Inter"/>
            </a:endParaRPr>
          </a:p>
          <a:p>
            <a:pPr indent="0" lvl="0" marL="0" rtl="0" algn="l">
              <a:spcBef>
                <a:spcPts val="600"/>
              </a:spcBef>
              <a:spcAft>
                <a:spcPts val="0"/>
              </a:spcAft>
              <a:buClr>
                <a:schemeClr val="dk1"/>
              </a:buClr>
              <a:buSzPts val="1100"/>
              <a:buFont typeface="Arial"/>
              <a:buNone/>
            </a:pPr>
            <a:r>
              <a:rPr b="1" lang="en-GB" sz="1000">
                <a:solidFill>
                  <a:schemeClr val="dk1"/>
                </a:solidFill>
                <a:latin typeface="Inter"/>
                <a:ea typeface="Inter"/>
                <a:cs typeface="Inter"/>
                <a:sym typeface="Inter"/>
              </a:rPr>
              <a:t>What we extract:</a:t>
            </a:r>
            <a:r>
              <a:rPr lang="en-GB" sz="1000">
                <a:solidFill>
                  <a:schemeClr val="dk1"/>
                </a:solidFill>
                <a:latin typeface="Inter"/>
                <a:ea typeface="Inter"/>
                <a:cs typeface="Inter"/>
                <a:sym typeface="Inter"/>
              </a:rPr>
              <a:t> PE header fields (DOS/COFF/Optional), section counts/sizes/entropy stats, import/export counts, file size/overlay, string/URL/path/registry counters, Authenticode/parse flags, plus a few disassembly counters if Capstone exists.</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GB" sz="1000">
                <a:solidFill>
                  <a:schemeClr val="dk1"/>
                </a:solidFill>
                <a:latin typeface="Inter"/>
                <a:ea typeface="Inter"/>
                <a:cs typeface="Inter"/>
                <a:sym typeface="Inter"/>
              </a:rPr>
              <a:t>How it helps: </a:t>
            </a:r>
            <a:r>
              <a:rPr lang="en-GB" sz="1000">
                <a:solidFill>
                  <a:schemeClr val="dk1"/>
                </a:solidFill>
                <a:latin typeface="Inter"/>
                <a:ea typeface="Inter"/>
                <a:cs typeface="Inter"/>
                <a:sym typeface="Inter"/>
              </a:rPr>
              <a:t>Captures “file structure + metadata” signals packed/obfuscated layout, suspicious sections, unsigned/overlayed binaries, and common malware behavior hints (e.g., many URLs/paths/registry strings).</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sp>
        <p:nvSpPr>
          <p:cNvPr id="234" name="Google Shape;234;p13"/>
          <p:cNvSpPr/>
          <p:nvPr/>
        </p:nvSpPr>
        <p:spPr>
          <a:xfrm>
            <a:off x="4669633" y="1500125"/>
            <a:ext cx="4093500" cy="1428900"/>
          </a:xfrm>
          <a:prstGeom prst="roundRect">
            <a:avLst>
              <a:gd fmla="val 5333"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3"/>
          <p:cNvSpPr/>
          <p:nvPr/>
        </p:nvSpPr>
        <p:spPr>
          <a:xfrm>
            <a:off x="4669633" y="1500125"/>
            <a:ext cx="77700" cy="1428900"/>
          </a:xfrm>
          <a:prstGeom prst="roundRect">
            <a:avLst>
              <a:gd fmla="val 50000" name="adj"/>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3"/>
          <p:cNvSpPr txBox="1"/>
          <p:nvPr/>
        </p:nvSpPr>
        <p:spPr>
          <a:xfrm>
            <a:off x="4942546" y="1595375"/>
            <a:ext cx="3626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0891B2"/>
                </a:solidFill>
                <a:latin typeface="Inter"/>
                <a:ea typeface="Inter"/>
                <a:cs typeface="Inter"/>
                <a:sym typeface="Inter"/>
              </a:rPr>
              <a:t>Byte Histogram (256d)</a:t>
            </a:r>
            <a:endParaRPr b="1" sz="1100">
              <a:solidFill>
                <a:srgbClr val="0891B2"/>
              </a:solidFill>
              <a:latin typeface="Inter"/>
              <a:ea typeface="Inter"/>
              <a:cs typeface="Inter"/>
              <a:sym typeface="Inter"/>
            </a:endParaRPr>
          </a:p>
          <a:p>
            <a:pPr indent="0" lvl="0" marL="0" rtl="0" algn="l">
              <a:spcBef>
                <a:spcPts val="600"/>
              </a:spcBef>
              <a:spcAft>
                <a:spcPts val="0"/>
              </a:spcAft>
              <a:buClr>
                <a:schemeClr val="dk1"/>
              </a:buClr>
              <a:buSzPts val="1100"/>
              <a:buFont typeface="Arial"/>
              <a:buNone/>
            </a:pPr>
            <a:r>
              <a:rPr b="1" lang="en-GB" sz="1000">
                <a:solidFill>
                  <a:schemeClr val="dk1"/>
                </a:solidFill>
                <a:latin typeface="Inter"/>
                <a:ea typeface="Inter"/>
                <a:cs typeface="Inter"/>
                <a:sym typeface="Inter"/>
              </a:rPr>
              <a:t>What we extract: </a:t>
            </a:r>
            <a:r>
              <a:rPr lang="en-GB" sz="1000">
                <a:solidFill>
                  <a:schemeClr val="dk1"/>
                </a:solidFill>
                <a:latin typeface="Inter"/>
                <a:ea typeface="Inter"/>
                <a:cs typeface="Inter"/>
                <a:sym typeface="Inter"/>
              </a:rPr>
              <a:t>Normalized frequency of each byte value (0–255) across the whole file.</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GB" sz="1000">
                <a:solidFill>
                  <a:schemeClr val="dk1"/>
                </a:solidFill>
                <a:latin typeface="Inter"/>
                <a:ea typeface="Inter"/>
                <a:cs typeface="Inter"/>
                <a:sym typeface="Inter"/>
              </a:rPr>
              <a:t>How it helps: </a:t>
            </a:r>
            <a:r>
              <a:rPr lang="en-GB" sz="1000">
                <a:solidFill>
                  <a:schemeClr val="dk1"/>
                </a:solidFill>
                <a:latin typeface="Inter"/>
                <a:ea typeface="Inter"/>
                <a:cs typeface="Inter"/>
                <a:sym typeface="Inter"/>
              </a:rPr>
              <a:t>Distinguishes normal code/data from compressed/encrypted blobs; many packers and droppers have very different byte profiles than benign software.</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sp>
        <p:nvSpPr>
          <p:cNvPr id="237" name="Google Shape;237;p13"/>
          <p:cNvSpPr/>
          <p:nvPr/>
        </p:nvSpPr>
        <p:spPr>
          <a:xfrm>
            <a:off x="381000" y="3364000"/>
            <a:ext cx="4093500" cy="11367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13"/>
          <p:cNvSpPr/>
          <p:nvPr/>
        </p:nvSpPr>
        <p:spPr>
          <a:xfrm>
            <a:off x="381000" y="3364000"/>
            <a:ext cx="77700" cy="1136700"/>
          </a:xfrm>
          <a:prstGeom prst="roundRect">
            <a:avLst>
              <a:gd fmla="val 50000" name="adj"/>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3"/>
          <p:cNvSpPr txBox="1"/>
          <p:nvPr/>
        </p:nvSpPr>
        <p:spPr>
          <a:xfrm>
            <a:off x="653913" y="3439769"/>
            <a:ext cx="36264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E94560"/>
                </a:solidFill>
                <a:latin typeface="Inter"/>
                <a:ea typeface="Inter"/>
                <a:cs typeface="Inter"/>
                <a:sym typeface="Inter"/>
              </a:rPr>
              <a:t>Import Hash (1024d)</a:t>
            </a:r>
            <a:endParaRPr b="1" sz="1100">
              <a:solidFill>
                <a:srgbClr val="E94560"/>
              </a:solidFill>
              <a:latin typeface="Inter"/>
              <a:ea typeface="Inter"/>
              <a:cs typeface="Inter"/>
              <a:sym typeface="Inter"/>
            </a:endParaRPr>
          </a:p>
          <a:p>
            <a:pPr indent="0" lvl="0" marL="0" rtl="0" algn="l">
              <a:spcBef>
                <a:spcPts val="600"/>
              </a:spcBef>
              <a:spcAft>
                <a:spcPts val="0"/>
              </a:spcAft>
              <a:buClr>
                <a:schemeClr val="dk1"/>
              </a:buClr>
              <a:buSzPts val="1100"/>
              <a:buFont typeface="Arial"/>
              <a:buNone/>
            </a:pPr>
            <a:r>
              <a:rPr b="1" lang="en-GB" sz="1000">
                <a:solidFill>
                  <a:schemeClr val="dk1"/>
                </a:solidFill>
                <a:latin typeface="Inter"/>
                <a:ea typeface="Inter"/>
                <a:cs typeface="Inter"/>
                <a:sym typeface="Inter"/>
              </a:rPr>
              <a:t>What we extract:</a:t>
            </a:r>
            <a:r>
              <a:rPr lang="en-GB" sz="1000">
                <a:solidFill>
                  <a:schemeClr val="dk1"/>
                </a:solidFill>
                <a:latin typeface="Inter"/>
                <a:ea typeface="Inter"/>
                <a:cs typeface="Inter"/>
                <a:sym typeface="Inter"/>
              </a:rPr>
              <a:t> Hashed bag-of-imports from (DLL, API) names into 1024 bins.</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GB" sz="1000">
                <a:solidFill>
                  <a:schemeClr val="dk1"/>
                </a:solidFill>
                <a:latin typeface="Inter"/>
                <a:ea typeface="Inter"/>
                <a:cs typeface="Inter"/>
                <a:sym typeface="Inter"/>
              </a:rPr>
              <a:t>How it helps: </a:t>
            </a:r>
            <a:r>
              <a:rPr lang="en-GB" sz="1000">
                <a:solidFill>
                  <a:schemeClr val="dk1"/>
                </a:solidFill>
                <a:latin typeface="Inter"/>
                <a:ea typeface="Inter"/>
                <a:cs typeface="Inter"/>
                <a:sym typeface="Inter"/>
              </a:rPr>
              <a:t>Represents “what the program can do” (networking, crypto, process injection, persistence APIs); malware families often have distinct import footprints.</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sp>
        <p:nvSpPr>
          <p:cNvPr id="240" name="Google Shape;240;p13"/>
          <p:cNvSpPr/>
          <p:nvPr/>
        </p:nvSpPr>
        <p:spPr>
          <a:xfrm>
            <a:off x="4669633" y="3071750"/>
            <a:ext cx="40935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3"/>
          <p:cNvSpPr/>
          <p:nvPr/>
        </p:nvSpPr>
        <p:spPr>
          <a:xfrm>
            <a:off x="4669633" y="3071750"/>
            <a:ext cx="77700" cy="1428900"/>
          </a:xfrm>
          <a:prstGeom prst="roundRect">
            <a:avLst>
              <a:gd fmla="val 50000" name="adj"/>
            </a:avLst>
          </a:prstGeom>
          <a:solidFill>
            <a:srgbClr val="DC680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3"/>
          <p:cNvSpPr txBox="1"/>
          <p:nvPr/>
        </p:nvSpPr>
        <p:spPr>
          <a:xfrm>
            <a:off x="4942546" y="3167000"/>
            <a:ext cx="3626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DC6803"/>
                </a:solidFill>
                <a:latin typeface="Inter"/>
                <a:ea typeface="Inter"/>
                <a:cs typeface="Inter"/>
                <a:sym typeface="Inter"/>
              </a:rPr>
              <a:t>Export Hash (256d)</a:t>
            </a:r>
            <a:endParaRPr b="1" sz="1100">
              <a:solidFill>
                <a:srgbClr val="DC6803"/>
              </a:solidFill>
              <a:latin typeface="Inter"/>
              <a:ea typeface="Inter"/>
              <a:cs typeface="Inter"/>
              <a:sym typeface="Inter"/>
            </a:endParaRPr>
          </a:p>
          <a:p>
            <a:pPr indent="0" lvl="0" marL="0" rtl="0" algn="l">
              <a:spcBef>
                <a:spcPts val="600"/>
              </a:spcBef>
              <a:spcAft>
                <a:spcPts val="0"/>
              </a:spcAft>
              <a:buClr>
                <a:schemeClr val="dk1"/>
              </a:buClr>
              <a:buSzPts val="1100"/>
              <a:buFont typeface="Arial"/>
              <a:buNone/>
            </a:pPr>
            <a:r>
              <a:rPr b="1" lang="en-GB" sz="1000">
                <a:solidFill>
                  <a:srgbClr val="1E1E1E"/>
                </a:solidFill>
                <a:latin typeface="Inter"/>
                <a:ea typeface="Inter"/>
                <a:cs typeface="Inter"/>
                <a:sym typeface="Inter"/>
              </a:rPr>
              <a:t>What we extract:</a:t>
            </a:r>
            <a:r>
              <a:rPr lang="en-GB" sz="1000">
                <a:solidFill>
                  <a:srgbClr val="1E1E1E"/>
                </a:solidFill>
                <a:latin typeface="Inter"/>
                <a:ea typeface="Inter"/>
                <a:cs typeface="Inter"/>
                <a:sym typeface="Inter"/>
              </a:rPr>
              <a:t> Hashed export symbol names into 256 bins.</a:t>
            </a:r>
            <a:endParaRPr sz="1000">
              <a:solidFill>
                <a:srgbClr val="1E1E1E"/>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GB" sz="1000">
                <a:solidFill>
                  <a:srgbClr val="1E1E1E"/>
                </a:solidFill>
                <a:latin typeface="Inter"/>
                <a:ea typeface="Inter"/>
                <a:cs typeface="Inter"/>
                <a:sym typeface="Inter"/>
              </a:rPr>
              <a:t>How it helps: </a:t>
            </a:r>
            <a:r>
              <a:rPr lang="en-GB" sz="1000">
                <a:solidFill>
                  <a:srgbClr val="1E1E1E"/>
                </a:solidFill>
                <a:latin typeface="Inter"/>
                <a:ea typeface="Inter"/>
                <a:cs typeface="Inter"/>
                <a:sym typeface="Inter"/>
              </a:rPr>
              <a:t>Helps identify DLL-like behavior, loaders, and unusual exported surfaces; can separate typical apps from injected/hijack-style modules.</a:t>
            </a:r>
            <a:endParaRPr sz="1000">
              <a:solidFill>
                <a:srgbClr val="1E1E1E"/>
              </a:solidFill>
              <a:latin typeface="Inter"/>
              <a:ea typeface="Inter"/>
              <a:cs typeface="Inter"/>
              <a:sym typeface="Inter"/>
            </a:endParaRPr>
          </a:p>
          <a:p>
            <a:pPr indent="0" lvl="0" marL="0" rtl="0" algn="l">
              <a:spcBef>
                <a:spcPts val="0"/>
              </a:spcBef>
              <a:spcAft>
                <a:spcPts val="0"/>
              </a:spcAft>
              <a:buNone/>
            </a:pPr>
            <a:r>
              <a:t/>
            </a:r>
            <a:endParaRPr sz="1000">
              <a:solidFill>
                <a:srgbClr val="1E1E1E"/>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4151"/>
        </a:solidFill>
      </p:bgPr>
    </p:bg>
    <p:spTree>
      <p:nvGrpSpPr>
        <p:cNvPr id="247" name="Shape 247"/>
        <p:cNvGrpSpPr/>
        <p:nvPr/>
      </p:nvGrpSpPr>
      <p:grpSpPr>
        <a:xfrm>
          <a:off x="0" y="0"/>
          <a:ext cx="0" cy="0"/>
          <a:chOff x="0" y="0"/>
          <a:chExt cx="0" cy="0"/>
        </a:xfrm>
      </p:grpSpPr>
      <p:sp>
        <p:nvSpPr>
          <p:cNvPr id="248" name="Google Shape;248;p14"/>
          <p:cNvSpPr/>
          <p:nvPr/>
        </p:nvSpPr>
        <p:spPr>
          <a:xfrm>
            <a:off x="0" y="0"/>
            <a:ext cx="9144000" cy="57300"/>
          </a:xfrm>
          <a:prstGeom prst="rect">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4"/>
          <p:cNvSpPr txBox="1"/>
          <p:nvPr/>
        </p:nvSpPr>
        <p:spPr>
          <a:xfrm>
            <a:off x="381000" y="238125"/>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040">
                <a:solidFill>
                  <a:srgbClr val="FFFFFF"/>
                </a:solidFill>
                <a:latin typeface="Inter"/>
                <a:ea typeface="Inter"/>
                <a:cs typeface="Inter"/>
                <a:sym typeface="Inter"/>
              </a:rPr>
              <a:t>Feature Engineering — 2304-Dimensional EMBER-like Vector 2/2</a:t>
            </a:r>
            <a:endParaRPr b="1" sz="2040">
              <a:solidFill>
                <a:srgbClr val="FFFFFF"/>
              </a:solidFill>
              <a:latin typeface="Inter"/>
              <a:ea typeface="Inter"/>
              <a:cs typeface="Inter"/>
              <a:sym typeface="Inter"/>
            </a:endParaRPr>
          </a:p>
        </p:txBody>
      </p:sp>
      <p:grpSp>
        <p:nvGrpSpPr>
          <p:cNvPr id="250" name="Google Shape;250;p14"/>
          <p:cNvGrpSpPr/>
          <p:nvPr/>
        </p:nvGrpSpPr>
        <p:grpSpPr>
          <a:xfrm>
            <a:off x="381000" y="952500"/>
            <a:ext cx="8382075" cy="381000"/>
            <a:chOff x="381000" y="952500"/>
            <a:chExt cx="8382075" cy="381000"/>
          </a:xfrm>
        </p:grpSpPr>
        <p:sp>
          <p:nvSpPr>
            <p:cNvPr id="251" name="Google Shape;251;p14"/>
            <p:cNvSpPr/>
            <p:nvPr/>
          </p:nvSpPr>
          <p:spPr>
            <a:xfrm>
              <a:off x="381000" y="952500"/>
              <a:ext cx="457200" cy="381000"/>
            </a:xfrm>
            <a:prstGeom prst="roundRect">
              <a:avLst>
                <a:gd fmla="val 10000" name="adj"/>
              </a:avLst>
            </a:prstGeom>
            <a:solidFill>
              <a:srgbClr val="0F34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14"/>
            <p:cNvSpPr txBox="1"/>
            <p:nvPr/>
          </p:nvSpPr>
          <p:spPr>
            <a:xfrm>
              <a:off x="381000" y="952500"/>
              <a:ext cx="4572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128</a:t>
              </a:r>
              <a:endParaRPr b="1" sz="800">
                <a:solidFill>
                  <a:srgbClr val="FFFFFF"/>
                </a:solidFill>
                <a:latin typeface="Inter"/>
                <a:ea typeface="Inter"/>
                <a:cs typeface="Inter"/>
                <a:sym typeface="Inter"/>
              </a:endParaRPr>
            </a:p>
          </p:txBody>
        </p:sp>
        <p:sp>
          <p:nvSpPr>
            <p:cNvPr id="253" name="Google Shape;253;p14"/>
            <p:cNvSpPr/>
            <p:nvPr/>
          </p:nvSpPr>
          <p:spPr>
            <a:xfrm>
              <a:off x="866775" y="952500"/>
              <a:ext cx="914400" cy="381000"/>
            </a:xfrm>
            <a:prstGeom prst="roundRect">
              <a:avLst>
                <a:gd fmla="val 10000" name="adj"/>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4"/>
            <p:cNvSpPr txBox="1"/>
            <p:nvPr/>
          </p:nvSpPr>
          <p:spPr>
            <a:xfrm>
              <a:off x="866775" y="952500"/>
              <a:ext cx="914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256</a:t>
              </a:r>
              <a:endParaRPr b="1" sz="800">
                <a:solidFill>
                  <a:srgbClr val="FFFFFF"/>
                </a:solidFill>
                <a:latin typeface="Inter"/>
                <a:ea typeface="Inter"/>
                <a:cs typeface="Inter"/>
                <a:sym typeface="Inter"/>
              </a:endParaRPr>
            </a:p>
          </p:txBody>
        </p:sp>
        <p:sp>
          <p:nvSpPr>
            <p:cNvPr id="255" name="Google Shape;255;p14"/>
            <p:cNvSpPr/>
            <p:nvPr/>
          </p:nvSpPr>
          <p:spPr>
            <a:xfrm>
              <a:off x="1809750" y="952500"/>
              <a:ext cx="914400" cy="381000"/>
            </a:xfrm>
            <a:prstGeom prst="roundRect">
              <a:avLst>
                <a:gd fmla="val 1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14"/>
            <p:cNvSpPr txBox="1"/>
            <p:nvPr/>
          </p:nvSpPr>
          <p:spPr>
            <a:xfrm>
              <a:off x="1809750" y="952500"/>
              <a:ext cx="914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256</a:t>
              </a:r>
              <a:endParaRPr b="1" sz="800">
                <a:solidFill>
                  <a:srgbClr val="FFFFFF"/>
                </a:solidFill>
                <a:latin typeface="Inter"/>
                <a:ea typeface="Inter"/>
                <a:cs typeface="Inter"/>
                <a:sym typeface="Inter"/>
              </a:endParaRPr>
            </a:p>
          </p:txBody>
        </p:sp>
        <p:sp>
          <p:nvSpPr>
            <p:cNvPr id="257" name="Google Shape;257;p14"/>
            <p:cNvSpPr/>
            <p:nvPr/>
          </p:nvSpPr>
          <p:spPr>
            <a:xfrm>
              <a:off x="2752725" y="952500"/>
              <a:ext cx="342900" cy="381000"/>
            </a:xfrm>
            <a:prstGeom prst="roundRect">
              <a:avLst>
                <a:gd fmla="val 11111" name="adj"/>
              </a:avLst>
            </a:prstGeom>
            <a:solidFill>
              <a:srgbClr val="6B21A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14"/>
            <p:cNvSpPr/>
            <p:nvPr/>
          </p:nvSpPr>
          <p:spPr>
            <a:xfrm>
              <a:off x="3124200" y="952500"/>
              <a:ext cx="3638700" cy="381000"/>
            </a:xfrm>
            <a:prstGeom prst="roundRect">
              <a:avLst>
                <a:gd fmla="val 10000" name="adj"/>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14"/>
            <p:cNvSpPr txBox="1"/>
            <p:nvPr/>
          </p:nvSpPr>
          <p:spPr>
            <a:xfrm>
              <a:off x="3124200" y="952500"/>
              <a:ext cx="3638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FFFFFF"/>
                  </a:solidFill>
                  <a:latin typeface="Inter"/>
                  <a:ea typeface="Inter"/>
                  <a:cs typeface="Inter"/>
                  <a:sym typeface="Inter"/>
                </a:rPr>
                <a:t>1024 (Import Hash)</a:t>
              </a:r>
              <a:endParaRPr b="1" sz="900">
                <a:solidFill>
                  <a:srgbClr val="FFFFFF"/>
                </a:solidFill>
                <a:latin typeface="Inter"/>
                <a:ea typeface="Inter"/>
                <a:cs typeface="Inter"/>
                <a:sym typeface="Inter"/>
              </a:endParaRPr>
            </a:p>
          </p:txBody>
        </p:sp>
        <p:sp>
          <p:nvSpPr>
            <p:cNvPr id="260" name="Google Shape;260;p14"/>
            <p:cNvSpPr/>
            <p:nvPr/>
          </p:nvSpPr>
          <p:spPr>
            <a:xfrm>
              <a:off x="6791325" y="952500"/>
              <a:ext cx="914400" cy="381000"/>
            </a:xfrm>
            <a:prstGeom prst="roundRect">
              <a:avLst>
                <a:gd fmla="val 10000" name="adj"/>
              </a:avLst>
            </a:prstGeom>
            <a:solidFill>
              <a:srgbClr val="DC680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14"/>
            <p:cNvSpPr txBox="1"/>
            <p:nvPr/>
          </p:nvSpPr>
          <p:spPr>
            <a:xfrm>
              <a:off x="6791325" y="952500"/>
              <a:ext cx="914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256</a:t>
              </a:r>
              <a:endParaRPr b="1" sz="800">
                <a:solidFill>
                  <a:srgbClr val="FFFFFF"/>
                </a:solidFill>
                <a:latin typeface="Inter"/>
                <a:ea typeface="Inter"/>
                <a:cs typeface="Inter"/>
                <a:sym typeface="Inter"/>
              </a:endParaRPr>
            </a:p>
          </p:txBody>
        </p:sp>
        <p:sp>
          <p:nvSpPr>
            <p:cNvPr id="262" name="Google Shape;262;p14"/>
            <p:cNvSpPr/>
            <p:nvPr/>
          </p:nvSpPr>
          <p:spPr>
            <a:xfrm>
              <a:off x="7734300" y="952500"/>
              <a:ext cx="457200" cy="381000"/>
            </a:xfrm>
            <a:prstGeom prst="roundRect">
              <a:avLst>
                <a:gd fmla="val 10000" name="adj"/>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4"/>
            <p:cNvSpPr txBox="1"/>
            <p:nvPr/>
          </p:nvSpPr>
          <p:spPr>
            <a:xfrm>
              <a:off x="7734300" y="952500"/>
              <a:ext cx="4572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128</a:t>
              </a:r>
              <a:endParaRPr b="1" sz="800">
                <a:solidFill>
                  <a:srgbClr val="FFFFFF"/>
                </a:solidFill>
                <a:latin typeface="Inter"/>
                <a:ea typeface="Inter"/>
                <a:cs typeface="Inter"/>
                <a:sym typeface="Inter"/>
              </a:endParaRPr>
            </a:p>
          </p:txBody>
        </p:sp>
        <p:sp>
          <p:nvSpPr>
            <p:cNvPr id="264" name="Google Shape;264;p14"/>
            <p:cNvSpPr/>
            <p:nvPr/>
          </p:nvSpPr>
          <p:spPr>
            <a:xfrm>
              <a:off x="8220075" y="952500"/>
              <a:ext cx="543000" cy="381000"/>
            </a:xfrm>
            <a:prstGeom prst="roundRect">
              <a:avLst>
                <a:gd fmla="val 1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14"/>
            <p:cNvSpPr txBox="1"/>
            <p:nvPr/>
          </p:nvSpPr>
          <p:spPr>
            <a:xfrm>
              <a:off x="8220075" y="952500"/>
              <a:ext cx="543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FFFFFF"/>
                  </a:solidFill>
                  <a:latin typeface="Inter"/>
                  <a:ea typeface="Inter"/>
                  <a:cs typeface="Inter"/>
                  <a:sym typeface="Inter"/>
                </a:rPr>
                <a:t>160</a:t>
              </a:r>
              <a:endParaRPr b="1" sz="800">
                <a:solidFill>
                  <a:srgbClr val="FFFFFF"/>
                </a:solidFill>
                <a:latin typeface="Inter"/>
                <a:ea typeface="Inter"/>
                <a:cs typeface="Inter"/>
                <a:sym typeface="Inter"/>
              </a:endParaRPr>
            </a:p>
          </p:txBody>
        </p:sp>
      </p:grpSp>
      <p:sp>
        <p:nvSpPr>
          <p:cNvPr id="266" name="Google Shape;266;p14"/>
          <p:cNvSpPr/>
          <p:nvPr/>
        </p:nvSpPr>
        <p:spPr>
          <a:xfrm>
            <a:off x="380998" y="1500125"/>
            <a:ext cx="4093500" cy="1428900"/>
          </a:xfrm>
          <a:prstGeom prst="roundRect">
            <a:avLst>
              <a:gd fmla="val 5333"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14"/>
          <p:cNvSpPr/>
          <p:nvPr/>
        </p:nvSpPr>
        <p:spPr>
          <a:xfrm>
            <a:off x="380998" y="1500125"/>
            <a:ext cx="77700" cy="14289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14"/>
          <p:cNvSpPr txBox="1"/>
          <p:nvPr/>
        </p:nvSpPr>
        <p:spPr>
          <a:xfrm>
            <a:off x="653911" y="1595375"/>
            <a:ext cx="3626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0D9488"/>
                </a:solidFill>
                <a:latin typeface="Inter"/>
                <a:ea typeface="Inter"/>
                <a:cs typeface="Inter"/>
                <a:sym typeface="Inter"/>
              </a:rPr>
              <a:t>Byte-Entropy (256d)</a:t>
            </a:r>
            <a:endParaRPr b="1" sz="1100">
              <a:solidFill>
                <a:srgbClr val="0D9488"/>
              </a:solidFill>
              <a:latin typeface="Inter"/>
              <a:ea typeface="Inter"/>
              <a:cs typeface="Inter"/>
              <a:sym typeface="Inter"/>
            </a:endParaRPr>
          </a:p>
          <a:p>
            <a:pPr indent="0" lvl="0" marL="0" rtl="0" algn="l">
              <a:spcBef>
                <a:spcPts val="600"/>
              </a:spcBef>
              <a:spcAft>
                <a:spcPts val="0"/>
              </a:spcAft>
              <a:buClr>
                <a:schemeClr val="dk1"/>
              </a:buClr>
              <a:buSzPts val="1100"/>
              <a:buFont typeface="Arial"/>
              <a:buNone/>
            </a:pPr>
            <a:r>
              <a:rPr b="1" lang="en-GB" sz="1000">
                <a:solidFill>
                  <a:schemeClr val="dk1"/>
                </a:solidFill>
                <a:latin typeface="Inter"/>
                <a:ea typeface="Inter"/>
                <a:cs typeface="Inter"/>
                <a:sym typeface="Inter"/>
              </a:rPr>
              <a:t>What we extract:</a:t>
            </a:r>
            <a:r>
              <a:rPr lang="en-GB" sz="1000">
                <a:solidFill>
                  <a:schemeClr val="dk1"/>
                </a:solidFill>
                <a:latin typeface="Inter"/>
                <a:ea typeface="Inter"/>
                <a:cs typeface="Inter"/>
                <a:sym typeface="Inter"/>
              </a:rPr>
              <a:t> A 16×16 joint histogram: windowed entropy bucket × high‑nibble byte bucket.</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GB" sz="1000">
                <a:solidFill>
                  <a:schemeClr val="dk1"/>
                </a:solidFill>
                <a:latin typeface="Inter"/>
                <a:ea typeface="Inter"/>
                <a:cs typeface="Inter"/>
                <a:sym typeface="Inter"/>
              </a:rPr>
              <a:t>How it helps: </a:t>
            </a:r>
            <a:r>
              <a:rPr lang="en-GB" sz="1000">
                <a:solidFill>
                  <a:schemeClr val="dk1"/>
                </a:solidFill>
                <a:latin typeface="Inter"/>
                <a:ea typeface="Inter"/>
                <a:cs typeface="Inter"/>
                <a:sym typeface="Inter"/>
              </a:rPr>
              <a:t>Detects “high-entropy regions” typical of packing/encryption and shows how that entropy is distributed, which helps separate packed malware from ordinary binaries.</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sp>
        <p:nvSpPr>
          <p:cNvPr id="269" name="Google Shape;269;p14"/>
          <p:cNvSpPr/>
          <p:nvPr/>
        </p:nvSpPr>
        <p:spPr>
          <a:xfrm>
            <a:off x="4669633" y="1500125"/>
            <a:ext cx="4093500" cy="1428900"/>
          </a:xfrm>
          <a:prstGeom prst="roundRect">
            <a:avLst>
              <a:gd fmla="val 5333"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14"/>
          <p:cNvSpPr/>
          <p:nvPr/>
        </p:nvSpPr>
        <p:spPr>
          <a:xfrm>
            <a:off x="4669633" y="1500125"/>
            <a:ext cx="77700" cy="1428900"/>
          </a:xfrm>
          <a:prstGeom prst="roundRect">
            <a:avLst>
              <a:gd fmla="val 50000" name="adj"/>
            </a:avLst>
          </a:prstGeom>
          <a:solidFill>
            <a:srgbClr val="6B21A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14"/>
          <p:cNvSpPr txBox="1"/>
          <p:nvPr/>
        </p:nvSpPr>
        <p:spPr>
          <a:xfrm>
            <a:off x="4942546" y="1595375"/>
            <a:ext cx="3626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6B21A8"/>
                </a:solidFill>
                <a:latin typeface="Inter"/>
                <a:ea typeface="Inter"/>
                <a:cs typeface="Inter"/>
                <a:sym typeface="Inter"/>
              </a:rPr>
              <a:t>Printable Strings (96d)</a:t>
            </a:r>
            <a:endParaRPr b="1" sz="1100">
              <a:solidFill>
                <a:srgbClr val="6B21A8"/>
              </a:solidFill>
              <a:latin typeface="Inter"/>
              <a:ea typeface="Inter"/>
              <a:cs typeface="Inter"/>
              <a:sym typeface="Inter"/>
            </a:endParaRPr>
          </a:p>
          <a:p>
            <a:pPr indent="0" lvl="0" marL="0" rtl="0" algn="l">
              <a:spcBef>
                <a:spcPts val="600"/>
              </a:spcBef>
              <a:spcAft>
                <a:spcPts val="0"/>
              </a:spcAft>
              <a:buClr>
                <a:schemeClr val="dk1"/>
              </a:buClr>
              <a:buSzPts val="1100"/>
              <a:buFont typeface="Arial"/>
              <a:buNone/>
            </a:pPr>
            <a:r>
              <a:rPr b="1" lang="en-GB" sz="1000">
                <a:solidFill>
                  <a:schemeClr val="dk1"/>
                </a:solidFill>
                <a:latin typeface="Inter"/>
                <a:ea typeface="Inter"/>
                <a:cs typeface="Inter"/>
                <a:sym typeface="Inter"/>
              </a:rPr>
              <a:t>What we extract: </a:t>
            </a:r>
            <a:r>
              <a:rPr lang="en-GB" sz="1000">
                <a:solidFill>
                  <a:schemeClr val="dk1"/>
                </a:solidFill>
                <a:latin typeface="Inter"/>
                <a:ea typeface="Inter"/>
                <a:cs typeface="Inter"/>
                <a:sym typeface="Inter"/>
              </a:rPr>
              <a:t>Distribution of printable ASCII characters (plus scalar string stats live in Scalars).</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GB" sz="1000">
                <a:solidFill>
                  <a:schemeClr val="dk1"/>
                </a:solidFill>
                <a:latin typeface="Inter"/>
                <a:ea typeface="Inter"/>
                <a:cs typeface="Inter"/>
                <a:sym typeface="Inter"/>
              </a:rPr>
              <a:t>How it helps:</a:t>
            </a:r>
            <a:r>
              <a:rPr lang="en-GB" sz="1000">
                <a:solidFill>
                  <a:schemeClr val="dk1"/>
                </a:solidFill>
                <a:latin typeface="Inter"/>
                <a:ea typeface="Inter"/>
                <a:cs typeface="Inter"/>
                <a:sym typeface="Inter"/>
              </a:rPr>
              <a:t> Flags binaries with lots of human-readable content such as URLs, file paths, registry keys, command strings, and embedded configs often useful for malware detection.</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sp>
        <p:nvSpPr>
          <p:cNvPr id="272" name="Google Shape;272;p14"/>
          <p:cNvSpPr/>
          <p:nvPr/>
        </p:nvSpPr>
        <p:spPr>
          <a:xfrm>
            <a:off x="380998" y="3071750"/>
            <a:ext cx="40935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14"/>
          <p:cNvSpPr/>
          <p:nvPr/>
        </p:nvSpPr>
        <p:spPr>
          <a:xfrm>
            <a:off x="380998" y="3071750"/>
            <a:ext cx="77700" cy="1428900"/>
          </a:xfrm>
          <a:prstGeom prst="roundRect">
            <a:avLst>
              <a:gd fmla="val 50000" name="adj"/>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14"/>
          <p:cNvSpPr txBox="1"/>
          <p:nvPr/>
        </p:nvSpPr>
        <p:spPr>
          <a:xfrm>
            <a:off x="653911" y="3167000"/>
            <a:ext cx="3626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0891B2"/>
                </a:solidFill>
                <a:latin typeface="Inter"/>
                <a:ea typeface="Inter"/>
                <a:cs typeface="Inter"/>
                <a:sym typeface="Inter"/>
              </a:rPr>
              <a:t>Section Hash (128d)</a:t>
            </a:r>
            <a:endParaRPr b="1" sz="1100">
              <a:solidFill>
                <a:srgbClr val="0891B2"/>
              </a:solidFill>
              <a:latin typeface="Inter"/>
              <a:ea typeface="Inter"/>
              <a:cs typeface="Inter"/>
              <a:sym typeface="Inter"/>
            </a:endParaRPr>
          </a:p>
          <a:p>
            <a:pPr indent="0" lvl="0" marL="0" rtl="0" algn="l">
              <a:spcBef>
                <a:spcPts val="600"/>
              </a:spcBef>
              <a:spcAft>
                <a:spcPts val="0"/>
              </a:spcAft>
              <a:buClr>
                <a:schemeClr val="dk1"/>
              </a:buClr>
              <a:buSzPts val="1100"/>
              <a:buFont typeface="Arial"/>
              <a:buNone/>
            </a:pPr>
            <a:r>
              <a:rPr b="1" lang="en-GB" sz="1000">
                <a:solidFill>
                  <a:srgbClr val="1E1E1E"/>
                </a:solidFill>
                <a:latin typeface="Inter"/>
                <a:ea typeface="Inter"/>
                <a:cs typeface="Inter"/>
                <a:sym typeface="Inter"/>
              </a:rPr>
              <a:t>What we extract:</a:t>
            </a:r>
            <a:r>
              <a:rPr lang="en-GB" sz="1000">
                <a:solidFill>
                  <a:srgbClr val="1E1E1E"/>
                </a:solidFill>
                <a:latin typeface="Inter"/>
                <a:ea typeface="Inter"/>
                <a:cs typeface="Inter"/>
                <a:sym typeface="Inter"/>
              </a:rPr>
              <a:t> Hashed section tokens (name + characteristics), weighted by section size.</a:t>
            </a:r>
            <a:endParaRPr sz="1000">
              <a:solidFill>
                <a:srgbClr val="1E1E1E"/>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GB" sz="1000">
                <a:solidFill>
                  <a:srgbClr val="1E1E1E"/>
                </a:solidFill>
                <a:latin typeface="Inter"/>
                <a:ea typeface="Inter"/>
                <a:cs typeface="Inter"/>
                <a:sym typeface="Inter"/>
              </a:rPr>
              <a:t>How it helps: </a:t>
            </a:r>
            <a:r>
              <a:rPr lang="en-GB" sz="1000">
                <a:solidFill>
                  <a:srgbClr val="1E1E1E"/>
                </a:solidFill>
                <a:latin typeface="Inter"/>
                <a:ea typeface="Inter"/>
                <a:cs typeface="Inter"/>
                <a:sym typeface="Inter"/>
              </a:rPr>
              <a:t>Captures section layout patterns: UPX/packer naming, executable/writable sections, abnormal section configurations that correlate with obfuscation or loaders.</a:t>
            </a:r>
            <a:endParaRPr sz="1000">
              <a:solidFill>
                <a:srgbClr val="1E1E1E"/>
              </a:solidFill>
              <a:latin typeface="Inter"/>
              <a:ea typeface="Inter"/>
              <a:cs typeface="Inter"/>
              <a:sym typeface="Inter"/>
            </a:endParaRPr>
          </a:p>
          <a:p>
            <a:pPr indent="0" lvl="0" marL="0" rtl="0" algn="l">
              <a:spcBef>
                <a:spcPts val="0"/>
              </a:spcBef>
              <a:spcAft>
                <a:spcPts val="0"/>
              </a:spcAft>
              <a:buNone/>
            </a:pPr>
            <a:r>
              <a:t/>
            </a:r>
            <a:endParaRPr sz="1000">
              <a:solidFill>
                <a:srgbClr val="1E1E1E"/>
              </a:solidFill>
              <a:latin typeface="Inter"/>
              <a:ea typeface="Inter"/>
              <a:cs typeface="Inter"/>
              <a:sym typeface="Inter"/>
            </a:endParaRPr>
          </a:p>
        </p:txBody>
      </p:sp>
      <p:sp>
        <p:nvSpPr>
          <p:cNvPr id="275" name="Google Shape;275;p14"/>
          <p:cNvSpPr/>
          <p:nvPr/>
        </p:nvSpPr>
        <p:spPr>
          <a:xfrm>
            <a:off x="4669633" y="3071750"/>
            <a:ext cx="40935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14"/>
          <p:cNvSpPr/>
          <p:nvPr/>
        </p:nvSpPr>
        <p:spPr>
          <a:xfrm>
            <a:off x="4669633" y="3071750"/>
            <a:ext cx="77700" cy="14289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14"/>
          <p:cNvSpPr txBox="1"/>
          <p:nvPr/>
        </p:nvSpPr>
        <p:spPr>
          <a:xfrm>
            <a:off x="4942546" y="3167000"/>
            <a:ext cx="3626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7C3AED"/>
                </a:solidFill>
                <a:latin typeface="Inter"/>
                <a:ea typeface="Inter"/>
                <a:cs typeface="Inter"/>
                <a:sym typeface="Inter"/>
              </a:rPr>
              <a:t>Opcode Features (160d)</a:t>
            </a:r>
            <a:endParaRPr b="1" sz="1100">
              <a:solidFill>
                <a:srgbClr val="7C3AED"/>
              </a:solidFill>
              <a:latin typeface="Inter"/>
              <a:ea typeface="Inter"/>
              <a:cs typeface="Inter"/>
              <a:sym typeface="Inter"/>
            </a:endParaRPr>
          </a:p>
          <a:p>
            <a:pPr indent="0" lvl="0" marL="0" rtl="0" algn="l">
              <a:spcBef>
                <a:spcPts val="600"/>
              </a:spcBef>
              <a:spcAft>
                <a:spcPts val="0"/>
              </a:spcAft>
              <a:buClr>
                <a:schemeClr val="dk1"/>
              </a:buClr>
              <a:buSzPts val="1100"/>
              <a:buFont typeface="Arial"/>
              <a:buNone/>
            </a:pPr>
            <a:r>
              <a:rPr b="1" lang="en-GB" sz="1000">
                <a:solidFill>
                  <a:schemeClr val="dk1"/>
                </a:solidFill>
                <a:latin typeface="Inter"/>
                <a:ea typeface="Inter"/>
                <a:cs typeface="Inter"/>
                <a:sym typeface="Inter"/>
              </a:rPr>
              <a:t>What we extract: </a:t>
            </a:r>
            <a:r>
              <a:rPr lang="en-GB" sz="1000">
                <a:solidFill>
                  <a:schemeClr val="dk1"/>
                </a:solidFill>
                <a:latin typeface="Inter"/>
                <a:ea typeface="Inter"/>
                <a:cs typeface="Inter"/>
                <a:sym typeface="Inter"/>
              </a:rPr>
              <a:t>Disassembly-derived opcode / control-flow pattern counts (calls, branches, rets, indirect branches, memory/immediate usage), when Capstone is available.</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GB" sz="1000">
                <a:solidFill>
                  <a:schemeClr val="dk1"/>
                </a:solidFill>
                <a:latin typeface="Inter"/>
                <a:ea typeface="Inter"/>
                <a:cs typeface="Inter"/>
                <a:sym typeface="Inter"/>
              </a:rPr>
              <a:t>How it helps: </a:t>
            </a:r>
            <a:r>
              <a:rPr lang="en-GB" sz="1000">
                <a:solidFill>
                  <a:schemeClr val="dk1"/>
                </a:solidFill>
                <a:latin typeface="Inter"/>
                <a:ea typeface="Inter"/>
                <a:cs typeface="Inter"/>
                <a:sym typeface="Inter"/>
              </a:rPr>
              <a:t>Approximates “code shape” unpacking stubs, shellcode-like control flow, and other low-level behavior signatures without running the binary.</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sp>
        <p:nvSpPr>
          <p:cNvPr id="278" name="Google Shape;278;p14"/>
          <p:cNvSpPr txBox="1"/>
          <p:nvPr/>
        </p:nvSpPr>
        <p:spPr>
          <a:xfrm>
            <a:off x="381000" y="4667250"/>
            <a:ext cx="838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1000">
                <a:solidFill>
                  <a:srgbClr val="6B7280"/>
                </a:solidFill>
                <a:latin typeface="Inter"/>
                <a:ea typeface="Inter"/>
                <a:cs typeface="Inter"/>
                <a:sym typeface="Inter"/>
              </a:rPr>
              <a:t>Total: 2304 dims · Feature version: ember_static_v1 · XGBoost ranks all 2304 → top 384 fed to LightGBM</a:t>
            </a:r>
            <a:endParaRPr i="1" sz="1000">
              <a:solidFill>
                <a:srgbClr val="6B7280"/>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937"/>
        </a:solidFill>
      </p:bgPr>
    </p:bg>
    <p:spTree>
      <p:nvGrpSpPr>
        <p:cNvPr id="282" name="Shape 282"/>
        <p:cNvGrpSpPr/>
        <p:nvPr/>
      </p:nvGrpSpPr>
      <p:grpSpPr>
        <a:xfrm>
          <a:off x="0" y="0"/>
          <a:ext cx="0" cy="0"/>
          <a:chOff x="0" y="0"/>
          <a:chExt cx="0" cy="0"/>
        </a:xfrm>
      </p:grpSpPr>
      <p:sp>
        <p:nvSpPr>
          <p:cNvPr id="283" name="Google Shape;283;p15"/>
          <p:cNvSpPr/>
          <p:nvPr/>
        </p:nvSpPr>
        <p:spPr>
          <a:xfrm>
            <a:off x="0" y="0"/>
            <a:ext cx="9144000" cy="57300"/>
          </a:xfrm>
          <a:prstGeom prst="rect">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15"/>
          <p:cNvSpPr txBox="1"/>
          <p:nvPr/>
        </p:nvSpPr>
        <p:spPr>
          <a:xfrm>
            <a:off x="381000" y="285750"/>
            <a:ext cx="8382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FFFFFF"/>
                </a:solidFill>
                <a:latin typeface="Inter"/>
                <a:ea typeface="Inter"/>
                <a:cs typeface="Inter"/>
                <a:sym typeface="Inter"/>
              </a:rPr>
              <a:t>Feature Selection — Dimensionality Reduction Logic</a:t>
            </a:r>
            <a:endParaRPr b="1" sz="2400">
              <a:solidFill>
                <a:srgbClr val="FFFFFF"/>
              </a:solidFill>
              <a:latin typeface="Inter"/>
              <a:ea typeface="Inter"/>
              <a:cs typeface="Inter"/>
              <a:sym typeface="Inter"/>
            </a:endParaRPr>
          </a:p>
        </p:txBody>
      </p:sp>
      <p:grpSp>
        <p:nvGrpSpPr>
          <p:cNvPr id="285" name="Google Shape;285;p15"/>
          <p:cNvGrpSpPr/>
          <p:nvPr/>
        </p:nvGrpSpPr>
        <p:grpSpPr>
          <a:xfrm>
            <a:off x="381000" y="1047750"/>
            <a:ext cx="8382000" cy="1333500"/>
            <a:chOff x="0" y="0"/>
            <a:chExt cx="8382000" cy="1333500"/>
          </a:xfrm>
        </p:grpSpPr>
        <p:sp>
          <p:nvSpPr>
            <p:cNvPr id="286" name="Google Shape;286;p15"/>
            <p:cNvSpPr/>
            <p:nvPr/>
          </p:nvSpPr>
          <p:spPr>
            <a:xfrm>
              <a:off x="0" y="0"/>
              <a:ext cx="8382000" cy="1333500"/>
            </a:xfrm>
            <a:prstGeom prst="roundRect">
              <a:avLst>
                <a:gd fmla="val 5714" name="adj"/>
              </a:avLst>
            </a:prstGeom>
            <a:solidFill>
              <a:srgbClr val="37415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15"/>
            <p:cNvSpPr/>
            <p:nvPr/>
          </p:nvSpPr>
          <p:spPr>
            <a:xfrm>
              <a:off x="285750" y="285750"/>
              <a:ext cx="1714500" cy="762000"/>
            </a:xfrm>
            <a:prstGeom prst="roundRect">
              <a:avLst>
                <a:gd fmla="val 7500" name="adj"/>
              </a:avLst>
            </a:prstGeom>
            <a:solidFill>
              <a:srgbClr val="0F34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15"/>
            <p:cNvSpPr txBox="1"/>
            <p:nvPr/>
          </p:nvSpPr>
          <p:spPr>
            <a:xfrm>
              <a:off x="285750" y="285750"/>
              <a:ext cx="1714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FFFFFF"/>
                  </a:solidFill>
                  <a:latin typeface="Inter"/>
                  <a:ea typeface="Inter"/>
                  <a:cs typeface="Inter"/>
                  <a:sym typeface="Inter"/>
                </a:rPr>
                <a:t>Full 2304-dim</a:t>
              </a:r>
              <a:br>
                <a:rPr b="1" lang="en-GB" sz="900">
                  <a:solidFill>
                    <a:srgbClr val="FFFFFF"/>
                  </a:solidFill>
                  <a:latin typeface="Inter"/>
                  <a:ea typeface="Inter"/>
                  <a:cs typeface="Inter"/>
                  <a:sym typeface="Inter"/>
                </a:rPr>
              </a:br>
              <a:r>
                <a:rPr b="1" lang="en-GB" sz="900">
                  <a:solidFill>
                    <a:srgbClr val="FFFFFF"/>
                  </a:solidFill>
                  <a:latin typeface="Inter"/>
                  <a:ea typeface="Inter"/>
                  <a:cs typeface="Inter"/>
                  <a:sym typeface="Inter"/>
                </a:rPr>
                <a:t>Feature Vector</a:t>
              </a:r>
              <a:endParaRPr b="1" sz="900">
                <a:solidFill>
                  <a:srgbClr val="FFFFFF"/>
                </a:solidFill>
                <a:latin typeface="Inter"/>
                <a:ea typeface="Inter"/>
                <a:cs typeface="Inter"/>
                <a:sym typeface="Inter"/>
              </a:endParaRPr>
            </a:p>
          </p:txBody>
        </p:sp>
        <p:pic>
          <p:nvPicPr>
            <p:cNvPr id="289" name="Google Shape;289;p15"/>
            <p:cNvPicPr preferRelativeResize="0"/>
            <p:nvPr/>
          </p:nvPicPr>
          <p:blipFill rotWithShape="1">
            <a:blip r:embed="rId3">
              <a:alphaModFix/>
            </a:blip>
            <a:srcRect b="0" l="0" r="0" t="0"/>
            <a:stretch/>
          </p:blipFill>
          <p:spPr>
            <a:xfrm>
              <a:off x="2000250" y="609600"/>
              <a:ext cx="438300" cy="114300"/>
            </a:xfrm>
            <a:prstGeom prst="rect">
              <a:avLst/>
            </a:prstGeom>
            <a:noFill/>
            <a:ln>
              <a:noFill/>
            </a:ln>
          </p:spPr>
        </p:pic>
        <p:sp>
          <p:nvSpPr>
            <p:cNvPr id="290" name="Google Shape;290;p15"/>
            <p:cNvSpPr/>
            <p:nvPr/>
          </p:nvSpPr>
          <p:spPr>
            <a:xfrm>
              <a:off x="2476500" y="285750"/>
              <a:ext cx="2095500" cy="762000"/>
            </a:xfrm>
            <a:prstGeom prst="roundRect">
              <a:avLst>
                <a:gd fmla="val 7500" name="adj"/>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15"/>
            <p:cNvSpPr txBox="1"/>
            <p:nvPr/>
          </p:nvSpPr>
          <p:spPr>
            <a:xfrm>
              <a:off x="2476500" y="285750"/>
              <a:ext cx="2095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FFFFFF"/>
                  </a:solidFill>
                  <a:latin typeface="Inter"/>
                  <a:ea typeface="Inter"/>
                  <a:cs typeface="Inter"/>
                  <a:sym typeface="Inter"/>
                </a:rPr>
                <a:t>XGBoost Importance</a:t>
              </a:r>
              <a:br>
                <a:rPr b="1" lang="en-GB" sz="900">
                  <a:solidFill>
                    <a:srgbClr val="FFFFFF"/>
                  </a:solidFill>
                  <a:latin typeface="Inter"/>
                  <a:ea typeface="Inter"/>
                  <a:cs typeface="Inter"/>
                  <a:sym typeface="Inter"/>
                </a:rPr>
              </a:br>
              <a:r>
                <a:rPr b="1" lang="en-GB" sz="900">
                  <a:solidFill>
                    <a:srgbClr val="FFFFFF"/>
                  </a:solidFill>
                  <a:latin typeface="Inter"/>
                  <a:ea typeface="Inter"/>
                  <a:cs typeface="Inter"/>
                  <a:sym typeface="Inter"/>
                </a:rPr>
                <a:t>Ranking System</a:t>
              </a:r>
              <a:endParaRPr b="1" sz="900">
                <a:solidFill>
                  <a:srgbClr val="FFFFFF"/>
                </a:solidFill>
                <a:latin typeface="Inter"/>
                <a:ea typeface="Inter"/>
                <a:cs typeface="Inter"/>
                <a:sym typeface="Inter"/>
              </a:endParaRPr>
            </a:p>
          </p:txBody>
        </p:sp>
        <p:pic>
          <p:nvPicPr>
            <p:cNvPr id="292" name="Google Shape;292;p15"/>
            <p:cNvPicPr preferRelativeResize="0"/>
            <p:nvPr/>
          </p:nvPicPr>
          <p:blipFill rotWithShape="1">
            <a:blip r:embed="rId4">
              <a:alphaModFix/>
            </a:blip>
            <a:srcRect b="0" l="0" r="0" t="0"/>
            <a:stretch/>
          </p:blipFill>
          <p:spPr>
            <a:xfrm>
              <a:off x="4572000" y="657225"/>
              <a:ext cx="381000" cy="19200"/>
            </a:xfrm>
            <a:prstGeom prst="rect">
              <a:avLst/>
            </a:prstGeom>
            <a:noFill/>
            <a:ln>
              <a:noFill/>
            </a:ln>
          </p:spPr>
        </p:pic>
        <p:sp>
          <p:nvSpPr>
            <p:cNvPr id="293" name="Google Shape;293;p15"/>
            <p:cNvSpPr/>
            <p:nvPr/>
          </p:nvSpPr>
          <p:spPr>
            <a:xfrm>
              <a:off x="5048250" y="381000"/>
              <a:ext cx="571500" cy="571500"/>
            </a:xfrm>
            <a:prstGeom prst="ellipse">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15"/>
            <p:cNvSpPr txBox="1"/>
            <p:nvPr/>
          </p:nvSpPr>
          <p:spPr>
            <a:xfrm>
              <a:off x="5191125" y="553085"/>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50">
                  <a:solidFill>
                    <a:srgbClr val="FFFFFF"/>
                  </a:solidFill>
                  <a:latin typeface="Material Icons"/>
                  <a:ea typeface="Material Icons"/>
                  <a:cs typeface="Material Icons"/>
                  <a:sym typeface="Material Icons"/>
                </a:rPr>
                <a:t>filter_list</a:t>
              </a:r>
              <a:endParaRPr sz="1850">
                <a:solidFill>
                  <a:srgbClr val="FFFFFF"/>
                </a:solidFill>
                <a:latin typeface="Material Icons"/>
                <a:ea typeface="Material Icons"/>
                <a:cs typeface="Material Icons"/>
                <a:sym typeface="Material Icons"/>
              </a:endParaRPr>
            </a:p>
          </p:txBody>
        </p:sp>
        <p:pic>
          <p:nvPicPr>
            <p:cNvPr id="295" name="Google Shape;295;p15"/>
            <p:cNvPicPr preferRelativeResize="0"/>
            <p:nvPr/>
          </p:nvPicPr>
          <p:blipFill rotWithShape="1">
            <a:blip r:embed="rId4">
              <a:alphaModFix/>
            </a:blip>
            <a:srcRect b="0" l="0" r="0" t="0"/>
            <a:stretch/>
          </p:blipFill>
          <p:spPr>
            <a:xfrm>
              <a:off x="5619750" y="657225"/>
              <a:ext cx="381000" cy="19200"/>
            </a:xfrm>
            <a:prstGeom prst="rect">
              <a:avLst/>
            </a:prstGeom>
            <a:noFill/>
            <a:ln>
              <a:noFill/>
            </a:ln>
          </p:spPr>
        </p:pic>
        <p:sp>
          <p:nvSpPr>
            <p:cNvPr id="296" name="Google Shape;296;p15"/>
            <p:cNvSpPr/>
            <p:nvPr/>
          </p:nvSpPr>
          <p:spPr>
            <a:xfrm>
              <a:off x="6096000" y="285750"/>
              <a:ext cx="2000100" cy="762000"/>
            </a:xfrm>
            <a:prstGeom prst="roundRect">
              <a:avLst>
                <a:gd fmla="val 75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15"/>
            <p:cNvSpPr txBox="1"/>
            <p:nvPr/>
          </p:nvSpPr>
          <p:spPr>
            <a:xfrm>
              <a:off x="6096000" y="285750"/>
              <a:ext cx="20001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FFFFFF"/>
                  </a:solidFill>
                  <a:latin typeface="Inter"/>
                  <a:ea typeface="Inter"/>
                  <a:cs typeface="Inter"/>
                  <a:sym typeface="Inter"/>
                </a:rPr>
                <a:t>Final Top 384</a:t>
              </a:r>
              <a:br>
                <a:rPr b="1" lang="en-GB" sz="900">
                  <a:solidFill>
                    <a:srgbClr val="FFFFFF"/>
                  </a:solidFill>
                  <a:latin typeface="Inter"/>
                  <a:ea typeface="Inter"/>
                  <a:cs typeface="Inter"/>
                  <a:sym typeface="Inter"/>
                </a:rPr>
              </a:br>
              <a:r>
                <a:rPr b="1" lang="en-GB" sz="900">
                  <a:solidFill>
                    <a:srgbClr val="FFFFFF"/>
                  </a:solidFill>
                  <a:latin typeface="Inter"/>
                  <a:ea typeface="Inter"/>
                  <a:cs typeface="Inter"/>
                  <a:sym typeface="Inter"/>
                </a:rPr>
                <a:t>Informative Features</a:t>
              </a:r>
              <a:endParaRPr b="1" sz="900">
                <a:solidFill>
                  <a:srgbClr val="FFFFFF"/>
                </a:solidFill>
                <a:latin typeface="Inter"/>
                <a:ea typeface="Inter"/>
                <a:cs typeface="Inter"/>
                <a:sym typeface="Inter"/>
              </a:endParaRPr>
            </a:p>
          </p:txBody>
        </p:sp>
      </p:grpSp>
      <p:sp>
        <p:nvSpPr>
          <p:cNvPr id="298" name="Google Shape;298;p15"/>
          <p:cNvSpPr/>
          <p:nvPr/>
        </p:nvSpPr>
        <p:spPr>
          <a:xfrm>
            <a:off x="381000" y="2619375"/>
            <a:ext cx="8382000" cy="1714500"/>
          </a:xfrm>
          <a:prstGeom prst="roundRect">
            <a:avLst>
              <a:gd fmla="val 5555" name="adj"/>
            </a:avLst>
          </a:prstGeom>
          <a:solidFill>
            <a:srgbClr val="37415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15"/>
          <p:cNvSpPr/>
          <p:nvPr/>
        </p:nvSpPr>
        <p:spPr>
          <a:xfrm>
            <a:off x="381000" y="2619375"/>
            <a:ext cx="57300" cy="1714500"/>
          </a:xfrm>
          <a:prstGeom prst="roundRect">
            <a:avLst>
              <a:gd fmla="val 50000" name="adj"/>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15"/>
          <p:cNvSpPr txBox="1"/>
          <p:nvPr/>
        </p:nvSpPr>
        <p:spPr>
          <a:xfrm>
            <a:off x="666750" y="2809875"/>
            <a:ext cx="7842000" cy="14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190">
                <a:solidFill>
                  <a:srgbClr val="FFFFFF"/>
                </a:solidFill>
                <a:latin typeface="Inter"/>
                <a:ea typeface="Inter"/>
                <a:cs typeface="Inter"/>
                <a:sym typeface="Inter"/>
              </a:rPr>
              <a:t>The Ranking Process</a:t>
            </a:r>
            <a:endParaRPr b="1" sz="1190">
              <a:solidFill>
                <a:srgbClr val="FFFFFF"/>
              </a:solidFill>
              <a:latin typeface="Inter"/>
              <a:ea typeface="Inter"/>
              <a:cs typeface="Inter"/>
              <a:sym typeface="Inter"/>
            </a:endParaRPr>
          </a:p>
          <a:p>
            <a:pPr indent="0" lvl="0" marL="0" rtl="0" algn="l">
              <a:spcBef>
                <a:spcPts val="750"/>
              </a:spcBef>
              <a:spcAft>
                <a:spcPts val="0"/>
              </a:spcAft>
              <a:buNone/>
            </a:pPr>
            <a:r>
              <a:rPr b="0" lang="en-GB" sz="935">
                <a:solidFill>
                  <a:srgbClr val="FFFFFF"/>
                </a:solidFill>
                <a:latin typeface="Inter"/>
                <a:ea typeface="Inter"/>
                <a:cs typeface="Inter"/>
                <a:sym typeface="Inter"/>
              </a:rPr>
              <a:t>• </a:t>
            </a:r>
            <a:r>
              <a:rPr b="1" lang="en-GB" sz="935">
                <a:solidFill>
                  <a:srgbClr val="FFFFFF"/>
                </a:solidFill>
                <a:latin typeface="Inter"/>
                <a:ea typeface="Inter"/>
                <a:cs typeface="Inter"/>
                <a:sym typeface="Inter"/>
              </a:rPr>
              <a:t>Training:</a:t>
            </a:r>
            <a:r>
              <a:rPr b="0" lang="en-GB" sz="935">
                <a:solidFill>
                  <a:srgbClr val="FFFFFF"/>
                </a:solidFill>
                <a:latin typeface="Inter"/>
                <a:ea typeface="Inter"/>
                <a:cs typeface="Inter"/>
                <a:sym typeface="Inter"/>
              </a:rPr>
              <a:t> </a:t>
            </a:r>
            <a:r>
              <a:rPr b="0" lang="en-GB" sz="935">
                <a:solidFill>
                  <a:srgbClr val="FFFFFF"/>
                </a:solidFill>
                <a:latin typeface="Inter"/>
                <a:ea typeface="Inter"/>
                <a:cs typeface="Inter"/>
                <a:sym typeface="Inter"/>
              </a:rPr>
              <a:t>We train a small XGBoost classifier on the training split to learn feature relationships.</a:t>
            </a:r>
            <a:endParaRPr b="0" sz="935">
              <a:solidFill>
                <a:srgbClr val="FFFFFF"/>
              </a:solidFill>
              <a:latin typeface="Inter"/>
              <a:ea typeface="Inter"/>
              <a:cs typeface="Inter"/>
              <a:sym typeface="Inter"/>
            </a:endParaRPr>
          </a:p>
          <a:p>
            <a:pPr indent="0" lvl="0" marL="0" rtl="0" algn="l">
              <a:spcBef>
                <a:spcPts val="600"/>
              </a:spcBef>
              <a:spcAft>
                <a:spcPts val="0"/>
              </a:spcAft>
              <a:buNone/>
            </a:pPr>
            <a:r>
              <a:rPr lang="en-GB" sz="935">
                <a:solidFill>
                  <a:srgbClr val="FFFFFF"/>
                </a:solidFill>
                <a:latin typeface="Inter"/>
                <a:ea typeface="Inter"/>
                <a:cs typeface="Inter"/>
                <a:sym typeface="Inter"/>
              </a:rPr>
              <a:t>XGBoost builds many decision trees, each time a tree uses a feature to split the data, that split helps the model make the two groups more separable (more “malware-like” vs “benign-like”).</a:t>
            </a:r>
            <a:endParaRPr sz="935">
              <a:solidFill>
                <a:srgbClr val="FFFFFF"/>
              </a:solidFill>
              <a:latin typeface="Inter"/>
              <a:ea typeface="Inter"/>
              <a:cs typeface="Inter"/>
              <a:sym typeface="Inter"/>
            </a:endParaRPr>
          </a:p>
          <a:p>
            <a:pPr indent="0" lvl="0" marL="0" rtl="0" algn="l">
              <a:spcBef>
                <a:spcPts val="600"/>
              </a:spcBef>
              <a:spcAft>
                <a:spcPts val="0"/>
              </a:spcAft>
              <a:buNone/>
            </a:pPr>
            <a:r>
              <a:rPr b="0" lang="en-GB" sz="935">
                <a:solidFill>
                  <a:srgbClr val="FFFFFF"/>
                </a:solidFill>
                <a:latin typeface="Inter"/>
                <a:ea typeface="Inter"/>
                <a:cs typeface="Inter"/>
                <a:sym typeface="Inter"/>
              </a:rPr>
              <a:t>• </a:t>
            </a:r>
            <a:r>
              <a:rPr b="1" lang="en-GB" sz="935">
                <a:solidFill>
                  <a:srgbClr val="FFFFFF"/>
                </a:solidFill>
                <a:latin typeface="Inter"/>
                <a:ea typeface="Inter"/>
                <a:cs typeface="Inter"/>
                <a:sym typeface="Inter"/>
              </a:rPr>
              <a:t>Extraction: After training</a:t>
            </a:r>
            <a:r>
              <a:rPr b="0" lang="en-GB" sz="935">
                <a:solidFill>
                  <a:srgbClr val="FFFFFF"/>
                </a:solidFill>
                <a:latin typeface="Inter"/>
                <a:ea typeface="Inter"/>
                <a:cs typeface="Inter"/>
                <a:sym typeface="Inter"/>
              </a:rPr>
              <a:t> we </a:t>
            </a:r>
            <a:r>
              <a:rPr lang="en-GB" sz="935">
                <a:solidFill>
                  <a:srgbClr val="FFFFFF"/>
                </a:solidFill>
                <a:latin typeface="Inter"/>
                <a:ea typeface="Inter"/>
                <a:cs typeface="Inter"/>
                <a:sym typeface="Inter"/>
              </a:rPr>
              <a:t>call  ranker.</a:t>
            </a:r>
            <a:r>
              <a:rPr b="0" lang="en-GB" sz="935">
                <a:solidFill>
                  <a:srgbClr val="FFFFFF"/>
                </a:solidFill>
                <a:latin typeface="Inter"/>
                <a:ea typeface="Inter"/>
                <a:cs typeface="Inter"/>
                <a:sym typeface="Inter"/>
              </a:rPr>
              <a:t>feature_importances_</a:t>
            </a:r>
            <a:r>
              <a:rPr b="0" lang="en-GB" sz="935">
                <a:solidFill>
                  <a:srgbClr val="FFFFFF"/>
                </a:solidFill>
                <a:latin typeface="Inter"/>
                <a:ea typeface="Inter"/>
                <a:cs typeface="Inter"/>
                <a:sym typeface="Inter"/>
              </a:rPr>
              <a:t> attribute </a:t>
            </a:r>
            <a:r>
              <a:rPr lang="en-GB" sz="935">
                <a:solidFill>
                  <a:srgbClr val="FFFFFF"/>
                </a:solidFill>
                <a:latin typeface="Inter"/>
                <a:ea typeface="Inter"/>
                <a:cs typeface="Inter"/>
                <a:sym typeface="Inter"/>
              </a:rPr>
              <a:t>that </a:t>
            </a:r>
            <a:r>
              <a:rPr lang="en-GB" sz="935">
                <a:solidFill>
                  <a:srgbClr val="FFFFFF"/>
                </a:solidFill>
                <a:latin typeface="Inter"/>
                <a:ea typeface="Inter"/>
                <a:cs typeface="Inter"/>
                <a:sym typeface="Inter"/>
              </a:rPr>
              <a:t>returns</a:t>
            </a:r>
            <a:r>
              <a:rPr lang="en-GB" sz="935">
                <a:solidFill>
                  <a:srgbClr val="FFFFFF"/>
                </a:solidFill>
                <a:latin typeface="Inter"/>
                <a:ea typeface="Inter"/>
                <a:cs typeface="Inter"/>
                <a:sym typeface="Inter"/>
              </a:rPr>
              <a:t> array of 2304 </a:t>
            </a:r>
            <a:r>
              <a:rPr lang="en-GB" sz="935">
                <a:solidFill>
                  <a:srgbClr val="FFFFFF"/>
                </a:solidFill>
                <a:latin typeface="Inter"/>
                <a:ea typeface="Inter"/>
                <a:cs typeface="Inter"/>
                <a:sym typeface="Inter"/>
              </a:rPr>
              <a:t>with</a:t>
            </a:r>
            <a:r>
              <a:rPr lang="en-GB" sz="935">
                <a:solidFill>
                  <a:srgbClr val="FFFFFF"/>
                </a:solidFill>
                <a:latin typeface="Inter"/>
                <a:ea typeface="Inter"/>
                <a:cs typeface="Inter"/>
                <a:sym typeface="Inter"/>
              </a:rPr>
              <a:t> score per feature, that score basically ranks the feature on “how useful was this feature in those splits?”</a:t>
            </a:r>
            <a:endParaRPr b="0" sz="935">
              <a:solidFill>
                <a:srgbClr val="FFFFFF"/>
              </a:solidFill>
              <a:latin typeface="Inter"/>
              <a:ea typeface="Inter"/>
              <a:cs typeface="Inter"/>
              <a:sym typeface="Inter"/>
            </a:endParaRPr>
          </a:p>
          <a:p>
            <a:pPr indent="0" lvl="0" marL="0" rtl="0" algn="l">
              <a:spcBef>
                <a:spcPts val="600"/>
              </a:spcBef>
              <a:spcAft>
                <a:spcPts val="0"/>
              </a:spcAft>
              <a:buNone/>
            </a:pPr>
            <a:r>
              <a:rPr b="0" lang="en-GB" sz="935">
                <a:solidFill>
                  <a:srgbClr val="FFFFFF"/>
                </a:solidFill>
                <a:latin typeface="Inter"/>
                <a:ea typeface="Inter"/>
                <a:cs typeface="Inter"/>
                <a:sym typeface="Inter"/>
              </a:rPr>
              <a:t>• </a:t>
            </a:r>
            <a:r>
              <a:rPr b="1" lang="en-GB" sz="935">
                <a:solidFill>
                  <a:srgbClr val="FFFFFF"/>
                </a:solidFill>
                <a:latin typeface="Inter"/>
                <a:ea typeface="Inter"/>
                <a:cs typeface="Inter"/>
                <a:sym typeface="Inter"/>
              </a:rPr>
              <a:t>Selection:</a:t>
            </a:r>
            <a:r>
              <a:rPr b="0" lang="en-GB" sz="935">
                <a:solidFill>
                  <a:srgbClr val="FFFFFF"/>
                </a:solidFill>
                <a:latin typeface="Inter"/>
                <a:ea typeface="Inter"/>
                <a:cs typeface="Inter"/>
                <a:sym typeface="Inter"/>
              </a:rPr>
              <a:t> </a:t>
            </a:r>
            <a:r>
              <a:rPr lang="en-GB" sz="935">
                <a:solidFill>
                  <a:srgbClr val="FFFFFF"/>
                </a:solidFill>
                <a:latin typeface="Inter"/>
                <a:ea typeface="Inter"/>
                <a:cs typeface="Inter"/>
                <a:sym typeface="Inter"/>
              </a:rPr>
              <a:t>We sort it from high to low and take the top K features.</a:t>
            </a:r>
            <a:endParaRPr b="0" sz="935">
              <a:solidFill>
                <a:srgbClr val="FFFFFF"/>
              </a:solidFill>
              <a:latin typeface="Inter"/>
              <a:ea typeface="Inter"/>
              <a:cs typeface="Inter"/>
              <a:sym typeface="Inter"/>
            </a:endParaRPr>
          </a:p>
        </p:txBody>
      </p:sp>
      <p:sp>
        <p:nvSpPr>
          <p:cNvPr id="301" name="Google Shape;301;p15"/>
          <p:cNvSpPr txBox="1"/>
          <p:nvPr/>
        </p:nvSpPr>
        <p:spPr>
          <a:xfrm>
            <a:off x="381000" y="4667250"/>
            <a:ext cx="838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GB" sz="850">
                <a:solidFill>
                  <a:srgbClr val="9CA3AF"/>
                </a:solidFill>
                <a:latin typeface="Inter"/>
                <a:ea typeface="Inter"/>
                <a:cs typeface="Inter"/>
                <a:sym typeface="Inter"/>
              </a:rPr>
              <a:t>Top 384 features are fed into LightGBM after ranking to reduce noise and training latency.</a:t>
            </a:r>
            <a:endParaRPr b="0" i="1" sz="850">
              <a:solidFill>
                <a:srgbClr val="9CA3AF"/>
              </a:solidFill>
              <a:latin typeface="Inter"/>
              <a:ea typeface="Inter"/>
              <a:cs typeface="Inter"/>
              <a:sym typeface="Inter"/>
            </a:endParaRPr>
          </a:p>
        </p:txBody>
      </p:sp>
      <p:pic>
        <p:nvPicPr>
          <p:cNvPr id="302" name="Google Shape;302;p15"/>
          <p:cNvPicPr preferRelativeResize="0"/>
          <p:nvPr/>
        </p:nvPicPr>
        <p:blipFill rotWithShape="1">
          <a:blip r:embed="rId5">
            <a:alphaModFix/>
          </a:blip>
          <a:srcRect b="0" l="0" r="0" t="0"/>
          <a:stretch/>
        </p:blipFill>
        <p:spPr>
          <a:xfrm>
            <a:off x="0" y="0"/>
            <a:ext cx="95400" cy="95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07" name="Shape 307"/>
        <p:cNvGrpSpPr/>
        <p:nvPr/>
      </p:nvGrpSpPr>
      <p:grpSpPr>
        <a:xfrm>
          <a:off x="0" y="0"/>
          <a:ext cx="0" cy="0"/>
          <a:chOff x="0" y="0"/>
          <a:chExt cx="0" cy="0"/>
        </a:xfrm>
      </p:grpSpPr>
      <p:sp>
        <p:nvSpPr>
          <p:cNvPr id="308" name="Google Shape;308;p16"/>
          <p:cNvSpPr/>
          <p:nvPr/>
        </p:nvSpPr>
        <p:spPr>
          <a:xfrm>
            <a:off x="0" y="0"/>
            <a:ext cx="9144000" cy="64008"/>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
          <p:cNvSpPr/>
          <p:nvPr/>
        </p:nvSpPr>
        <p:spPr>
          <a:xfrm>
            <a:off x="411480" y="128016"/>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300"/>
              <a:buFont typeface="Calibri"/>
              <a:buNone/>
            </a:pPr>
            <a:r>
              <a:rPr b="1" i="0" lang="en-GB" sz="2300" u="none" cap="none" strike="noStrike">
                <a:solidFill>
                  <a:srgbClr val="1A1A2E"/>
                </a:solidFill>
                <a:latin typeface="Calibri"/>
                <a:ea typeface="Calibri"/>
                <a:cs typeface="Calibri"/>
                <a:sym typeface="Calibri"/>
              </a:rPr>
              <a:t>ML Pipeline — LightGBM, Optuna &amp; Dynamic FPR Calibration</a:t>
            </a:r>
            <a:endParaRPr b="0" i="0" sz="2300" u="none" cap="none" strike="noStrike">
              <a:solidFill>
                <a:schemeClr val="dk1"/>
              </a:solidFill>
              <a:latin typeface="Calibri"/>
              <a:ea typeface="Calibri"/>
              <a:cs typeface="Calibri"/>
              <a:sym typeface="Calibri"/>
            </a:endParaRPr>
          </a:p>
        </p:txBody>
      </p:sp>
      <p:sp>
        <p:nvSpPr>
          <p:cNvPr id="310" name="Google Shape;310;p16"/>
          <p:cNvSpPr/>
          <p:nvPr/>
        </p:nvSpPr>
        <p:spPr>
          <a:xfrm>
            <a:off x="274320" y="804672"/>
            <a:ext cx="1188720" cy="987552"/>
          </a:xfrm>
          <a:prstGeom prst="rect">
            <a:avLst/>
          </a:prstGeom>
          <a:solidFill>
            <a:srgbClr val="FFFFFF"/>
          </a:solidFill>
          <a:ln cap="flat" cmpd="sng" w="25400">
            <a:solidFill>
              <a:srgbClr val="0F346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6"/>
          <p:cNvSpPr/>
          <p:nvPr/>
        </p:nvSpPr>
        <p:spPr>
          <a:xfrm>
            <a:off x="621792" y="749808"/>
            <a:ext cx="493776" cy="493776"/>
          </a:xfrm>
          <a:prstGeom prst="ellipse">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
          <p:cNvSpPr/>
          <p:nvPr/>
        </p:nvSpPr>
        <p:spPr>
          <a:xfrm>
            <a:off x="621792" y="749808"/>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GB" sz="900" u="none" cap="none" strike="noStrike">
                <a:solidFill>
                  <a:srgbClr val="FFFFFF"/>
                </a:solidFill>
                <a:latin typeface="Calibri"/>
                <a:ea typeface="Calibri"/>
                <a:cs typeface="Calibri"/>
                <a:sym typeface="Calibri"/>
              </a:rPr>
              <a:t>F</a:t>
            </a:r>
            <a:endParaRPr b="0" i="0" sz="900" u="none" cap="none" strike="noStrike">
              <a:solidFill>
                <a:schemeClr val="dk1"/>
              </a:solidFill>
              <a:latin typeface="Calibri"/>
              <a:ea typeface="Calibri"/>
              <a:cs typeface="Calibri"/>
              <a:sym typeface="Calibri"/>
            </a:endParaRPr>
          </a:p>
        </p:txBody>
      </p:sp>
      <p:sp>
        <p:nvSpPr>
          <p:cNvPr id="313" name="Google Shape;313;p16"/>
          <p:cNvSpPr/>
          <p:nvPr/>
        </p:nvSpPr>
        <p:spPr>
          <a:xfrm>
            <a:off x="320040" y="1207008"/>
            <a:ext cx="10972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3460"/>
              </a:buClr>
              <a:buSzPts val="850"/>
              <a:buFont typeface="Calibri"/>
              <a:buNone/>
            </a:pPr>
            <a:r>
              <a:rPr b="1" i="0" lang="en-GB" sz="850" u="none" cap="none" strike="noStrike">
                <a:solidFill>
                  <a:srgbClr val="0F3460"/>
                </a:solidFill>
                <a:latin typeface="Calibri"/>
                <a:ea typeface="Calibri"/>
                <a:cs typeface="Calibri"/>
                <a:sym typeface="Calibri"/>
              </a:rPr>
              <a:t>2304-dim</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3460"/>
              </a:buClr>
              <a:buSzPts val="850"/>
              <a:buFont typeface="Calibri"/>
              <a:buNone/>
            </a:pPr>
            <a:r>
              <a:rPr b="1" i="0" lang="en-GB" sz="850" u="none" cap="none" strike="noStrike">
                <a:solidFill>
                  <a:srgbClr val="0F3460"/>
                </a:solidFill>
                <a:latin typeface="Calibri"/>
                <a:ea typeface="Calibri"/>
                <a:cs typeface="Calibri"/>
                <a:sym typeface="Calibri"/>
              </a:rPr>
              <a:t>Vector</a:t>
            </a:r>
            <a:endParaRPr b="0" i="0" sz="850" u="none" cap="none" strike="noStrike">
              <a:solidFill>
                <a:schemeClr val="dk1"/>
              </a:solidFill>
              <a:latin typeface="Calibri"/>
              <a:ea typeface="Calibri"/>
              <a:cs typeface="Calibri"/>
              <a:sym typeface="Calibri"/>
            </a:endParaRPr>
          </a:p>
        </p:txBody>
      </p:sp>
      <p:cxnSp>
        <p:nvCxnSpPr>
          <p:cNvPr id="314" name="Google Shape;314;p16"/>
          <p:cNvCxnSpPr/>
          <p:nvPr/>
        </p:nvCxnSpPr>
        <p:spPr>
          <a:xfrm>
            <a:off x="1463040" y="1298448"/>
            <a:ext cx="274320" cy="0"/>
          </a:xfrm>
          <a:prstGeom prst="straightConnector1">
            <a:avLst/>
          </a:prstGeom>
          <a:noFill/>
          <a:ln cap="flat" cmpd="sng" w="25400">
            <a:solidFill>
              <a:srgbClr val="D1D5DB"/>
            </a:solidFill>
            <a:prstDash val="solid"/>
            <a:round/>
            <a:headEnd len="sm" w="sm" type="none"/>
            <a:tailEnd len="sm" w="sm" type="none"/>
          </a:ln>
        </p:spPr>
      </p:cxnSp>
      <p:sp>
        <p:nvSpPr>
          <p:cNvPr id="315" name="Google Shape;315;p16"/>
          <p:cNvSpPr/>
          <p:nvPr/>
        </p:nvSpPr>
        <p:spPr>
          <a:xfrm>
            <a:off x="1737360" y="804672"/>
            <a:ext cx="1188720" cy="987552"/>
          </a:xfrm>
          <a:prstGeom prst="rect">
            <a:avLst/>
          </a:prstGeom>
          <a:solidFill>
            <a:srgbClr val="FFFFFF"/>
          </a:solidFill>
          <a:ln cap="flat" cmpd="sng" w="25400">
            <a:solidFill>
              <a:srgbClr val="0F346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6"/>
          <p:cNvSpPr/>
          <p:nvPr/>
        </p:nvSpPr>
        <p:spPr>
          <a:xfrm>
            <a:off x="2084832" y="749808"/>
            <a:ext cx="493776" cy="493776"/>
          </a:xfrm>
          <a:prstGeom prst="ellipse">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6"/>
          <p:cNvSpPr/>
          <p:nvPr/>
        </p:nvSpPr>
        <p:spPr>
          <a:xfrm>
            <a:off x="2084832" y="749808"/>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GB" sz="900" u="none" cap="none" strike="noStrike">
                <a:solidFill>
                  <a:srgbClr val="FFFFFF"/>
                </a:solidFill>
                <a:latin typeface="Calibri"/>
                <a:ea typeface="Calibri"/>
                <a:cs typeface="Calibri"/>
                <a:sym typeface="Calibri"/>
              </a:rPr>
              <a:t>X</a:t>
            </a:r>
            <a:endParaRPr b="0" i="0" sz="900" u="none" cap="none" strike="noStrike">
              <a:solidFill>
                <a:schemeClr val="dk1"/>
              </a:solidFill>
              <a:latin typeface="Calibri"/>
              <a:ea typeface="Calibri"/>
              <a:cs typeface="Calibri"/>
              <a:sym typeface="Calibri"/>
            </a:endParaRPr>
          </a:p>
        </p:txBody>
      </p:sp>
      <p:sp>
        <p:nvSpPr>
          <p:cNvPr id="318" name="Google Shape;318;p16"/>
          <p:cNvSpPr/>
          <p:nvPr/>
        </p:nvSpPr>
        <p:spPr>
          <a:xfrm>
            <a:off x="1783080" y="1207008"/>
            <a:ext cx="10972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3460"/>
              </a:buClr>
              <a:buSzPts val="850"/>
              <a:buFont typeface="Calibri"/>
              <a:buNone/>
            </a:pPr>
            <a:r>
              <a:rPr b="1" i="0" lang="en-GB" sz="850" u="none" cap="none" strike="noStrike">
                <a:solidFill>
                  <a:srgbClr val="0F3460"/>
                </a:solidFill>
                <a:latin typeface="Calibri"/>
                <a:ea typeface="Calibri"/>
                <a:cs typeface="Calibri"/>
                <a:sym typeface="Calibri"/>
              </a:rPr>
              <a:t>XGBoost</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3460"/>
              </a:buClr>
              <a:buSzPts val="850"/>
              <a:buFont typeface="Calibri"/>
              <a:buNone/>
            </a:pPr>
            <a:r>
              <a:rPr b="1" i="0" lang="en-GB" sz="850" u="none" cap="none" strike="noStrike">
                <a:solidFill>
                  <a:srgbClr val="0F3460"/>
                </a:solidFill>
                <a:latin typeface="Calibri"/>
                <a:ea typeface="Calibri"/>
                <a:cs typeface="Calibri"/>
                <a:sym typeface="Calibri"/>
              </a:rPr>
              <a:t>Ranking</a:t>
            </a:r>
            <a:endParaRPr b="0" i="0" sz="850" u="none" cap="none" strike="noStrike">
              <a:solidFill>
                <a:schemeClr val="dk1"/>
              </a:solidFill>
              <a:latin typeface="Calibri"/>
              <a:ea typeface="Calibri"/>
              <a:cs typeface="Calibri"/>
              <a:sym typeface="Calibri"/>
            </a:endParaRPr>
          </a:p>
        </p:txBody>
      </p:sp>
      <p:cxnSp>
        <p:nvCxnSpPr>
          <p:cNvPr id="319" name="Google Shape;319;p16"/>
          <p:cNvCxnSpPr/>
          <p:nvPr/>
        </p:nvCxnSpPr>
        <p:spPr>
          <a:xfrm>
            <a:off x="2926080" y="1298448"/>
            <a:ext cx="274320" cy="0"/>
          </a:xfrm>
          <a:prstGeom prst="straightConnector1">
            <a:avLst/>
          </a:prstGeom>
          <a:noFill/>
          <a:ln cap="flat" cmpd="sng" w="25400">
            <a:solidFill>
              <a:srgbClr val="D1D5DB"/>
            </a:solidFill>
            <a:prstDash val="solid"/>
            <a:round/>
            <a:headEnd len="sm" w="sm" type="none"/>
            <a:tailEnd len="sm" w="sm" type="none"/>
          </a:ln>
        </p:spPr>
      </p:cxnSp>
      <p:sp>
        <p:nvSpPr>
          <p:cNvPr id="320" name="Google Shape;320;p16"/>
          <p:cNvSpPr/>
          <p:nvPr/>
        </p:nvSpPr>
        <p:spPr>
          <a:xfrm>
            <a:off x="3200400" y="804672"/>
            <a:ext cx="1188720" cy="987552"/>
          </a:xfrm>
          <a:prstGeom prst="rect">
            <a:avLst/>
          </a:prstGeom>
          <a:solidFill>
            <a:srgbClr val="FFFFFF"/>
          </a:solidFill>
          <a:ln cap="flat" cmpd="sng" w="25400">
            <a:solidFill>
              <a:srgbClr val="0891B2"/>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
          <p:cNvSpPr/>
          <p:nvPr/>
        </p:nvSpPr>
        <p:spPr>
          <a:xfrm>
            <a:off x="3547872" y="749808"/>
            <a:ext cx="493776" cy="493776"/>
          </a:xfrm>
          <a:prstGeom prst="ellipse">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p:nvPr/>
        </p:nvSpPr>
        <p:spPr>
          <a:xfrm>
            <a:off x="3547872" y="749808"/>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GB" sz="900" u="none" cap="none" strike="noStrike">
                <a:solidFill>
                  <a:srgbClr val="FFFFFF"/>
                </a:solidFill>
                <a:latin typeface="Calibri"/>
                <a:ea typeface="Calibri"/>
                <a:cs typeface="Calibri"/>
                <a:sym typeface="Calibri"/>
              </a:rPr>
              <a:t>384</a:t>
            </a:r>
            <a:endParaRPr b="0" i="0" sz="900" u="none" cap="none" strike="noStrike">
              <a:solidFill>
                <a:schemeClr val="dk1"/>
              </a:solidFill>
              <a:latin typeface="Calibri"/>
              <a:ea typeface="Calibri"/>
              <a:cs typeface="Calibri"/>
              <a:sym typeface="Calibri"/>
            </a:endParaRPr>
          </a:p>
        </p:txBody>
      </p:sp>
      <p:sp>
        <p:nvSpPr>
          <p:cNvPr id="323" name="Google Shape;323;p16"/>
          <p:cNvSpPr/>
          <p:nvPr/>
        </p:nvSpPr>
        <p:spPr>
          <a:xfrm>
            <a:off x="3246120" y="1207008"/>
            <a:ext cx="10972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50"/>
              <a:buFont typeface="Calibri"/>
              <a:buNone/>
            </a:pPr>
            <a:r>
              <a:rPr b="1" i="0" lang="en-GB" sz="850" u="none" cap="none" strike="noStrike">
                <a:solidFill>
                  <a:srgbClr val="0891B2"/>
                </a:solidFill>
                <a:latin typeface="Calibri"/>
                <a:ea typeface="Calibri"/>
                <a:cs typeface="Calibri"/>
                <a:sym typeface="Calibri"/>
              </a:rPr>
              <a:t>Top 384</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891B2"/>
              </a:buClr>
              <a:buSzPts val="850"/>
              <a:buFont typeface="Calibri"/>
              <a:buNone/>
            </a:pPr>
            <a:r>
              <a:rPr b="1" i="0" lang="en-GB" sz="850" u="none" cap="none" strike="noStrike">
                <a:solidFill>
                  <a:srgbClr val="0891B2"/>
                </a:solidFill>
                <a:latin typeface="Calibri"/>
                <a:ea typeface="Calibri"/>
                <a:cs typeface="Calibri"/>
                <a:sym typeface="Calibri"/>
              </a:rPr>
              <a:t>Dims</a:t>
            </a:r>
            <a:endParaRPr b="0" i="0" sz="850" u="none" cap="none" strike="noStrike">
              <a:solidFill>
                <a:schemeClr val="dk1"/>
              </a:solidFill>
              <a:latin typeface="Calibri"/>
              <a:ea typeface="Calibri"/>
              <a:cs typeface="Calibri"/>
              <a:sym typeface="Calibri"/>
            </a:endParaRPr>
          </a:p>
        </p:txBody>
      </p:sp>
      <p:cxnSp>
        <p:nvCxnSpPr>
          <p:cNvPr id="324" name="Google Shape;324;p16"/>
          <p:cNvCxnSpPr/>
          <p:nvPr/>
        </p:nvCxnSpPr>
        <p:spPr>
          <a:xfrm>
            <a:off x="4389120" y="1298448"/>
            <a:ext cx="274320" cy="0"/>
          </a:xfrm>
          <a:prstGeom prst="straightConnector1">
            <a:avLst/>
          </a:prstGeom>
          <a:noFill/>
          <a:ln cap="flat" cmpd="sng" w="25400">
            <a:solidFill>
              <a:srgbClr val="D1D5DB"/>
            </a:solidFill>
            <a:prstDash val="solid"/>
            <a:round/>
            <a:headEnd len="sm" w="sm" type="none"/>
            <a:tailEnd len="sm" w="sm" type="none"/>
          </a:ln>
        </p:spPr>
      </p:cxnSp>
      <p:sp>
        <p:nvSpPr>
          <p:cNvPr id="325" name="Google Shape;325;p16"/>
          <p:cNvSpPr/>
          <p:nvPr/>
        </p:nvSpPr>
        <p:spPr>
          <a:xfrm>
            <a:off x="4663440" y="804672"/>
            <a:ext cx="1188720" cy="987552"/>
          </a:xfrm>
          <a:prstGeom prst="rect">
            <a:avLst/>
          </a:prstGeom>
          <a:solidFill>
            <a:srgbClr val="FFFFFF"/>
          </a:solidFill>
          <a:ln cap="flat" cmpd="sng" w="25400">
            <a:solidFill>
              <a:srgbClr val="6B21A8"/>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5010912" y="749808"/>
            <a:ext cx="493776" cy="493776"/>
          </a:xfrm>
          <a:prstGeom prst="ellipse">
            <a:avLst/>
          </a:prstGeom>
          <a:solidFill>
            <a:srgbClr val="6B21A8"/>
          </a:solidFill>
          <a:ln cap="flat" cmpd="sng" w="12700">
            <a:solidFill>
              <a:srgbClr val="6B2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a:off x="5010912" y="749808"/>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GB" sz="900" u="none" cap="none" strike="noStrike">
                <a:solidFill>
                  <a:srgbClr val="FFFFFF"/>
                </a:solidFill>
                <a:latin typeface="Calibri"/>
                <a:ea typeface="Calibri"/>
                <a:cs typeface="Calibri"/>
                <a:sym typeface="Calibri"/>
              </a:rPr>
              <a:t>O</a:t>
            </a:r>
            <a:endParaRPr b="0" i="0" sz="900" u="none" cap="none" strike="noStrike">
              <a:solidFill>
                <a:schemeClr val="dk1"/>
              </a:solidFill>
              <a:latin typeface="Calibri"/>
              <a:ea typeface="Calibri"/>
              <a:cs typeface="Calibri"/>
              <a:sym typeface="Calibri"/>
            </a:endParaRPr>
          </a:p>
        </p:txBody>
      </p:sp>
      <p:sp>
        <p:nvSpPr>
          <p:cNvPr id="328" name="Google Shape;328;p16"/>
          <p:cNvSpPr/>
          <p:nvPr/>
        </p:nvSpPr>
        <p:spPr>
          <a:xfrm>
            <a:off x="4709160" y="1207008"/>
            <a:ext cx="10972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21A8"/>
              </a:buClr>
              <a:buSzPts val="850"/>
              <a:buFont typeface="Calibri"/>
              <a:buNone/>
            </a:pPr>
            <a:r>
              <a:rPr b="1" i="0" lang="en-GB" sz="850" u="none" cap="none" strike="noStrike">
                <a:solidFill>
                  <a:srgbClr val="6B21A8"/>
                </a:solidFill>
                <a:latin typeface="Calibri"/>
                <a:ea typeface="Calibri"/>
                <a:cs typeface="Calibri"/>
                <a:sym typeface="Calibri"/>
              </a:rPr>
              <a:t>Optuna</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21A8"/>
              </a:buClr>
              <a:buSzPts val="850"/>
              <a:buFont typeface="Calibri"/>
              <a:buNone/>
            </a:pPr>
            <a:r>
              <a:rPr b="1" i="0" lang="en-GB" sz="850" u="none" cap="none" strike="noStrike">
                <a:solidFill>
                  <a:srgbClr val="6B21A8"/>
                </a:solidFill>
                <a:latin typeface="Calibri"/>
                <a:ea typeface="Calibri"/>
                <a:cs typeface="Calibri"/>
                <a:sym typeface="Calibri"/>
              </a:rPr>
              <a:t>25 Trials</a:t>
            </a:r>
            <a:endParaRPr b="0" i="0" sz="850" u="none" cap="none" strike="noStrike">
              <a:solidFill>
                <a:schemeClr val="dk1"/>
              </a:solidFill>
              <a:latin typeface="Calibri"/>
              <a:ea typeface="Calibri"/>
              <a:cs typeface="Calibri"/>
              <a:sym typeface="Calibri"/>
            </a:endParaRPr>
          </a:p>
        </p:txBody>
      </p:sp>
      <p:cxnSp>
        <p:nvCxnSpPr>
          <p:cNvPr id="329" name="Google Shape;329;p16"/>
          <p:cNvCxnSpPr/>
          <p:nvPr/>
        </p:nvCxnSpPr>
        <p:spPr>
          <a:xfrm>
            <a:off x="5852160" y="1298448"/>
            <a:ext cx="274320" cy="0"/>
          </a:xfrm>
          <a:prstGeom prst="straightConnector1">
            <a:avLst/>
          </a:prstGeom>
          <a:noFill/>
          <a:ln cap="flat" cmpd="sng" w="25400">
            <a:solidFill>
              <a:srgbClr val="D1D5DB"/>
            </a:solidFill>
            <a:prstDash val="solid"/>
            <a:round/>
            <a:headEnd len="sm" w="sm" type="none"/>
            <a:tailEnd len="sm" w="sm" type="none"/>
          </a:ln>
        </p:spPr>
      </p:cxnSp>
      <p:sp>
        <p:nvSpPr>
          <p:cNvPr id="330" name="Google Shape;330;p16"/>
          <p:cNvSpPr/>
          <p:nvPr/>
        </p:nvSpPr>
        <p:spPr>
          <a:xfrm>
            <a:off x="6126480" y="804672"/>
            <a:ext cx="1188720" cy="987552"/>
          </a:xfrm>
          <a:prstGeom prst="rect">
            <a:avLst/>
          </a:prstGeom>
          <a:solidFill>
            <a:srgbClr val="FFFFFF"/>
          </a:solidFill>
          <a:ln cap="flat" cmpd="sng" w="25400">
            <a:solidFill>
              <a:srgbClr val="E9456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a:off x="6473952" y="749808"/>
            <a:ext cx="493776" cy="493776"/>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p:nvPr/>
        </p:nvSpPr>
        <p:spPr>
          <a:xfrm>
            <a:off x="6473952" y="749808"/>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GB" sz="900" u="none" cap="none" strike="noStrike">
                <a:solidFill>
                  <a:srgbClr val="FFFFFF"/>
                </a:solidFill>
                <a:latin typeface="Calibri"/>
                <a:ea typeface="Calibri"/>
                <a:cs typeface="Calibri"/>
                <a:sym typeface="Calibri"/>
              </a:rPr>
              <a:t>L</a:t>
            </a:r>
            <a:endParaRPr b="0" i="0" sz="900" u="none" cap="none" strike="noStrike">
              <a:solidFill>
                <a:schemeClr val="dk1"/>
              </a:solidFill>
              <a:latin typeface="Calibri"/>
              <a:ea typeface="Calibri"/>
              <a:cs typeface="Calibri"/>
              <a:sym typeface="Calibri"/>
            </a:endParaRPr>
          </a:p>
        </p:txBody>
      </p:sp>
      <p:sp>
        <p:nvSpPr>
          <p:cNvPr id="333" name="Google Shape;333;p16"/>
          <p:cNvSpPr/>
          <p:nvPr/>
        </p:nvSpPr>
        <p:spPr>
          <a:xfrm>
            <a:off x="6172200" y="1207008"/>
            <a:ext cx="10972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4560"/>
              </a:buClr>
              <a:buSzPts val="850"/>
              <a:buFont typeface="Calibri"/>
              <a:buNone/>
            </a:pPr>
            <a:r>
              <a:rPr b="1" i="0" lang="en-GB" sz="850" u="none" cap="none" strike="noStrike">
                <a:solidFill>
                  <a:srgbClr val="E94560"/>
                </a:solidFill>
                <a:latin typeface="Calibri"/>
                <a:ea typeface="Calibri"/>
                <a:cs typeface="Calibri"/>
                <a:sym typeface="Calibri"/>
              </a:rPr>
              <a:t>LightGBM</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94560"/>
              </a:buClr>
              <a:buSzPts val="850"/>
              <a:buFont typeface="Calibri"/>
              <a:buNone/>
            </a:pPr>
            <a:r>
              <a:rPr b="1" i="0" lang="en-GB" sz="850" u="none" cap="none" strike="noStrike">
                <a:solidFill>
                  <a:srgbClr val="E94560"/>
                </a:solidFill>
                <a:latin typeface="Calibri"/>
                <a:ea typeface="Calibri"/>
                <a:cs typeface="Calibri"/>
                <a:sym typeface="Calibri"/>
              </a:rPr>
              <a:t>Classifier</a:t>
            </a:r>
            <a:endParaRPr b="0" i="0" sz="850" u="none" cap="none" strike="noStrike">
              <a:solidFill>
                <a:schemeClr val="dk1"/>
              </a:solidFill>
              <a:latin typeface="Calibri"/>
              <a:ea typeface="Calibri"/>
              <a:cs typeface="Calibri"/>
              <a:sym typeface="Calibri"/>
            </a:endParaRPr>
          </a:p>
        </p:txBody>
      </p:sp>
      <p:cxnSp>
        <p:nvCxnSpPr>
          <p:cNvPr id="334" name="Google Shape;334;p16"/>
          <p:cNvCxnSpPr/>
          <p:nvPr/>
        </p:nvCxnSpPr>
        <p:spPr>
          <a:xfrm>
            <a:off x="7315200" y="1298448"/>
            <a:ext cx="274320" cy="0"/>
          </a:xfrm>
          <a:prstGeom prst="straightConnector1">
            <a:avLst/>
          </a:prstGeom>
          <a:noFill/>
          <a:ln cap="flat" cmpd="sng" w="25400">
            <a:solidFill>
              <a:srgbClr val="D1D5DB"/>
            </a:solidFill>
            <a:prstDash val="solid"/>
            <a:round/>
            <a:headEnd len="sm" w="sm" type="none"/>
            <a:tailEnd len="sm" w="sm" type="none"/>
          </a:ln>
        </p:spPr>
      </p:cxnSp>
      <p:sp>
        <p:nvSpPr>
          <p:cNvPr id="335" name="Google Shape;335;p16"/>
          <p:cNvSpPr/>
          <p:nvPr/>
        </p:nvSpPr>
        <p:spPr>
          <a:xfrm>
            <a:off x="7589520" y="804672"/>
            <a:ext cx="1188720" cy="987552"/>
          </a:xfrm>
          <a:prstGeom prst="rect">
            <a:avLst/>
          </a:prstGeom>
          <a:solidFill>
            <a:srgbClr val="FFFFFF"/>
          </a:solidFill>
          <a:ln cap="flat" cmpd="sng" w="25400">
            <a:solidFill>
              <a:srgbClr val="0D9488"/>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a:off x="7936992" y="749808"/>
            <a:ext cx="493776" cy="493776"/>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
          <p:cNvSpPr/>
          <p:nvPr/>
        </p:nvSpPr>
        <p:spPr>
          <a:xfrm>
            <a:off x="7936992" y="749808"/>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GB" sz="900" u="none" cap="none" strike="noStrike">
                <a:solidFill>
                  <a:srgbClr val="FFFFFF"/>
                </a:solidFill>
                <a:latin typeface="Calibri"/>
                <a:ea typeface="Calibri"/>
                <a:cs typeface="Calibri"/>
                <a:sym typeface="Calibri"/>
              </a:rPr>
              <a:t>τ</a:t>
            </a:r>
            <a:endParaRPr b="0" i="0" sz="900" u="none" cap="none" strike="noStrike">
              <a:solidFill>
                <a:schemeClr val="dk1"/>
              </a:solidFill>
              <a:latin typeface="Calibri"/>
              <a:ea typeface="Calibri"/>
              <a:cs typeface="Calibri"/>
              <a:sym typeface="Calibri"/>
            </a:endParaRPr>
          </a:p>
        </p:txBody>
      </p:sp>
      <p:sp>
        <p:nvSpPr>
          <p:cNvPr id="338" name="Google Shape;338;p16"/>
          <p:cNvSpPr/>
          <p:nvPr/>
        </p:nvSpPr>
        <p:spPr>
          <a:xfrm>
            <a:off x="7635240" y="1207008"/>
            <a:ext cx="10972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850"/>
              <a:buFont typeface="Calibri"/>
              <a:buNone/>
            </a:pPr>
            <a:r>
              <a:rPr b="1" i="0" lang="en-GB" sz="850" u="none" cap="none" strike="noStrike">
                <a:solidFill>
                  <a:srgbClr val="0D9488"/>
                </a:solidFill>
                <a:latin typeface="Calibri"/>
                <a:ea typeface="Calibri"/>
                <a:cs typeface="Calibri"/>
                <a:sym typeface="Calibri"/>
              </a:rPr>
              <a:t>Threshold</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D9488"/>
              </a:buClr>
              <a:buSzPts val="850"/>
              <a:buFont typeface="Calibri"/>
              <a:buNone/>
            </a:pPr>
            <a:r>
              <a:rPr b="1" i="0" lang="en-GB" sz="850" u="none" cap="none" strike="noStrike">
                <a:solidFill>
                  <a:srgbClr val="0D9488"/>
                </a:solidFill>
                <a:latin typeface="Calibri"/>
                <a:ea typeface="Calibri"/>
                <a:cs typeface="Calibri"/>
                <a:sym typeface="Calibri"/>
              </a:rPr>
              <a:t>τ Calibrate</a:t>
            </a:r>
            <a:endParaRPr b="0" i="0" sz="850" u="none" cap="none" strike="noStrike">
              <a:solidFill>
                <a:schemeClr val="dk1"/>
              </a:solidFill>
              <a:latin typeface="Calibri"/>
              <a:ea typeface="Calibri"/>
              <a:cs typeface="Calibri"/>
              <a:sym typeface="Calibri"/>
            </a:endParaRPr>
          </a:p>
        </p:txBody>
      </p:sp>
      <p:sp>
        <p:nvSpPr>
          <p:cNvPr id="339" name="Google Shape;339;p16"/>
          <p:cNvSpPr/>
          <p:nvPr/>
        </p:nvSpPr>
        <p:spPr>
          <a:xfrm>
            <a:off x="274320" y="1920240"/>
            <a:ext cx="8595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Calibri"/>
              <a:buNone/>
            </a:pPr>
            <a:r>
              <a:rPr b="1" i="0" lang="en-GB" sz="1200" u="none" cap="none" strike="noStrike">
                <a:solidFill>
                  <a:srgbClr val="1A1A2E"/>
                </a:solidFill>
                <a:latin typeface="Calibri"/>
                <a:ea typeface="Calibri"/>
                <a:cs typeface="Calibri"/>
                <a:sym typeface="Calibri"/>
              </a:rPr>
              <a:t>Dynamic FPR Target — tightens automatically as the benign corpus grows:</a:t>
            </a:r>
            <a:endParaRPr b="0" i="0" sz="1200" u="none" cap="none" strike="noStrike">
              <a:solidFill>
                <a:schemeClr val="dk1"/>
              </a:solidFill>
              <a:latin typeface="Calibri"/>
              <a:ea typeface="Calibri"/>
              <a:cs typeface="Calibri"/>
              <a:sym typeface="Calibri"/>
            </a:endParaRPr>
          </a:p>
        </p:txBody>
      </p:sp>
      <p:graphicFrame>
        <p:nvGraphicFramePr>
          <p:cNvPr id="340" name="Google Shape;340;p16"/>
          <p:cNvGraphicFramePr/>
          <p:nvPr/>
        </p:nvGraphicFramePr>
        <p:xfrm>
          <a:off x="274320" y="2359152"/>
          <a:ext cx="3000000" cy="3000000"/>
        </p:xfrm>
        <a:graphic>
          <a:graphicData uri="http://schemas.openxmlformats.org/drawingml/2006/table">
            <a:tbl>
              <a:tblPr>
                <a:noFill/>
                <a:tableStyleId>{FF488EA3-85B3-4B72-9505-CE827A8DE694}</a:tableStyleId>
              </a:tblPr>
              <a:tblGrid>
                <a:gridCol w="2011675"/>
                <a:gridCol w="1371600"/>
                <a:gridCol w="1645925"/>
                <a:gridCol w="3566150"/>
              </a:tblGrid>
              <a:tr h="370325">
                <a:tc>
                  <a:txBody>
                    <a:bodyPr/>
                    <a:lstStyle/>
                    <a:p>
                      <a:pPr indent="0" lvl="0" marL="0" marR="0" rtl="0" algn="l">
                        <a:spcBef>
                          <a:spcPts val="0"/>
                        </a:spcBef>
                        <a:spcAft>
                          <a:spcPts val="0"/>
                        </a:spcAft>
                        <a:buClr>
                          <a:srgbClr val="FFFFFF"/>
                        </a:buClr>
                        <a:buSzPts val="1050"/>
                        <a:buFont typeface="Calibri"/>
                        <a:buNone/>
                      </a:pPr>
                      <a:r>
                        <a:rPr b="1" lang="en-GB" sz="1050" u="none" cap="none" strike="noStrike">
                          <a:solidFill>
                            <a:srgbClr val="FFFFFF"/>
                          </a:solidFill>
                        </a:rPr>
                        <a:t>Corpus Size</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F3460"/>
                    </a:solidFill>
                  </a:tcPr>
                </a:tc>
                <a:tc>
                  <a:txBody>
                    <a:bodyPr/>
                    <a:lstStyle/>
                    <a:p>
                      <a:pPr indent="0" lvl="0" marL="0" marR="0" rtl="0" algn="l">
                        <a:spcBef>
                          <a:spcPts val="0"/>
                        </a:spcBef>
                        <a:spcAft>
                          <a:spcPts val="0"/>
                        </a:spcAft>
                        <a:buClr>
                          <a:srgbClr val="FFFFFF"/>
                        </a:buClr>
                        <a:buSzPts val="1050"/>
                        <a:buFont typeface="Calibri"/>
                        <a:buNone/>
                      </a:pPr>
                      <a:r>
                        <a:rPr b="1" lang="en-GB" sz="1050" u="none" cap="none" strike="noStrike">
                          <a:solidFill>
                            <a:srgbClr val="FFFFFF"/>
                          </a:solidFill>
                        </a:rPr>
                        <a:t>FPR Target</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F3460"/>
                    </a:solidFill>
                  </a:tcPr>
                </a:tc>
                <a:tc>
                  <a:txBody>
                    <a:bodyPr/>
                    <a:lstStyle/>
                    <a:p>
                      <a:pPr indent="0" lvl="0" marL="0" marR="0" rtl="0" algn="l">
                        <a:spcBef>
                          <a:spcPts val="0"/>
                        </a:spcBef>
                        <a:spcAft>
                          <a:spcPts val="0"/>
                        </a:spcAft>
                        <a:buClr>
                          <a:srgbClr val="FFFFFF"/>
                        </a:buClr>
                        <a:buSzPts val="1050"/>
                        <a:buFont typeface="Calibri"/>
                        <a:buNone/>
                      </a:pPr>
                      <a:r>
                        <a:rPr b="1" lang="en-GB" sz="1050" u="none" cap="none" strike="noStrike">
                          <a:solidFill>
                            <a:srgbClr val="FFFFFF"/>
                          </a:solidFill>
                        </a:rPr>
                        <a:t>Phase</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F3460"/>
                    </a:solidFill>
                  </a:tcPr>
                </a:tc>
                <a:tc>
                  <a:txBody>
                    <a:bodyPr/>
                    <a:lstStyle/>
                    <a:p>
                      <a:pPr indent="0" lvl="0" marL="0" marR="0" rtl="0" algn="l">
                        <a:spcBef>
                          <a:spcPts val="0"/>
                        </a:spcBef>
                        <a:spcAft>
                          <a:spcPts val="0"/>
                        </a:spcAft>
                        <a:buClr>
                          <a:srgbClr val="FFFFFF"/>
                        </a:buClr>
                        <a:buSzPts val="1050"/>
                        <a:buFont typeface="Calibri"/>
                        <a:buNone/>
                      </a:pPr>
                      <a:r>
                        <a:rPr b="1" lang="en-GB" sz="1050" u="none" cap="none" strike="noStrike">
                          <a:solidFill>
                            <a:srgbClr val="FFFFFF"/>
                          </a:solidFill>
                        </a:rPr>
                        <a:t>Rationale</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F3460"/>
                    </a:solidFill>
                  </a:tcPr>
                </a:tc>
              </a:tr>
              <a:tr h="370325">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&lt; 1,000 benign</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 5%</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Bootstrap</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Relaxed — low data, model still stabilizing</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370325">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1,000 – 4,999</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 1%</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Growth</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Tightening as benign coverage improves</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370325">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 5,000 benign</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 0.1%</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Calibri"/>
                        <a:buNone/>
                      </a:pPr>
                      <a:r>
                        <a:rPr lang="en-GB" sz="1050" u="none" cap="none" strike="noStrike">
                          <a:solidFill>
                            <a:srgbClr val="000000"/>
                          </a:solidFill>
                        </a:rPr>
                        <a:t>Production</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Calibri"/>
                        <a:buNone/>
                      </a:pPr>
                      <a:r>
                        <a:rPr lang="en-GB" sz="1050"/>
                        <a:t>M</a:t>
                      </a:r>
                      <a:r>
                        <a:rPr lang="en-GB" sz="1050" u="none" cap="none" strike="noStrike">
                          <a:solidFill>
                            <a:srgbClr val="000000"/>
                          </a:solidFill>
                        </a:rPr>
                        <a:t>inimizes analyst alert fatigue</a:t>
                      </a:r>
                      <a:endParaRPr sz="1050" u="none" cap="none" strike="noStrike"/>
                    </a:p>
                  </a:txBody>
                  <a:tcPr marT="45725" marB="45725"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bl>
          </a:graphicData>
        </a:graphic>
      </p:graphicFrame>
      <p:sp>
        <p:nvSpPr>
          <p:cNvPr id="341" name="Google Shape;341;p16"/>
          <p:cNvSpPr/>
          <p:nvPr/>
        </p:nvSpPr>
        <p:spPr>
          <a:xfrm>
            <a:off x="274320" y="3959352"/>
            <a:ext cx="8595360" cy="978408"/>
          </a:xfrm>
          <a:prstGeom prst="rect">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6"/>
          <p:cNvSpPr/>
          <p:nvPr/>
        </p:nvSpPr>
        <p:spPr>
          <a:xfrm>
            <a:off x="457200" y="4005072"/>
            <a:ext cx="8229600" cy="8869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4560"/>
              </a:buClr>
              <a:buSzPts val="1050"/>
              <a:buFont typeface="Calibri"/>
              <a:buNone/>
            </a:pPr>
            <a:r>
              <a:rPr b="1" i="0" lang="en-GB" sz="1050" u="none" cap="none" strike="noStrike">
                <a:solidFill>
                  <a:srgbClr val="E94560"/>
                </a:solidFill>
                <a:latin typeface="Calibri"/>
                <a:ea typeface="Calibri"/>
                <a:cs typeface="Calibri"/>
                <a:sym typeface="Calibri"/>
              </a:rPr>
              <a:t>Why FPR matters: </a:t>
            </a:r>
            <a:r>
              <a:rPr b="0" i="0" lang="en-GB" sz="1050" u="none" cap="none" strike="noStrike">
                <a:solidFill>
                  <a:srgbClr val="1A1A2E"/>
                </a:solidFill>
                <a:latin typeface="Calibri"/>
                <a:ea typeface="Calibri"/>
                <a:cs typeface="Calibri"/>
                <a:sym typeface="Calibri"/>
              </a:rPr>
              <a:t>False positives burn analyst time. AMD-Agent calibrates threshold τ on the validation split after every Optuna session. FN spikes from novel packing routines are absorbed by MADAR retraining without violating the FPR ceiling.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7"/>
          <p:cNvSpPr txBox="1"/>
          <p:nvPr/>
        </p:nvSpPr>
        <p:spPr>
          <a:xfrm>
            <a:off x="989850" y="1848125"/>
            <a:ext cx="71643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4600"/>
              <a:t>Continual Learning Loop</a:t>
            </a:r>
            <a:endParaRPr b="1" sz="4600"/>
          </a:p>
        </p:txBody>
      </p:sp>
      <p:sp>
        <p:nvSpPr>
          <p:cNvPr id="348" name="Google Shape;348;p17"/>
          <p:cNvSpPr/>
          <p:nvPr/>
        </p:nvSpPr>
        <p:spPr>
          <a:xfrm>
            <a:off x="0" y="0"/>
            <a:ext cx="9144000" cy="666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52" name="Shape 352"/>
        <p:cNvGrpSpPr/>
        <p:nvPr/>
      </p:nvGrpSpPr>
      <p:grpSpPr>
        <a:xfrm>
          <a:off x="0" y="0"/>
          <a:ext cx="0" cy="0"/>
          <a:chOff x="0" y="0"/>
          <a:chExt cx="0" cy="0"/>
        </a:xfrm>
      </p:grpSpPr>
      <p:sp>
        <p:nvSpPr>
          <p:cNvPr id="353" name="Google Shape;353;p18"/>
          <p:cNvSpPr/>
          <p:nvPr/>
        </p:nvSpPr>
        <p:spPr>
          <a:xfrm>
            <a:off x="0" y="0"/>
            <a:ext cx="9144000" cy="666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18"/>
          <p:cNvSpPr txBox="1"/>
          <p:nvPr/>
        </p:nvSpPr>
        <p:spPr>
          <a:xfrm>
            <a:off x="381000" y="285750"/>
            <a:ext cx="8382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600">
                <a:solidFill>
                  <a:srgbClr val="1A1A2E"/>
                </a:solidFill>
                <a:latin typeface="Calibri"/>
                <a:ea typeface="Calibri"/>
                <a:cs typeface="Calibri"/>
                <a:sym typeface="Calibri"/>
              </a:rPr>
              <a:t>Phase 1: Cold Start - Building the First Detector</a:t>
            </a:r>
            <a:endParaRPr b="1" sz="2600">
              <a:solidFill>
                <a:srgbClr val="1A1A2E"/>
              </a:solidFill>
              <a:latin typeface="Calibri"/>
              <a:ea typeface="Calibri"/>
              <a:cs typeface="Calibri"/>
              <a:sym typeface="Calibri"/>
            </a:endParaRPr>
          </a:p>
        </p:txBody>
      </p:sp>
      <p:grpSp>
        <p:nvGrpSpPr>
          <p:cNvPr id="355" name="Google Shape;355;p18"/>
          <p:cNvGrpSpPr/>
          <p:nvPr/>
        </p:nvGrpSpPr>
        <p:grpSpPr>
          <a:xfrm>
            <a:off x="6843600" y="2412538"/>
            <a:ext cx="2067168" cy="2199276"/>
            <a:chOff x="-4762" y="-4762"/>
            <a:chExt cx="3819600" cy="1152600"/>
          </a:xfrm>
        </p:grpSpPr>
        <p:pic>
          <p:nvPicPr>
            <p:cNvPr id="356" name="Google Shape;356;p18"/>
            <p:cNvPicPr preferRelativeResize="0"/>
            <p:nvPr/>
          </p:nvPicPr>
          <p:blipFill rotWithShape="1">
            <a:blip r:embed="rId3">
              <a:alphaModFix/>
            </a:blip>
            <a:srcRect b="0" l="0" r="0" t="0"/>
            <a:stretch/>
          </p:blipFill>
          <p:spPr>
            <a:xfrm>
              <a:off x="-4762" y="-4762"/>
              <a:ext cx="3819600" cy="1152600"/>
            </a:xfrm>
            <a:prstGeom prst="rect">
              <a:avLst/>
            </a:prstGeom>
            <a:noFill/>
            <a:ln>
              <a:noFill/>
            </a:ln>
          </p:spPr>
        </p:pic>
        <p:sp>
          <p:nvSpPr>
            <p:cNvPr id="357" name="Google Shape;357;p18"/>
            <p:cNvSpPr txBox="1"/>
            <p:nvPr/>
          </p:nvSpPr>
          <p:spPr>
            <a:xfrm>
              <a:off x="142875" y="142875"/>
              <a:ext cx="3524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300">
                  <a:solidFill>
                    <a:srgbClr val="0F766E"/>
                  </a:solidFill>
                  <a:latin typeface="Calibri"/>
                  <a:ea typeface="Calibri"/>
                  <a:cs typeface="Calibri"/>
                  <a:sym typeface="Calibri"/>
                </a:rPr>
                <a:t>The "Fair Mix" Requirement:</a:t>
              </a:r>
              <a:endParaRPr b="0" sz="1300">
                <a:solidFill>
                  <a:srgbClr val="0F766E"/>
                </a:solidFill>
                <a:latin typeface="Calibri"/>
                <a:ea typeface="Calibri"/>
                <a:cs typeface="Calibri"/>
                <a:sym typeface="Calibri"/>
              </a:endParaRPr>
            </a:p>
            <a:p>
              <a:pPr indent="0" lvl="0" marL="0" rtl="0" algn="l">
                <a:spcBef>
                  <a:spcPts val="375"/>
                </a:spcBef>
                <a:spcAft>
                  <a:spcPts val="0"/>
                </a:spcAft>
                <a:buNone/>
              </a:pPr>
              <a:r>
                <a:rPr b="0" lang="en-GB" sz="1300">
                  <a:solidFill>
                    <a:srgbClr val="0F766E"/>
                  </a:solidFill>
                  <a:latin typeface="Calibri"/>
                  <a:ea typeface="Calibri"/>
                  <a:cs typeface="Calibri"/>
                  <a:sym typeface="Calibri"/>
                </a:rPr>
                <a:t>By enforcing strict stratification during the Cold Start, we ensure the baseline model doesn't learn from a skewed pile, preventing initial bias before transitioning to "Steady" mode.</a:t>
              </a:r>
              <a:endParaRPr b="0" sz="1300">
                <a:solidFill>
                  <a:srgbClr val="0F766E"/>
                </a:solidFill>
                <a:latin typeface="Calibri"/>
                <a:ea typeface="Calibri"/>
                <a:cs typeface="Calibri"/>
                <a:sym typeface="Calibri"/>
              </a:endParaRPr>
            </a:p>
          </p:txBody>
        </p:sp>
      </p:grpSp>
      <p:sp>
        <p:nvSpPr>
          <p:cNvPr id="358" name="Google Shape;358;p18"/>
          <p:cNvSpPr txBox="1"/>
          <p:nvPr/>
        </p:nvSpPr>
        <p:spPr>
          <a:xfrm>
            <a:off x="381000" y="4762500"/>
            <a:ext cx="8382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GB" sz="900">
                <a:solidFill>
                  <a:srgbClr val="4B5563"/>
                </a:solidFill>
                <a:latin typeface="Calibri"/>
                <a:ea typeface="Calibri"/>
                <a:cs typeface="Calibri"/>
                <a:sym typeface="Calibri"/>
              </a:rPr>
              <a:t>System State: --bootstrap | Module: classifier_inference | Objective: Establish reliable performance floor</a:t>
            </a:r>
            <a:endParaRPr b="0" i="1" sz="900">
              <a:solidFill>
                <a:srgbClr val="4B5563"/>
              </a:solidFill>
              <a:latin typeface="Calibri"/>
              <a:ea typeface="Calibri"/>
              <a:cs typeface="Calibri"/>
              <a:sym typeface="Calibri"/>
            </a:endParaRPr>
          </a:p>
        </p:txBody>
      </p:sp>
      <p:sp>
        <p:nvSpPr>
          <p:cNvPr id="359" name="Google Shape;359;p18"/>
          <p:cNvSpPr txBox="1"/>
          <p:nvPr/>
        </p:nvSpPr>
        <p:spPr>
          <a:xfrm>
            <a:off x="381000" y="762150"/>
            <a:ext cx="7995000" cy="149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1"/>
                </a:solidFill>
              </a:rPr>
              <a:t>What type of problem are we solving?</a:t>
            </a:r>
            <a:endParaRPr b="1" sz="1600">
              <a:solidFill>
                <a:schemeClr val="dk1"/>
              </a:solidFill>
            </a:endParaRPr>
          </a:p>
          <a:p>
            <a:pPr indent="0" lvl="0" marL="0" rtl="0" algn="l">
              <a:spcBef>
                <a:spcPts val="0"/>
              </a:spcBef>
              <a:spcAft>
                <a:spcPts val="0"/>
              </a:spcAft>
              <a:buNone/>
            </a:pPr>
            <a:r>
              <a:rPr lang="en-GB" sz="1600">
                <a:solidFill>
                  <a:schemeClr val="dk1"/>
                </a:solidFill>
              </a:rPr>
              <a:t>We have </a:t>
            </a:r>
            <a:r>
              <a:rPr b="1" lang="en-GB" sz="1600">
                <a:solidFill>
                  <a:schemeClr val="dk1"/>
                </a:solidFill>
              </a:rPr>
              <a:t>no detector yet </a:t>
            </a:r>
            <a:r>
              <a:rPr lang="en-GB" sz="1600">
                <a:solidFill>
                  <a:schemeClr val="dk1"/>
                </a:solidFill>
              </a:rPr>
              <a:t>(model.pkl doesn’t exist or isn’t ready). We need a first working classifier before the agent can score new files in “steady” mode but we only want to train when we have enough examples of both classes (malware and benign), and we want each training pile to have a fair mix so the model doesn’t learn “everything is malware” (or everything is benign).</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600"/>
          </a:p>
        </p:txBody>
      </p:sp>
      <p:sp>
        <p:nvSpPr>
          <p:cNvPr id="360" name="Google Shape;360;p18"/>
          <p:cNvSpPr txBox="1"/>
          <p:nvPr/>
        </p:nvSpPr>
        <p:spPr>
          <a:xfrm>
            <a:off x="381000" y="2261900"/>
            <a:ext cx="6462600" cy="232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50">
                <a:solidFill>
                  <a:schemeClr val="dk1"/>
                </a:solidFill>
              </a:rPr>
              <a:t>How it works?:</a:t>
            </a:r>
            <a:br>
              <a:rPr b="1" lang="en-GB" sz="1650">
                <a:solidFill>
                  <a:schemeClr val="dk1"/>
                </a:solidFill>
              </a:rPr>
            </a:br>
            <a:r>
              <a:rPr lang="en-GB" sz="1350">
                <a:solidFill>
                  <a:schemeClr val="dk1"/>
                </a:solidFill>
              </a:rPr>
              <a:t>Collect malware and benign PE files </a:t>
            </a:r>
            <a:br>
              <a:rPr lang="en-GB" sz="1350">
                <a:solidFill>
                  <a:schemeClr val="dk1"/>
                </a:solidFill>
              </a:rPr>
            </a:br>
            <a:r>
              <a:rPr lang="en-GB" sz="1350">
                <a:solidFill>
                  <a:schemeClr val="dk1"/>
                </a:solidFill>
              </a:rPr>
              <a:t>(bootstrap runs; balance logic pushes toward ~50/50).</a:t>
            </a:r>
            <a:endParaRPr sz="1350">
              <a:solidFill>
                <a:schemeClr val="dk1"/>
              </a:solidFill>
            </a:endParaRPr>
          </a:p>
          <a:p>
            <a:pPr indent="-314325" lvl="0" marL="457200" rtl="0" algn="l">
              <a:lnSpc>
                <a:spcPct val="115000"/>
              </a:lnSpc>
              <a:spcBef>
                <a:spcPts val="500"/>
              </a:spcBef>
              <a:spcAft>
                <a:spcPts val="0"/>
              </a:spcAft>
              <a:buClr>
                <a:schemeClr val="dk1"/>
              </a:buClr>
              <a:buSzPts val="1350"/>
              <a:buAutoNum type="arabicPeriod"/>
            </a:pPr>
            <a:r>
              <a:rPr lang="en-GB" sz="1350">
                <a:solidFill>
                  <a:schemeClr val="dk1"/>
                </a:solidFill>
              </a:rPr>
              <a:t>Extract static features into SQLite (same 2304-d feature vectors as later).</a:t>
            </a:r>
            <a:endParaRPr sz="1350">
              <a:solidFill>
                <a:schemeClr val="dk1"/>
              </a:solidFill>
            </a:endParaRPr>
          </a:p>
          <a:p>
            <a:pPr indent="-295275" lvl="0" marL="457200" rtl="0" algn="l">
              <a:lnSpc>
                <a:spcPct val="115000"/>
              </a:lnSpc>
              <a:spcBef>
                <a:spcPts val="0"/>
              </a:spcBef>
              <a:spcAft>
                <a:spcPts val="0"/>
              </a:spcAft>
              <a:buClr>
                <a:schemeClr val="dk1"/>
              </a:buClr>
              <a:buSzPts val="1050"/>
              <a:buAutoNum type="arabicPeriod"/>
            </a:pPr>
            <a:r>
              <a:rPr lang="en-GB" sz="1350">
                <a:solidFill>
                  <a:schemeClr val="dk1"/>
                </a:solidFill>
              </a:rPr>
              <a:t>When counts hit targets (default ≥100 malware and ≥100 benign with features), </a:t>
            </a:r>
            <a:r>
              <a:rPr lang="en-GB" sz="1250">
                <a:solidFill>
                  <a:schemeClr val="dk1"/>
                </a:solidFill>
                <a:latin typeface="Courier New"/>
                <a:ea typeface="Courier New"/>
                <a:cs typeface="Courier New"/>
                <a:sym typeface="Courier New"/>
              </a:rPr>
              <a:t>cold_start_train</a:t>
            </a:r>
            <a:r>
              <a:rPr lang="en-GB" sz="1350">
                <a:solidFill>
                  <a:schemeClr val="dk1"/>
                </a:solidFill>
              </a:rPr>
              <a:t> runs.</a:t>
            </a:r>
            <a:endParaRPr sz="1350">
              <a:solidFill>
                <a:schemeClr val="dk1"/>
              </a:solidFill>
            </a:endParaRPr>
          </a:p>
          <a:p>
            <a:pPr indent="-314325" lvl="0" marL="457200" rtl="0" algn="l">
              <a:lnSpc>
                <a:spcPct val="115000"/>
              </a:lnSpc>
              <a:spcBef>
                <a:spcPts val="0"/>
              </a:spcBef>
              <a:spcAft>
                <a:spcPts val="0"/>
              </a:spcAft>
              <a:buClr>
                <a:schemeClr val="dk1"/>
              </a:buClr>
              <a:buSzPts val="1350"/>
              <a:buAutoNum type="arabicPeriod"/>
            </a:pPr>
            <a:r>
              <a:rPr lang="en-GB" sz="1350">
                <a:solidFill>
                  <a:schemeClr val="dk1"/>
                </a:solidFill>
              </a:rPr>
              <a:t>Split data randomly but balanced: 70% train · 15% validation · 15% test .</a:t>
            </a:r>
            <a:endParaRPr sz="1350">
              <a:solidFill>
                <a:schemeClr val="dk1"/>
              </a:solidFill>
            </a:endParaRPr>
          </a:p>
          <a:p>
            <a:pPr indent="-295275" lvl="0" marL="457200" rtl="0" algn="l">
              <a:lnSpc>
                <a:spcPct val="115000"/>
              </a:lnSpc>
              <a:spcBef>
                <a:spcPts val="0"/>
              </a:spcBef>
              <a:spcAft>
                <a:spcPts val="0"/>
              </a:spcAft>
              <a:buClr>
                <a:schemeClr val="dk1"/>
              </a:buClr>
              <a:buSzPts val="1050"/>
              <a:buAutoNum type="arabicPeriod"/>
            </a:pPr>
            <a:r>
              <a:rPr lang="en-GB" sz="1350">
                <a:solidFill>
                  <a:schemeClr val="dk1"/>
                </a:solidFill>
              </a:rPr>
              <a:t>Train a new LightGBM model, pick threshold on validation, save </a:t>
            </a:r>
            <a:r>
              <a:rPr lang="en-GB" sz="1250">
                <a:solidFill>
                  <a:schemeClr val="dk1"/>
                </a:solidFill>
                <a:latin typeface="Courier New"/>
                <a:ea typeface="Courier New"/>
                <a:cs typeface="Courier New"/>
                <a:sym typeface="Courier New"/>
              </a:rPr>
              <a:t>model.pkl</a:t>
            </a:r>
            <a:r>
              <a:rPr lang="en-GB" sz="1350">
                <a:solidFill>
                  <a:schemeClr val="dk1"/>
                </a:solidFill>
              </a:rPr>
              <a:t>.</a:t>
            </a:r>
            <a:endParaRPr sz="1350">
              <a:solidFill>
                <a:schemeClr val="dk1"/>
              </a:solidFill>
            </a:endParaRPr>
          </a:p>
          <a:p>
            <a:pPr indent="-295275" lvl="0" marL="457200" rtl="0" algn="l">
              <a:lnSpc>
                <a:spcPct val="115000"/>
              </a:lnSpc>
              <a:spcBef>
                <a:spcPts val="0"/>
              </a:spcBef>
              <a:spcAft>
                <a:spcPts val="0"/>
              </a:spcAft>
              <a:buClr>
                <a:schemeClr val="dk1"/>
              </a:buClr>
              <a:buSzPts val="1050"/>
              <a:buAutoNum type="arabicPeriod"/>
            </a:pPr>
            <a:r>
              <a:rPr lang="en-GB" sz="1350">
                <a:solidFill>
                  <a:schemeClr val="dk1"/>
                </a:solidFill>
              </a:rPr>
              <a:t>Next runs use </a:t>
            </a:r>
            <a:r>
              <a:rPr lang="en-GB" sz="1250">
                <a:solidFill>
                  <a:schemeClr val="dk1"/>
                </a:solidFill>
                <a:latin typeface="Courier New"/>
                <a:ea typeface="Courier New"/>
                <a:cs typeface="Courier New"/>
                <a:sym typeface="Courier New"/>
              </a:rPr>
              <a:t>classifier_inference</a:t>
            </a:r>
            <a:r>
              <a:rPr lang="en-GB" sz="1350">
                <a:solidFill>
                  <a:schemeClr val="dk1"/>
                </a:solidFill>
              </a:rPr>
              <a:t> to score new samples.</a:t>
            </a:r>
            <a:endParaRPr sz="195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9"/>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19"/>
          <p:cNvSpPr/>
          <p:nvPr/>
        </p:nvSpPr>
        <p:spPr>
          <a:xfrm>
            <a:off x="0" y="0"/>
            <a:ext cx="9144000" cy="666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19"/>
          <p:cNvSpPr txBox="1"/>
          <p:nvPr/>
        </p:nvSpPr>
        <p:spPr>
          <a:xfrm>
            <a:off x="381000" y="285750"/>
            <a:ext cx="8382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600">
                <a:solidFill>
                  <a:srgbClr val="1A1A2E"/>
                </a:solidFill>
                <a:latin typeface="Calibri"/>
                <a:ea typeface="Calibri"/>
                <a:cs typeface="Calibri"/>
                <a:sym typeface="Calibri"/>
              </a:rPr>
              <a:t>Phase 2: MADAR - Retrain loop</a:t>
            </a:r>
            <a:endParaRPr b="1" sz="2600">
              <a:solidFill>
                <a:srgbClr val="1A1A2E"/>
              </a:solidFill>
              <a:latin typeface="Calibri"/>
              <a:ea typeface="Calibri"/>
              <a:cs typeface="Calibri"/>
              <a:sym typeface="Calibri"/>
            </a:endParaRPr>
          </a:p>
        </p:txBody>
      </p:sp>
      <p:grpSp>
        <p:nvGrpSpPr>
          <p:cNvPr id="368" name="Google Shape;368;p19"/>
          <p:cNvGrpSpPr/>
          <p:nvPr/>
        </p:nvGrpSpPr>
        <p:grpSpPr>
          <a:xfrm>
            <a:off x="4762500" y="2355574"/>
            <a:ext cx="3810000" cy="2216391"/>
            <a:chOff x="4762500" y="3429000"/>
            <a:chExt cx="3810000" cy="1143000"/>
          </a:xfrm>
        </p:grpSpPr>
        <p:sp>
          <p:nvSpPr>
            <p:cNvPr id="369" name="Google Shape;369;p19"/>
            <p:cNvSpPr/>
            <p:nvPr/>
          </p:nvSpPr>
          <p:spPr>
            <a:xfrm>
              <a:off x="4762500" y="3429000"/>
              <a:ext cx="3810000" cy="1143000"/>
            </a:xfrm>
            <a:prstGeom prst="roundRect">
              <a:avLst>
                <a:gd fmla="val 8333"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19"/>
            <p:cNvSpPr txBox="1"/>
            <p:nvPr/>
          </p:nvSpPr>
          <p:spPr>
            <a:xfrm>
              <a:off x="4953000" y="3571875"/>
              <a:ext cx="3429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618">
                  <a:solidFill>
                    <a:srgbClr val="B91C1C"/>
                  </a:solidFill>
                  <a:latin typeface="Calibri"/>
                  <a:ea typeface="Calibri"/>
                  <a:cs typeface="Calibri"/>
                  <a:sym typeface="Calibri"/>
                </a:rPr>
                <a:t>The Goal of Adaptation:</a:t>
              </a:r>
              <a:endParaRPr b="1" sz="1618">
                <a:solidFill>
                  <a:srgbClr val="B91C1C"/>
                </a:solidFill>
                <a:latin typeface="Calibri"/>
                <a:ea typeface="Calibri"/>
                <a:cs typeface="Calibri"/>
                <a:sym typeface="Calibri"/>
              </a:endParaRPr>
            </a:p>
            <a:p>
              <a:pPr indent="0" lvl="0" marL="0" rtl="0" algn="l">
                <a:spcBef>
                  <a:spcPts val="400"/>
                </a:spcBef>
                <a:spcAft>
                  <a:spcPts val="0"/>
                </a:spcAft>
                <a:buNone/>
              </a:pPr>
              <a:r>
                <a:rPr b="0" lang="en-GB" sz="1618">
                  <a:solidFill>
                    <a:srgbClr val="0F3460"/>
                  </a:solidFill>
                  <a:latin typeface="Calibri"/>
                  <a:ea typeface="Calibri"/>
                  <a:cs typeface="Calibri"/>
                  <a:sym typeface="Calibri"/>
                </a:rPr>
                <a:t>Adapt to new malware without cheating on "future" data and without forgetting past families. Replay picks diverse old examples via Isolation Forest to maintain long-term performance.</a:t>
              </a:r>
              <a:endParaRPr b="0" sz="1618">
                <a:solidFill>
                  <a:srgbClr val="0F3460"/>
                </a:solidFill>
                <a:latin typeface="Calibri"/>
                <a:ea typeface="Calibri"/>
                <a:cs typeface="Calibri"/>
                <a:sym typeface="Calibri"/>
              </a:endParaRPr>
            </a:p>
          </p:txBody>
        </p:sp>
      </p:grpSp>
      <p:sp>
        <p:nvSpPr>
          <p:cNvPr id="371" name="Google Shape;371;p19"/>
          <p:cNvSpPr txBox="1"/>
          <p:nvPr/>
        </p:nvSpPr>
        <p:spPr>
          <a:xfrm>
            <a:off x="381000" y="4762500"/>
            <a:ext cx="8382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GB" sz="900">
                <a:solidFill>
                  <a:srgbClr val="4B5563"/>
                </a:solidFill>
                <a:latin typeface="Calibri"/>
                <a:ea typeface="Calibri"/>
                <a:cs typeface="Calibri"/>
                <a:sym typeface="Calibri"/>
              </a:rPr>
              <a:t>System State: --retrain | Module: model_retrain | Path: drift_monitor → model_retrain</a:t>
            </a:r>
            <a:endParaRPr b="0" i="1" sz="900">
              <a:solidFill>
                <a:srgbClr val="4B5563"/>
              </a:solidFill>
              <a:latin typeface="Calibri"/>
              <a:ea typeface="Calibri"/>
              <a:cs typeface="Calibri"/>
              <a:sym typeface="Calibri"/>
            </a:endParaRPr>
          </a:p>
        </p:txBody>
      </p:sp>
      <p:sp>
        <p:nvSpPr>
          <p:cNvPr id="372" name="Google Shape;372;p19"/>
          <p:cNvSpPr txBox="1"/>
          <p:nvPr/>
        </p:nvSpPr>
        <p:spPr>
          <a:xfrm>
            <a:off x="381000" y="762150"/>
            <a:ext cx="7995000" cy="149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600">
                <a:solidFill>
                  <a:schemeClr val="dk1"/>
                </a:solidFill>
              </a:rPr>
              <a:t>What type of problem are we solving?</a:t>
            </a:r>
            <a:endParaRPr b="1"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malware detection is non-stationary: new families arrive, feature distributions shift, and a old model.pkl drifts. Retraining on “everything in the DB” overfits the recent tail and forgets rare older families; training on the newest slice leaks future into overfit and inflates offline metrics. So we put them into test and training accordingly.</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None/>
            </a:pPr>
            <a:r>
              <a:t/>
            </a:r>
            <a:endParaRPr sz="1600"/>
          </a:p>
        </p:txBody>
      </p:sp>
      <p:sp>
        <p:nvSpPr>
          <p:cNvPr id="373" name="Google Shape;373;p19"/>
          <p:cNvSpPr txBox="1"/>
          <p:nvPr/>
        </p:nvSpPr>
        <p:spPr>
          <a:xfrm>
            <a:off x="381000" y="2261900"/>
            <a:ext cx="4191000" cy="24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50">
                <a:solidFill>
                  <a:schemeClr val="dk1"/>
                </a:solidFill>
              </a:rPr>
              <a:t>How it works?:</a:t>
            </a:r>
            <a:br>
              <a:rPr b="1" lang="en-GB" sz="1650">
                <a:solidFill>
                  <a:schemeClr val="dk1"/>
                </a:solidFill>
              </a:rPr>
            </a:br>
            <a:r>
              <a:rPr lang="en-GB" sz="1650">
                <a:solidFill>
                  <a:schemeClr val="dk1"/>
                </a:solidFill>
              </a:rPr>
              <a:t>When drift fires or we hit &gt;=50 untrained samples, MADAR re-trains production LightGBM.</a:t>
            </a:r>
            <a:r>
              <a:rPr lang="en-GB" sz="1650">
                <a:solidFill>
                  <a:schemeClr val="dk1"/>
                </a:solidFill>
              </a:rPr>
              <a:t> </a:t>
            </a:r>
            <a:br>
              <a:rPr lang="en-GB" sz="1650">
                <a:solidFill>
                  <a:schemeClr val="dk1"/>
                </a:solidFill>
              </a:rPr>
            </a:br>
            <a:br>
              <a:rPr lang="en-GB" sz="1650">
                <a:solidFill>
                  <a:schemeClr val="dk1"/>
                </a:solidFill>
              </a:rPr>
            </a:br>
            <a:r>
              <a:rPr lang="en-GB" sz="1650">
                <a:solidFill>
                  <a:schemeClr val="dk1"/>
                </a:solidFill>
              </a:rPr>
              <a:t>Newest 15% stays out of training. Up to three thousand replay samples stop catastrophic forgetting. Output: new </a:t>
            </a:r>
            <a:r>
              <a:rPr lang="en-GB" sz="1600">
                <a:solidFill>
                  <a:schemeClr val="dk1"/>
                </a:solidFill>
                <a:latin typeface="Courier New"/>
                <a:ea typeface="Courier New"/>
                <a:cs typeface="Courier New"/>
                <a:sym typeface="Courier New"/>
              </a:rPr>
              <a:t>model.pkl</a:t>
            </a:r>
            <a:r>
              <a:rPr lang="en-GB" sz="1650">
                <a:solidFill>
                  <a:schemeClr val="dk1"/>
                </a:solidFill>
              </a:rPr>
              <a:t>, previous weights archived.</a:t>
            </a:r>
            <a:endParaRPr sz="20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77" name="Shape 377"/>
        <p:cNvGrpSpPr/>
        <p:nvPr/>
      </p:nvGrpSpPr>
      <p:grpSpPr>
        <a:xfrm>
          <a:off x="0" y="0"/>
          <a:ext cx="0" cy="0"/>
          <a:chOff x="0" y="0"/>
          <a:chExt cx="0" cy="0"/>
        </a:xfrm>
      </p:grpSpPr>
      <p:sp>
        <p:nvSpPr>
          <p:cNvPr id="378" name="Google Shape;378;p20"/>
          <p:cNvSpPr/>
          <p:nvPr/>
        </p:nvSpPr>
        <p:spPr>
          <a:xfrm>
            <a:off x="0" y="0"/>
            <a:ext cx="9144000" cy="666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0"/>
          <p:cNvSpPr txBox="1"/>
          <p:nvPr/>
        </p:nvSpPr>
        <p:spPr>
          <a:xfrm>
            <a:off x="381000" y="285750"/>
            <a:ext cx="8382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600">
                <a:solidFill>
                  <a:srgbClr val="1A1A2E"/>
                </a:solidFill>
                <a:latin typeface="Calibri"/>
                <a:ea typeface="Calibri"/>
                <a:cs typeface="Calibri"/>
                <a:sym typeface="Calibri"/>
              </a:rPr>
              <a:t>Phase 3: TESSERACT - The Honest "Final Exam"</a:t>
            </a:r>
            <a:endParaRPr b="1" sz="2600">
              <a:solidFill>
                <a:srgbClr val="1A1A2E"/>
              </a:solidFill>
              <a:latin typeface="Calibri"/>
              <a:ea typeface="Calibri"/>
              <a:cs typeface="Calibri"/>
              <a:sym typeface="Calibri"/>
            </a:endParaRPr>
          </a:p>
        </p:txBody>
      </p:sp>
      <p:grpSp>
        <p:nvGrpSpPr>
          <p:cNvPr id="380" name="Google Shape;380;p20"/>
          <p:cNvGrpSpPr/>
          <p:nvPr/>
        </p:nvGrpSpPr>
        <p:grpSpPr>
          <a:xfrm>
            <a:off x="-4784025" y="446775"/>
            <a:ext cx="4000500" cy="3619500"/>
            <a:chOff x="0" y="0"/>
            <a:chExt cx="4000500" cy="3619500"/>
          </a:xfrm>
        </p:grpSpPr>
        <p:sp>
          <p:nvSpPr>
            <p:cNvPr id="381" name="Google Shape;381;p20"/>
            <p:cNvSpPr/>
            <p:nvPr/>
          </p:nvSpPr>
          <p:spPr>
            <a:xfrm>
              <a:off x="0" y="0"/>
              <a:ext cx="4000500" cy="3619500"/>
            </a:xfrm>
            <a:prstGeom prst="roundRect">
              <a:avLst>
                <a:gd fmla="val 263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82" name="Google Shape;382;p20"/>
            <p:cNvPicPr preferRelativeResize="0"/>
            <p:nvPr/>
          </p:nvPicPr>
          <p:blipFill rotWithShape="1">
            <a:blip r:embed="rId3">
              <a:alphaModFix/>
            </a:blip>
            <a:srcRect b="0" l="0" r="0" t="0"/>
            <a:stretch/>
          </p:blipFill>
          <p:spPr>
            <a:xfrm>
              <a:off x="0" y="95250"/>
              <a:ext cx="4000500" cy="285900"/>
            </a:xfrm>
            <a:prstGeom prst="rect">
              <a:avLst/>
            </a:prstGeom>
            <a:noFill/>
            <a:ln>
              <a:noFill/>
            </a:ln>
          </p:spPr>
        </p:pic>
        <p:sp>
          <p:nvSpPr>
            <p:cNvPr id="383" name="Google Shape;383;p20"/>
            <p:cNvSpPr/>
            <p:nvPr/>
          </p:nvSpPr>
          <p:spPr>
            <a:xfrm>
              <a:off x="0" y="95250"/>
              <a:ext cx="4000500" cy="190500"/>
            </a:xfrm>
            <a:prstGeom prst="rect">
              <a:avLst/>
            </a:prstGeom>
            <a:solidFill>
              <a:srgbClr val="0F34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0"/>
            <p:cNvSpPr txBox="1"/>
            <p:nvPr/>
          </p:nvSpPr>
          <p:spPr>
            <a:xfrm>
              <a:off x="0" y="47625"/>
              <a:ext cx="4000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400">
                  <a:solidFill>
                    <a:srgbClr val="FFFFFF"/>
                  </a:solidFill>
                  <a:latin typeface="Calibri"/>
                  <a:ea typeface="Calibri"/>
                  <a:cs typeface="Calibri"/>
                  <a:sym typeface="Calibri"/>
                </a:rPr>
                <a:t>REPORTING PROTOCOL</a:t>
              </a:r>
              <a:endParaRPr b="1" sz="1400">
                <a:solidFill>
                  <a:srgbClr val="FFFFFF"/>
                </a:solidFill>
                <a:latin typeface="Calibri"/>
                <a:ea typeface="Calibri"/>
                <a:cs typeface="Calibri"/>
                <a:sym typeface="Calibri"/>
              </a:endParaRPr>
            </a:p>
          </p:txBody>
        </p:sp>
        <p:sp>
          <p:nvSpPr>
            <p:cNvPr id="385" name="Google Shape;385;p20"/>
            <p:cNvSpPr txBox="1"/>
            <p:nvPr/>
          </p:nvSpPr>
          <p:spPr>
            <a:xfrm>
              <a:off x="238125" y="571500"/>
              <a:ext cx="3524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0D9488"/>
                  </a:solidFill>
                  <a:latin typeface="Calibri"/>
                  <a:ea typeface="Calibri"/>
                  <a:cs typeface="Calibri"/>
                  <a:sym typeface="Calibri"/>
                </a:rPr>
                <a:t>Evaluation Module (Report Only)</a:t>
              </a:r>
              <a:endParaRPr b="1" sz="1200">
                <a:solidFill>
                  <a:srgbClr val="0D9488"/>
                </a:solidFill>
                <a:latin typeface="Calibri"/>
                <a:ea typeface="Calibri"/>
                <a:cs typeface="Calibri"/>
                <a:sym typeface="Calibri"/>
              </a:endParaRPr>
            </a:p>
            <a:p>
              <a:pPr indent="-293211" lvl="0" marL="457200" rtl="0" algn="l">
                <a:spcBef>
                  <a:spcPts val="750"/>
                </a:spcBef>
                <a:spcAft>
                  <a:spcPts val="0"/>
                </a:spcAft>
                <a:buClr>
                  <a:srgbClr val="334155"/>
                </a:buClr>
                <a:buSzPts val="1018"/>
                <a:buFont typeface="Calibri"/>
                <a:buChar char="●"/>
              </a:pPr>
              <a:r>
                <a:rPr b="1" lang="en-GB" sz="1018">
                  <a:solidFill>
                    <a:srgbClr val="334155"/>
                  </a:solidFill>
                  <a:latin typeface="Calibri"/>
                  <a:ea typeface="Calibri"/>
                  <a:cs typeface="Calibri"/>
                  <a:sym typeface="Calibri"/>
                </a:rPr>
                <a:t>When:</a:t>
              </a:r>
              <a:r>
                <a:rPr b="0" lang="en-GB" sz="1018">
                  <a:solidFill>
                    <a:srgbClr val="334155"/>
                  </a:solidFill>
                  <a:latin typeface="Calibri"/>
                  <a:ea typeface="Calibri"/>
                  <a:cs typeface="Calibri"/>
                  <a:sym typeface="Calibri"/>
                </a:rPr>
                <a:t> After retrain or every 10 steady runs (skipped in bootstrap).</a:t>
              </a:r>
              <a:endParaRPr b="0" sz="1018">
                <a:solidFill>
                  <a:srgbClr val="334155"/>
                </a:solidFill>
                <a:latin typeface="Calibri"/>
                <a:ea typeface="Calibri"/>
                <a:cs typeface="Calibri"/>
                <a:sym typeface="Calibri"/>
              </a:endParaRPr>
            </a:p>
            <a:p>
              <a:pPr indent="-293211" lvl="0" marL="457200" rtl="0" algn="l">
                <a:spcBef>
                  <a:spcPts val="600"/>
                </a:spcBef>
                <a:spcAft>
                  <a:spcPts val="0"/>
                </a:spcAft>
                <a:buClr>
                  <a:srgbClr val="334155"/>
                </a:buClr>
                <a:buSzPts val="1018"/>
                <a:buFont typeface="Calibri"/>
                <a:buChar char="●"/>
              </a:pPr>
              <a:r>
                <a:rPr b="1" lang="en-GB" sz="1018">
                  <a:solidFill>
                    <a:srgbClr val="334155"/>
                  </a:solidFill>
                  <a:latin typeface="Calibri"/>
                  <a:ea typeface="Calibri"/>
                  <a:cs typeface="Calibri"/>
                  <a:sym typeface="Calibri"/>
                </a:rPr>
                <a:t>What it does:</a:t>
              </a:r>
              <a:r>
                <a:rPr b="0" lang="en-GB" sz="1018">
                  <a:solidFill>
                    <a:srgbClr val="334155"/>
                  </a:solidFill>
                  <a:latin typeface="Calibri"/>
                  <a:ea typeface="Calibri"/>
                  <a:cs typeface="Calibri"/>
                  <a:sym typeface="Calibri"/>
                </a:rPr>
                <a:t> Trains a temporary model — does </a:t>
              </a:r>
              <a:r>
                <a:rPr b="0" i="1" lang="en-GB" sz="1018">
                  <a:solidFill>
                    <a:srgbClr val="334155"/>
                  </a:solidFill>
                  <a:latin typeface="Calibri"/>
                  <a:ea typeface="Calibri"/>
                  <a:cs typeface="Calibri"/>
                  <a:sym typeface="Calibri"/>
                </a:rPr>
                <a:t>not</a:t>
              </a:r>
              <a:r>
                <a:rPr b="0" lang="en-GB" sz="1018">
                  <a:solidFill>
                    <a:srgbClr val="334155"/>
                  </a:solidFill>
                  <a:latin typeface="Calibri"/>
                  <a:ea typeface="Calibri"/>
                  <a:cs typeface="Calibri"/>
                  <a:sym typeface="Calibri"/>
                </a:rPr>
                <a:t> change model.pkl.</a:t>
              </a:r>
              <a:endParaRPr b="0" sz="1018">
                <a:solidFill>
                  <a:srgbClr val="334155"/>
                </a:solidFill>
                <a:latin typeface="Calibri"/>
                <a:ea typeface="Calibri"/>
                <a:cs typeface="Calibri"/>
                <a:sym typeface="Calibri"/>
              </a:endParaRPr>
            </a:p>
            <a:p>
              <a:pPr indent="-293211" lvl="0" marL="457200" rtl="0" algn="l">
                <a:spcBef>
                  <a:spcPts val="600"/>
                </a:spcBef>
                <a:spcAft>
                  <a:spcPts val="0"/>
                </a:spcAft>
                <a:buClr>
                  <a:srgbClr val="334155"/>
                </a:buClr>
                <a:buSzPts val="1018"/>
                <a:buFont typeface="Calibri"/>
                <a:buChar char="●"/>
              </a:pPr>
              <a:r>
                <a:rPr b="1" lang="en-GB" sz="1018">
                  <a:solidFill>
                    <a:srgbClr val="334155"/>
                  </a:solidFill>
                  <a:latin typeface="Calibri"/>
                  <a:ea typeface="Calibri"/>
                  <a:cs typeface="Calibri"/>
                  <a:sym typeface="Calibri"/>
                </a:rPr>
                <a:t>Split:</a:t>
              </a:r>
              <a:r>
                <a:rPr b="0" lang="en-GB" sz="1018">
                  <a:solidFill>
                    <a:srgbClr val="334155"/>
                  </a:solidFill>
                  <a:latin typeface="Calibri"/>
                  <a:ea typeface="Calibri"/>
                  <a:cs typeface="Calibri"/>
                  <a:sym typeface="Calibri"/>
                </a:rPr>
                <a:t> Oldest 70% learn · next 15% tune · newest 15% test (chronological).</a:t>
              </a:r>
              <a:endParaRPr b="0" sz="1018">
                <a:solidFill>
                  <a:srgbClr val="334155"/>
                </a:solidFill>
                <a:latin typeface="Calibri"/>
                <a:ea typeface="Calibri"/>
                <a:cs typeface="Calibri"/>
                <a:sym typeface="Calibri"/>
              </a:endParaRPr>
            </a:p>
            <a:p>
              <a:pPr indent="-293211" lvl="0" marL="457200" rtl="0" algn="l">
                <a:spcBef>
                  <a:spcPts val="600"/>
                </a:spcBef>
                <a:spcAft>
                  <a:spcPts val="0"/>
                </a:spcAft>
                <a:buClr>
                  <a:srgbClr val="334155"/>
                </a:buClr>
                <a:buSzPts val="1018"/>
                <a:buFont typeface="Calibri"/>
                <a:buChar char="●"/>
              </a:pPr>
              <a:r>
                <a:rPr b="1" lang="en-GB" sz="1018">
                  <a:solidFill>
                    <a:srgbClr val="334155"/>
                  </a:solidFill>
                  <a:latin typeface="Calibri"/>
                  <a:ea typeface="Calibri"/>
                  <a:cs typeface="Calibri"/>
                  <a:sym typeface="Calibri"/>
                </a:rPr>
                <a:t>Output:</a:t>
              </a:r>
              <a:r>
                <a:rPr b="0" lang="en-GB" sz="1018">
                  <a:solidFill>
                    <a:srgbClr val="334155"/>
                  </a:solidFill>
                  <a:latin typeface="Calibri"/>
                  <a:ea typeface="Calibri"/>
                  <a:cs typeface="Calibri"/>
                  <a:sym typeface="Calibri"/>
                </a:rPr>
                <a:t> Performance metrics &amp; logs (Accuracy, FPR) — a "report card."</a:t>
              </a:r>
              <a:endParaRPr b="0" sz="1018">
                <a:solidFill>
                  <a:srgbClr val="334155"/>
                </a:solidFill>
                <a:latin typeface="Calibri"/>
                <a:ea typeface="Calibri"/>
                <a:cs typeface="Calibri"/>
                <a:sym typeface="Calibri"/>
              </a:endParaRPr>
            </a:p>
            <a:p>
              <a:pPr indent="-293211" lvl="0" marL="457200" rtl="0" algn="l">
                <a:spcBef>
                  <a:spcPts val="600"/>
                </a:spcBef>
                <a:spcAft>
                  <a:spcPts val="600"/>
                </a:spcAft>
                <a:buClr>
                  <a:srgbClr val="334155"/>
                </a:buClr>
                <a:buSzPts val="1018"/>
                <a:buFont typeface="Calibri"/>
                <a:buChar char="●"/>
              </a:pPr>
              <a:r>
                <a:rPr b="1" lang="en-GB" sz="1018">
                  <a:solidFill>
                    <a:srgbClr val="334155"/>
                  </a:solidFill>
                  <a:latin typeface="Calibri"/>
                  <a:ea typeface="Calibri"/>
                  <a:cs typeface="Calibri"/>
                  <a:sym typeface="Calibri"/>
                </a:rPr>
                <a:t>Purpose:</a:t>
              </a:r>
              <a:r>
                <a:rPr b="0" lang="en-GB" sz="1018">
                  <a:solidFill>
                    <a:srgbClr val="334155"/>
                  </a:solidFill>
                  <a:latin typeface="Calibri"/>
                  <a:ea typeface="Calibri"/>
                  <a:cs typeface="Calibri"/>
                  <a:sym typeface="Calibri"/>
                </a:rPr>
                <a:t> "How would we do on data the model never saw?"</a:t>
              </a:r>
              <a:endParaRPr b="0" sz="1018">
                <a:solidFill>
                  <a:srgbClr val="334155"/>
                </a:solidFill>
                <a:latin typeface="Calibri"/>
                <a:ea typeface="Calibri"/>
                <a:cs typeface="Calibri"/>
                <a:sym typeface="Calibri"/>
              </a:endParaRPr>
            </a:p>
          </p:txBody>
        </p:sp>
      </p:grpSp>
      <p:grpSp>
        <p:nvGrpSpPr>
          <p:cNvPr id="386" name="Google Shape;386;p20"/>
          <p:cNvGrpSpPr/>
          <p:nvPr/>
        </p:nvGrpSpPr>
        <p:grpSpPr>
          <a:xfrm>
            <a:off x="4762500" y="2261850"/>
            <a:ext cx="3810000" cy="2310117"/>
            <a:chOff x="0" y="0"/>
            <a:chExt cx="3810000" cy="1143000"/>
          </a:xfrm>
        </p:grpSpPr>
        <p:sp>
          <p:nvSpPr>
            <p:cNvPr id="387" name="Google Shape;387;p20"/>
            <p:cNvSpPr/>
            <p:nvPr/>
          </p:nvSpPr>
          <p:spPr>
            <a:xfrm>
              <a:off x="0" y="0"/>
              <a:ext cx="3810000" cy="1143000"/>
            </a:xfrm>
            <a:prstGeom prst="roundRect">
              <a:avLst>
                <a:gd fmla="val 8333" name="adj"/>
              </a:avLst>
            </a:prstGeom>
            <a:solidFill>
              <a:srgbClr val="F0FDFA"/>
            </a:solidFill>
            <a:ln cap="flat" cmpd="sng" w="9525">
              <a:solidFill>
                <a:srgbClr val="99F6E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100"/>
            </a:p>
          </p:txBody>
        </p:sp>
        <p:sp>
          <p:nvSpPr>
            <p:cNvPr id="388" name="Google Shape;388;p20"/>
            <p:cNvSpPr txBox="1"/>
            <p:nvPr/>
          </p:nvSpPr>
          <p:spPr>
            <a:xfrm>
              <a:off x="190500" y="142875"/>
              <a:ext cx="3429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618">
                  <a:solidFill>
                    <a:srgbClr val="0D766E"/>
                  </a:solidFill>
                  <a:latin typeface="Calibri"/>
                  <a:ea typeface="Calibri"/>
                  <a:cs typeface="Calibri"/>
                  <a:sym typeface="Calibri"/>
                </a:rPr>
                <a:t>Real-World Readiness:</a:t>
              </a:r>
              <a:endParaRPr b="1" sz="1618">
                <a:solidFill>
                  <a:srgbClr val="0D766E"/>
                </a:solidFill>
                <a:latin typeface="Calibri"/>
                <a:ea typeface="Calibri"/>
                <a:cs typeface="Calibri"/>
                <a:sym typeface="Calibri"/>
              </a:endParaRPr>
            </a:p>
            <a:p>
              <a:pPr indent="0" lvl="0" marL="0" rtl="0" algn="l">
                <a:spcBef>
                  <a:spcPts val="375"/>
                </a:spcBef>
                <a:spcAft>
                  <a:spcPts val="0"/>
                </a:spcAft>
                <a:buNone/>
              </a:pPr>
              <a:r>
                <a:rPr b="0" lang="en-GB" sz="1618">
                  <a:solidFill>
                    <a:srgbClr val="0D766E"/>
                  </a:solidFill>
                  <a:latin typeface="Calibri"/>
                  <a:ea typeface="Calibri"/>
                  <a:cs typeface="Calibri"/>
                  <a:sym typeface="Calibri"/>
                </a:rPr>
                <a:t>By reserving the newest 15% of the corpus as "tomorrow's files," TESSERACT simulates deployment. This allows the system to grade the brain's readiness without risking a bad production update.</a:t>
              </a:r>
              <a:endParaRPr b="0" sz="1618">
                <a:solidFill>
                  <a:srgbClr val="0D766E"/>
                </a:solidFill>
                <a:latin typeface="Calibri"/>
                <a:ea typeface="Calibri"/>
                <a:cs typeface="Calibri"/>
                <a:sym typeface="Calibri"/>
              </a:endParaRPr>
            </a:p>
          </p:txBody>
        </p:sp>
      </p:grpSp>
      <p:sp>
        <p:nvSpPr>
          <p:cNvPr id="389" name="Google Shape;389;p20"/>
          <p:cNvSpPr txBox="1"/>
          <p:nvPr/>
        </p:nvSpPr>
        <p:spPr>
          <a:xfrm>
            <a:off x="381000" y="4762500"/>
            <a:ext cx="8382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900">
                <a:solidFill>
                  <a:srgbClr val="4B5563"/>
                </a:solidFill>
                <a:latin typeface="Calibri"/>
                <a:ea typeface="Calibri"/>
                <a:cs typeface="Calibri"/>
                <a:sym typeface="Calibri"/>
              </a:rPr>
              <a:t>System State: --evaluate | Module: evaluation_node | Objective: Measure real-world performance floor</a:t>
            </a:r>
            <a:endParaRPr i="1" sz="900">
              <a:solidFill>
                <a:srgbClr val="4B5563"/>
              </a:solidFill>
              <a:latin typeface="Calibri"/>
              <a:ea typeface="Calibri"/>
              <a:cs typeface="Calibri"/>
              <a:sym typeface="Calibri"/>
            </a:endParaRPr>
          </a:p>
        </p:txBody>
      </p:sp>
      <p:sp>
        <p:nvSpPr>
          <p:cNvPr id="390" name="Google Shape;390;p20"/>
          <p:cNvSpPr txBox="1"/>
          <p:nvPr/>
        </p:nvSpPr>
        <p:spPr>
          <a:xfrm>
            <a:off x="381000" y="762150"/>
            <a:ext cx="7995000" cy="149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1"/>
                </a:solidFill>
              </a:rPr>
              <a:t>What type of problem are we solving?</a:t>
            </a:r>
            <a:endParaRPr b="1" sz="1600">
              <a:solidFill>
                <a:schemeClr val="dk1"/>
              </a:solidFill>
            </a:endParaRPr>
          </a:p>
          <a:p>
            <a:pPr indent="0" lvl="0" marL="0" rtl="0" algn="l">
              <a:spcBef>
                <a:spcPts val="0"/>
              </a:spcBef>
              <a:spcAft>
                <a:spcPts val="0"/>
              </a:spcAft>
              <a:buNone/>
            </a:pPr>
            <a:r>
              <a:rPr lang="en-GB" sz="1650">
                <a:solidFill>
                  <a:schemeClr val="dk1"/>
                </a:solidFill>
              </a:rPr>
              <a:t>Training and scoring on all the data makes results look too good, because the model has already seen those samples. TESSERACT fixes that by testing on the newest chunk only, using a separate practice model, so we get an honest grade without changing the real </a:t>
            </a:r>
            <a:r>
              <a:rPr lang="en-GB" sz="1600">
                <a:solidFill>
                  <a:schemeClr val="dk1"/>
                </a:solidFill>
                <a:latin typeface="Courier New"/>
                <a:ea typeface="Courier New"/>
                <a:cs typeface="Courier New"/>
                <a:sym typeface="Courier New"/>
              </a:rPr>
              <a:t>model.pkl</a:t>
            </a:r>
            <a:r>
              <a:rPr lang="en-GB" sz="1650">
                <a:solidFill>
                  <a:schemeClr val="dk1"/>
                </a:solidFill>
              </a:rPr>
              <a:t>.</a:t>
            </a:r>
            <a:endParaRPr sz="22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600"/>
          </a:p>
        </p:txBody>
      </p:sp>
      <p:sp>
        <p:nvSpPr>
          <p:cNvPr id="391" name="Google Shape;391;p20"/>
          <p:cNvSpPr txBox="1"/>
          <p:nvPr/>
        </p:nvSpPr>
        <p:spPr>
          <a:xfrm>
            <a:off x="381000" y="2261900"/>
            <a:ext cx="4191000" cy="26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50">
                <a:solidFill>
                  <a:schemeClr val="dk1"/>
                </a:solidFill>
              </a:rPr>
              <a:t>How it works?:</a:t>
            </a:r>
            <a:br>
              <a:rPr b="1" lang="en-GB" sz="1650">
                <a:solidFill>
                  <a:schemeClr val="dk1"/>
                </a:solidFill>
              </a:rPr>
            </a:br>
            <a:r>
              <a:rPr lang="en-GB" sz="1250">
                <a:solidFill>
                  <a:schemeClr val="dk1"/>
                </a:solidFill>
              </a:rPr>
              <a:t>Sort all labeled samples oldest → newest (by when they entered the database).</a:t>
            </a:r>
            <a:endParaRPr sz="1250">
              <a:solidFill>
                <a:schemeClr val="dk1"/>
              </a:solidFill>
            </a:endParaRPr>
          </a:p>
          <a:p>
            <a:pPr indent="-307975" lvl="0" marL="457200" rtl="0" algn="l">
              <a:lnSpc>
                <a:spcPct val="115000"/>
              </a:lnSpc>
              <a:spcBef>
                <a:spcPts val="500"/>
              </a:spcBef>
              <a:spcAft>
                <a:spcPts val="0"/>
              </a:spcAft>
              <a:buClr>
                <a:schemeClr val="dk1"/>
              </a:buClr>
              <a:buSzPts val="1250"/>
              <a:buAutoNum type="arabicPeriod"/>
            </a:pPr>
            <a:r>
              <a:rPr lang="en-GB" sz="1250">
                <a:solidFill>
                  <a:schemeClr val="dk1"/>
                </a:solidFill>
              </a:rPr>
              <a:t>Train a temporary model on the oldest 70%, validate it on the next 15%.</a:t>
            </a:r>
            <a:endParaRPr sz="1250">
              <a:solidFill>
                <a:schemeClr val="dk1"/>
              </a:solidFill>
            </a:endParaRPr>
          </a:p>
          <a:p>
            <a:pPr indent="-307975" lvl="0" marL="457200" rtl="0" algn="l">
              <a:lnSpc>
                <a:spcPct val="115000"/>
              </a:lnSpc>
              <a:spcBef>
                <a:spcPts val="0"/>
              </a:spcBef>
              <a:spcAft>
                <a:spcPts val="0"/>
              </a:spcAft>
              <a:buClr>
                <a:schemeClr val="dk1"/>
              </a:buClr>
              <a:buSzPts val="1250"/>
              <a:buAutoNum type="arabicPeriod"/>
            </a:pPr>
            <a:r>
              <a:rPr lang="en-GB" sz="1250">
                <a:solidFill>
                  <a:schemeClr val="dk1"/>
                </a:solidFill>
              </a:rPr>
              <a:t>Test it on the newest 15% — data that model never trained on.</a:t>
            </a:r>
            <a:endParaRPr sz="1250">
              <a:solidFill>
                <a:schemeClr val="dk1"/>
              </a:solidFill>
            </a:endParaRPr>
          </a:p>
          <a:p>
            <a:pPr indent="-307975" lvl="0" marL="457200" rtl="0" algn="l">
              <a:lnSpc>
                <a:spcPct val="115000"/>
              </a:lnSpc>
              <a:spcBef>
                <a:spcPts val="0"/>
              </a:spcBef>
              <a:spcAft>
                <a:spcPts val="0"/>
              </a:spcAft>
              <a:buClr>
                <a:schemeClr val="dk1"/>
              </a:buClr>
              <a:buSzPts val="1250"/>
              <a:buAutoNum type="arabicPeriod"/>
            </a:pPr>
            <a:r>
              <a:rPr lang="en-GB" sz="1250">
                <a:solidFill>
                  <a:schemeClr val="dk1"/>
                </a:solidFill>
              </a:rPr>
              <a:t>Save the scores (accuracy, false-alarm rate, etc.) to logs and charts.</a:t>
            </a:r>
            <a:endParaRPr sz="1250">
              <a:solidFill>
                <a:schemeClr val="dk1"/>
              </a:solidFill>
            </a:endParaRPr>
          </a:p>
          <a:p>
            <a:pPr indent="-295275" lvl="0" marL="457200" rtl="0" algn="l">
              <a:lnSpc>
                <a:spcPct val="115000"/>
              </a:lnSpc>
              <a:spcBef>
                <a:spcPts val="0"/>
              </a:spcBef>
              <a:spcAft>
                <a:spcPts val="0"/>
              </a:spcAft>
              <a:buClr>
                <a:schemeClr val="dk1"/>
              </a:buClr>
              <a:buSzPts val="1050"/>
              <a:buAutoNum type="arabicPeriod"/>
            </a:pPr>
            <a:r>
              <a:rPr lang="en-GB" sz="1250">
                <a:solidFill>
                  <a:schemeClr val="dk1"/>
                </a:solidFill>
              </a:rPr>
              <a:t>Do not change </a:t>
            </a:r>
            <a:r>
              <a:rPr lang="en-GB" sz="1150">
                <a:solidFill>
                  <a:schemeClr val="dk1"/>
                </a:solidFill>
                <a:latin typeface="Courier New"/>
                <a:ea typeface="Courier New"/>
                <a:cs typeface="Courier New"/>
                <a:sym typeface="Courier New"/>
              </a:rPr>
              <a:t>model.pkl</a:t>
            </a:r>
            <a:r>
              <a:rPr lang="en-GB" sz="1250">
                <a:solidFill>
                  <a:schemeClr val="dk1"/>
                </a:solidFill>
              </a:rPr>
              <a:t> — production keeps running as before.</a:t>
            </a:r>
            <a:endParaRPr sz="185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95" name="Shape 395"/>
        <p:cNvGrpSpPr/>
        <p:nvPr/>
      </p:nvGrpSpPr>
      <p:grpSpPr>
        <a:xfrm>
          <a:off x="0" y="0"/>
          <a:ext cx="0" cy="0"/>
          <a:chOff x="0" y="0"/>
          <a:chExt cx="0" cy="0"/>
        </a:xfrm>
      </p:grpSpPr>
      <p:sp>
        <p:nvSpPr>
          <p:cNvPr id="396" name="Google Shape;396;p21"/>
          <p:cNvSpPr/>
          <p:nvPr/>
        </p:nvSpPr>
        <p:spPr>
          <a:xfrm>
            <a:off x="0" y="0"/>
            <a:ext cx="9144000" cy="666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7" name="Google Shape;397;p21"/>
          <p:cNvSpPr txBox="1"/>
          <p:nvPr/>
        </p:nvSpPr>
        <p:spPr>
          <a:xfrm>
            <a:off x="381000" y="285750"/>
            <a:ext cx="8382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600">
                <a:solidFill>
                  <a:srgbClr val="1A1A2E"/>
                </a:solidFill>
                <a:latin typeface="Calibri"/>
                <a:ea typeface="Calibri"/>
                <a:cs typeface="Calibri"/>
                <a:sym typeface="Calibri"/>
              </a:rPr>
              <a:t>Drift Detection: Multi Statistical Triggers</a:t>
            </a:r>
            <a:endParaRPr b="1" sz="2600">
              <a:solidFill>
                <a:srgbClr val="1A1A2E"/>
              </a:solidFill>
              <a:latin typeface="Calibri"/>
              <a:ea typeface="Calibri"/>
              <a:cs typeface="Calibri"/>
              <a:sym typeface="Calibri"/>
            </a:endParaRPr>
          </a:p>
        </p:txBody>
      </p:sp>
      <p:sp>
        <p:nvSpPr>
          <p:cNvPr id="398" name="Google Shape;398;p21"/>
          <p:cNvSpPr/>
          <p:nvPr/>
        </p:nvSpPr>
        <p:spPr>
          <a:xfrm>
            <a:off x="304000" y="762150"/>
            <a:ext cx="4095900" cy="2859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1"/>
          <p:cNvSpPr txBox="1"/>
          <p:nvPr/>
        </p:nvSpPr>
        <p:spPr>
          <a:xfrm>
            <a:off x="304000" y="762150"/>
            <a:ext cx="409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a:solidFill>
                  <a:srgbClr val="FFFFFF"/>
                </a:solidFill>
                <a:latin typeface="Calibri"/>
                <a:ea typeface="Calibri"/>
                <a:cs typeface="Calibri"/>
                <a:sym typeface="Calibri"/>
              </a:rPr>
              <a:t>TECHNICAL PIPELINE</a:t>
            </a:r>
            <a:endParaRPr b="1">
              <a:solidFill>
                <a:srgbClr val="FFFFFF"/>
              </a:solidFill>
              <a:latin typeface="Calibri"/>
              <a:ea typeface="Calibri"/>
              <a:cs typeface="Calibri"/>
              <a:sym typeface="Calibri"/>
            </a:endParaRPr>
          </a:p>
        </p:txBody>
      </p:sp>
      <p:sp>
        <p:nvSpPr>
          <p:cNvPr id="400" name="Google Shape;400;p21"/>
          <p:cNvSpPr/>
          <p:nvPr/>
        </p:nvSpPr>
        <p:spPr>
          <a:xfrm>
            <a:off x="304000" y="1047900"/>
            <a:ext cx="4095900" cy="4003200"/>
          </a:xfrm>
          <a:prstGeom prst="rect">
            <a:avLst/>
          </a:prstGeom>
          <a:solidFill>
            <a:schemeClr val="lt1"/>
          </a:solidFill>
          <a:ln cap="flat" cmpd="sng" w="9525">
            <a:solidFill>
              <a:srgbClr val="37415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21"/>
          <p:cNvSpPr/>
          <p:nvPr/>
        </p:nvSpPr>
        <p:spPr>
          <a:xfrm>
            <a:off x="4590250" y="762150"/>
            <a:ext cx="4095900" cy="2859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21"/>
          <p:cNvSpPr txBox="1"/>
          <p:nvPr/>
        </p:nvSpPr>
        <p:spPr>
          <a:xfrm>
            <a:off x="446950" y="1048050"/>
            <a:ext cx="3810000" cy="39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chemeClr val="dk1"/>
                </a:solidFill>
                <a:latin typeface="Calibri"/>
                <a:ea typeface="Calibri"/>
                <a:cs typeface="Calibri"/>
                <a:sym typeface="Calibri"/>
              </a:rPr>
              <a:t>How we flag a drift?</a:t>
            </a:r>
            <a:endParaRPr b="1">
              <a:solidFill>
                <a:schemeClr val="dk1"/>
              </a:solidFill>
              <a:latin typeface="Calibri"/>
              <a:ea typeface="Calibri"/>
              <a:cs typeface="Calibri"/>
              <a:sym typeface="Calibri"/>
            </a:endParaRPr>
          </a:p>
          <a:p>
            <a:pPr indent="0" lvl="0" marL="0" rtl="0" algn="ctr">
              <a:spcBef>
                <a:spcPts val="300"/>
              </a:spcBef>
              <a:spcAft>
                <a:spcPts val="0"/>
              </a:spcAft>
              <a:buNone/>
            </a:pPr>
            <a:r>
              <a:rPr lang="en-GB" sz="1100">
                <a:solidFill>
                  <a:schemeClr val="dk1"/>
                </a:solidFill>
                <a:latin typeface="Calibri"/>
                <a:ea typeface="Calibri"/>
                <a:cs typeface="Calibri"/>
                <a:sym typeface="Calibri"/>
              </a:rPr>
              <a:t>IF (mean/variance shift too big) OR (correlation shift too big)</a:t>
            </a:r>
            <a:endParaRPr sz="1100">
              <a:solidFill>
                <a:schemeClr val="dk1"/>
              </a:solidFill>
              <a:latin typeface="Calibri"/>
              <a:ea typeface="Calibri"/>
              <a:cs typeface="Calibri"/>
              <a:sym typeface="Calibri"/>
            </a:endParaRPr>
          </a:p>
          <a:p>
            <a:pPr indent="0" lvl="0" marL="0" rtl="0" algn="l">
              <a:spcBef>
                <a:spcPts val="300"/>
              </a:spcBef>
              <a:spcAft>
                <a:spcPts val="0"/>
              </a:spcAft>
              <a:buNone/>
            </a:pPr>
            <a:br>
              <a:rPr lang="en-GB" sz="1100">
                <a:solidFill>
                  <a:schemeClr val="dk1"/>
                </a:solidFill>
                <a:latin typeface="Calibri"/>
                <a:ea typeface="Calibri"/>
                <a:cs typeface="Calibri"/>
                <a:sym typeface="Calibri"/>
              </a:rPr>
            </a:br>
            <a:r>
              <a:rPr lang="en-GB" sz="1100">
                <a:solidFill>
                  <a:schemeClr val="dk1"/>
                </a:solidFill>
                <a:latin typeface="Calibri"/>
                <a:ea typeface="Calibri"/>
                <a:cs typeface="Calibri"/>
                <a:sym typeface="Calibri"/>
              </a:rPr>
              <a:t>1. We keep a stable window that collects the strongest 64 dimension of the PE file that have been selected by the trained model. </a:t>
            </a:r>
            <a:br>
              <a:rPr lang="en-GB" sz="1100">
                <a:solidFill>
                  <a:schemeClr val="dk1"/>
                </a:solidFill>
                <a:latin typeface="Calibri"/>
                <a:ea typeface="Calibri"/>
                <a:cs typeface="Calibri"/>
                <a:sym typeface="Calibri"/>
              </a:rPr>
            </a:br>
            <a:r>
              <a:rPr lang="en-GB" sz="1100">
                <a:solidFill>
                  <a:schemeClr val="dk1"/>
                </a:solidFill>
                <a:latin typeface="Calibri"/>
                <a:ea typeface="Calibri"/>
                <a:cs typeface="Calibri"/>
                <a:sym typeface="Calibri"/>
              </a:rPr>
              <a:t>2. After that we  split the PE files into two blocks, the older half - PREV WINDOW and the </a:t>
            </a:r>
            <a:r>
              <a:rPr lang="en-GB" sz="1100">
                <a:solidFill>
                  <a:schemeClr val="dk1"/>
                </a:solidFill>
                <a:latin typeface="Calibri"/>
                <a:ea typeface="Calibri"/>
                <a:cs typeface="Calibri"/>
                <a:sym typeface="Calibri"/>
              </a:rPr>
              <a:t>newest half - CURR WINDOW</a:t>
            </a:r>
            <a:br>
              <a:rPr lang="en-GB" sz="1100">
                <a:solidFill>
                  <a:schemeClr val="dk1"/>
                </a:solidFill>
                <a:latin typeface="Calibri"/>
                <a:ea typeface="Calibri"/>
                <a:cs typeface="Calibri"/>
                <a:sym typeface="Calibri"/>
              </a:rPr>
            </a:br>
            <a:r>
              <a:rPr lang="en-GB" sz="1100">
                <a:solidFill>
                  <a:schemeClr val="dk1"/>
                </a:solidFill>
                <a:latin typeface="Calibri"/>
                <a:ea typeface="Calibri"/>
                <a:cs typeface="Calibri"/>
                <a:sym typeface="Calibri"/>
              </a:rPr>
              <a:t>3. We compute two difference scores:</a:t>
            </a:r>
            <a:br>
              <a:rPr b="1" lang="en-GB" sz="1100">
                <a:solidFill>
                  <a:schemeClr val="dk1"/>
                </a:solidFill>
                <a:latin typeface="Calibri"/>
                <a:ea typeface="Calibri"/>
                <a:cs typeface="Calibri"/>
                <a:sym typeface="Calibri"/>
              </a:rPr>
            </a:br>
            <a:br>
              <a:rPr b="1" lang="en-GB" sz="1100">
                <a:solidFill>
                  <a:schemeClr val="dk1"/>
                </a:solidFill>
                <a:latin typeface="Calibri"/>
                <a:ea typeface="Calibri"/>
                <a:cs typeface="Calibri"/>
                <a:sym typeface="Calibri"/>
              </a:rPr>
            </a:br>
            <a:r>
              <a:rPr b="1" lang="en-GB">
                <a:solidFill>
                  <a:schemeClr val="dk1"/>
                </a:solidFill>
                <a:latin typeface="Calibri"/>
                <a:ea typeface="Calibri"/>
                <a:cs typeface="Calibri"/>
                <a:sym typeface="Calibri"/>
              </a:rPr>
              <a:t>1) Mean/Variance Shift (Normalized mean change)</a:t>
            </a:r>
            <a:endParaRPr b="1">
              <a:solidFill>
                <a:schemeClr val="dk1"/>
              </a:solidFill>
              <a:latin typeface="Calibri"/>
              <a:ea typeface="Calibri"/>
              <a:cs typeface="Calibri"/>
              <a:sym typeface="Calibri"/>
            </a:endParaRPr>
          </a:p>
          <a:p>
            <a:pPr indent="-298450" lvl="0" marL="457200" rtl="0" algn="l">
              <a:spcBef>
                <a:spcPts val="300"/>
              </a:spcBef>
              <a:spcAft>
                <a:spcPts val="0"/>
              </a:spcAft>
              <a:buClr>
                <a:schemeClr val="dk1"/>
              </a:buClr>
              <a:buSzPts val="1100"/>
              <a:buFont typeface="Calibri"/>
              <a:buAutoNum type="arabicParenR"/>
            </a:pPr>
            <a:r>
              <a:rPr lang="en-GB" sz="1100">
                <a:solidFill>
                  <a:schemeClr val="dk1"/>
                </a:solidFill>
                <a:latin typeface="Calibri"/>
                <a:ea typeface="Calibri"/>
                <a:cs typeface="Calibri"/>
                <a:sym typeface="Calibri"/>
              </a:rPr>
              <a:t>Compute per-feature mens.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AutoNum type="arabicParenR"/>
            </a:pPr>
            <a:r>
              <a:rPr lang="en-GB" sz="1100">
                <a:solidFill>
                  <a:schemeClr val="dk1"/>
                </a:solidFill>
                <a:latin typeface="Calibri"/>
                <a:ea typeface="Calibri"/>
                <a:cs typeface="Calibri"/>
                <a:sym typeface="Calibri"/>
              </a:rPr>
              <a:t>Compute per-feature std</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AutoNum type="arabicParenR"/>
            </a:pPr>
            <a:r>
              <a:rPr lang="en-GB" sz="1100">
                <a:solidFill>
                  <a:schemeClr val="dk1"/>
                </a:solidFill>
                <a:latin typeface="Calibri"/>
                <a:ea typeface="Calibri"/>
                <a:cs typeface="Calibri"/>
                <a:sym typeface="Calibri"/>
              </a:rPr>
              <a:t>Compute the normalized shift per feature (DELTA i)</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AutoNum type="arabicParenR"/>
            </a:pPr>
            <a:r>
              <a:rPr lang="en-GB" sz="1100">
                <a:solidFill>
                  <a:schemeClr val="dk1"/>
                </a:solidFill>
                <a:latin typeface="Calibri"/>
                <a:ea typeface="Calibri"/>
                <a:cs typeface="Calibri"/>
                <a:sym typeface="Calibri"/>
              </a:rPr>
              <a:t>Take the average across features.</a:t>
            </a:r>
            <a:br>
              <a:rPr b="1" lang="en-GB" sz="1100">
                <a:solidFill>
                  <a:schemeClr val="dk1"/>
                </a:solidFill>
                <a:latin typeface="Calibri"/>
                <a:ea typeface="Calibri"/>
                <a:cs typeface="Calibri"/>
                <a:sym typeface="Calibri"/>
              </a:rPr>
            </a:br>
            <a:endParaRPr b="1" sz="1100">
              <a:solidFill>
                <a:schemeClr val="dk1"/>
              </a:solidFill>
              <a:latin typeface="Calibri"/>
              <a:ea typeface="Calibri"/>
              <a:cs typeface="Calibri"/>
              <a:sym typeface="Calibri"/>
            </a:endParaRPr>
          </a:p>
          <a:p>
            <a:pPr indent="0" lvl="0" marL="0" rtl="0" algn="l">
              <a:spcBef>
                <a:spcPts val="300"/>
              </a:spcBef>
              <a:spcAft>
                <a:spcPts val="0"/>
              </a:spcAft>
              <a:buNone/>
            </a:pPr>
            <a:r>
              <a:rPr b="1" lang="en-GB">
                <a:solidFill>
                  <a:schemeClr val="dk1"/>
                </a:solidFill>
                <a:latin typeface="Calibri"/>
                <a:ea typeface="Calibri"/>
                <a:cs typeface="Calibri"/>
                <a:sym typeface="Calibri"/>
              </a:rPr>
              <a:t>2) Correlation shift (relationship change)</a:t>
            </a:r>
            <a:endParaRPr b="1">
              <a:solidFill>
                <a:schemeClr val="dk1"/>
              </a:solidFill>
              <a:latin typeface="Calibri"/>
              <a:ea typeface="Calibri"/>
              <a:cs typeface="Calibri"/>
              <a:sym typeface="Calibri"/>
            </a:endParaRPr>
          </a:p>
          <a:p>
            <a:pPr indent="-298450" lvl="0" marL="457200" rtl="0" algn="l">
              <a:spcBef>
                <a:spcPts val="300"/>
              </a:spcBef>
              <a:spcAft>
                <a:spcPts val="0"/>
              </a:spcAft>
              <a:buClr>
                <a:schemeClr val="dk1"/>
              </a:buClr>
              <a:buSzPts val="1100"/>
              <a:buFont typeface="Calibri"/>
              <a:buAutoNum type="arabicParenR"/>
            </a:pPr>
            <a:r>
              <a:rPr lang="en-GB" sz="1100">
                <a:solidFill>
                  <a:schemeClr val="dk1"/>
                </a:solidFill>
                <a:latin typeface="Calibri"/>
                <a:ea typeface="Calibri"/>
                <a:cs typeface="Calibri"/>
                <a:sym typeface="Calibri"/>
              </a:rPr>
              <a:t>Compute correlation matrix between the PE features, C-Prev and C-Curr (rows = N PE samples, columns = d selected features)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AutoNum type="arabicParenR"/>
            </a:pPr>
            <a:r>
              <a:rPr lang="en-GB" sz="1100">
                <a:solidFill>
                  <a:schemeClr val="dk1"/>
                </a:solidFill>
                <a:latin typeface="Calibri"/>
                <a:ea typeface="Calibri"/>
                <a:cs typeface="Calibri"/>
                <a:sym typeface="Calibri"/>
              </a:rPr>
              <a:t>Compute average absolute difference</a:t>
            </a:r>
            <a:endParaRPr b="1" sz="1100">
              <a:solidFill>
                <a:schemeClr val="dk1"/>
              </a:solidFill>
              <a:latin typeface="Calibri"/>
              <a:ea typeface="Calibri"/>
              <a:cs typeface="Calibri"/>
              <a:sym typeface="Calibri"/>
            </a:endParaRPr>
          </a:p>
          <a:p>
            <a:pPr indent="0" lvl="0" marL="0" rtl="0" algn="l">
              <a:spcBef>
                <a:spcPts val="3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300"/>
              </a:spcBef>
              <a:spcAft>
                <a:spcPts val="300"/>
              </a:spcAft>
              <a:buNone/>
            </a:pPr>
            <a:r>
              <a:t/>
            </a:r>
            <a:endParaRPr b="1" sz="1100">
              <a:solidFill>
                <a:schemeClr val="dk1"/>
              </a:solidFill>
              <a:latin typeface="Calibri"/>
              <a:ea typeface="Calibri"/>
              <a:cs typeface="Calibri"/>
              <a:sym typeface="Calibri"/>
            </a:endParaRPr>
          </a:p>
        </p:txBody>
      </p:sp>
      <p:sp>
        <p:nvSpPr>
          <p:cNvPr id="403" name="Google Shape;403;p21"/>
          <p:cNvSpPr txBox="1"/>
          <p:nvPr/>
        </p:nvSpPr>
        <p:spPr>
          <a:xfrm>
            <a:off x="4590250" y="762150"/>
            <a:ext cx="409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a:solidFill>
                  <a:srgbClr val="FFFFFF"/>
                </a:solidFill>
                <a:latin typeface="Calibri"/>
                <a:ea typeface="Calibri"/>
                <a:cs typeface="Calibri"/>
                <a:sym typeface="Calibri"/>
              </a:rPr>
              <a:t>MATHEMATICAL LOGIC</a:t>
            </a:r>
            <a:endParaRPr b="1">
              <a:solidFill>
                <a:srgbClr val="FFFFFF"/>
              </a:solidFill>
              <a:latin typeface="Calibri"/>
              <a:ea typeface="Calibri"/>
              <a:cs typeface="Calibri"/>
              <a:sym typeface="Calibri"/>
            </a:endParaRPr>
          </a:p>
        </p:txBody>
      </p:sp>
      <p:sp>
        <p:nvSpPr>
          <p:cNvPr id="404" name="Google Shape;404;p21"/>
          <p:cNvSpPr/>
          <p:nvPr/>
        </p:nvSpPr>
        <p:spPr>
          <a:xfrm>
            <a:off x="4590250" y="1047900"/>
            <a:ext cx="4095900" cy="1524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1"/>
          <p:cNvSpPr txBox="1"/>
          <p:nvPr/>
        </p:nvSpPr>
        <p:spPr>
          <a:xfrm>
            <a:off x="4733125" y="1143150"/>
            <a:ext cx="3810000" cy="14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chemeClr val="dk1"/>
                </a:solidFill>
                <a:latin typeface="Calibri"/>
                <a:ea typeface="Calibri"/>
                <a:cs typeface="Calibri"/>
                <a:sym typeface="Calibri"/>
              </a:rPr>
              <a:t>1) Mean/Variance Shift (Z-Shift)</a:t>
            </a:r>
            <a:endParaRPr b="1">
              <a:solidFill>
                <a:schemeClr val="dk1"/>
              </a:solidFill>
              <a:latin typeface="Calibri"/>
              <a:ea typeface="Calibri"/>
              <a:cs typeface="Calibri"/>
              <a:sym typeface="Calibri"/>
            </a:endParaRPr>
          </a:p>
          <a:p>
            <a:pPr indent="0" lvl="0" marL="0" rtl="0" algn="l">
              <a:spcBef>
                <a:spcPts val="375"/>
              </a:spcBef>
              <a:spcAft>
                <a:spcPts val="0"/>
              </a:spcAft>
              <a:buNone/>
            </a:pPr>
            <a:r>
              <a:rPr b="0" lang="en-GB" sz="1100">
                <a:solidFill>
                  <a:srgbClr val="1A1A2E"/>
                </a:solidFill>
                <a:latin typeface="Calibri"/>
                <a:ea typeface="Calibri"/>
                <a:cs typeface="Calibri"/>
                <a:sym typeface="Calibri"/>
              </a:rPr>
              <a:t>Measures normalized change in feature distribution:</a:t>
            </a:r>
            <a:endParaRPr b="0" sz="1100">
              <a:solidFill>
                <a:srgbClr val="1A1A2E"/>
              </a:solidFill>
              <a:latin typeface="Calibri"/>
              <a:ea typeface="Calibri"/>
              <a:cs typeface="Calibri"/>
              <a:sym typeface="Calibri"/>
            </a:endParaRPr>
          </a:p>
          <a:p>
            <a:pPr indent="0" lvl="0" marL="0" rtl="0" algn="l">
              <a:spcBef>
                <a:spcPts val="600"/>
              </a:spcBef>
              <a:spcAft>
                <a:spcPts val="0"/>
              </a:spcAft>
              <a:buNone/>
            </a:pPr>
            <a:r>
              <a:t/>
            </a:r>
            <a:endParaRPr b="1" sz="1050">
              <a:solidFill>
                <a:srgbClr val="E94560"/>
              </a:solidFill>
              <a:latin typeface="Courier New"/>
              <a:ea typeface="Courier New"/>
              <a:cs typeface="Courier New"/>
              <a:sym typeface="Courier New"/>
            </a:endParaRPr>
          </a:p>
          <a:p>
            <a:pPr indent="0" lvl="0" marL="0" rtl="0" algn="l">
              <a:spcBef>
                <a:spcPts val="375"/>
              </a:spcBef>
              <a:spcAft>
                <a:spcPts val="0"/>
              </a:spcAft>
              <a:buNone/>
            </a:pPr>
            <a:r>
              <a:t/>
            </a:r>
            <a:endParaRPr b="1" sz="1050">
              <a:solidFill>
                <a:srgbClr val="E94560"/>
              </a:solidFill>
              <a:latin typeface="Courier New"/>
              <a:ea typeface="Courier New"/>
              <a:cs typeface="Courier New"/>
              <a:sym typeface="Courier New"/>
            </a:endParaRPr>
          </a:p>
          <a:p>
            <a:pPr indent="0" lvl="0" marL="0" rtl="0" algn="l">
              <a:spcBef>
                <a:spcPts val="375"/>
              </a:spcBef>
              <a:spcAft>
                <a:spcPts val="0"/>
              </a:spcAft>
              <a:buNone/>
            </a:pPr>
            <a:r>
              <a:t/>
            </a:r>
            <a:endParaRPr b="1" sz="1050">
              <a:solidFill>
                <a:srgbClr val="E94560"/>
              </a:solidFill>
              <a:latin typeface="Courier New"/>
              <a:ea typeface="Courier New"/>
              <a:cs typeface="Courier New"/>
              <a:sym typeface="Courier New"/>
            </a:endParaRPr>
          </a:p>
          <a:p>
            <a:pPr indent="0" lvl="0" marL="0" rtl="0" algn="l">
              <a:spcBef>
                <a:spcPts val="375"/>
              </a:spcBef>
              <a:spcAft>
                <a:spcPts val="0"/>
              </a:spcAft>
              <a:buNone/>
            </a:pPr>
            <a:br>
              <a:rPr i="1" lang="en-GB" sz="950">
                <a:solidFill>
                  <a:srgbClr val="4B5563"/>
                </a:solidFill>
                <a:latin typeface="Calibri"/>
                <a:ea typeface="Calibri"/>
                <a:cs typeface="Calibri"/>
                <a:sym typeface="Calibri"/>
              </a:rPr>
            </a:br>
            <a:r>
              <a:rPr i="1" lang="en-GB" sz="950">
                <a:solidFill>
                  <a:srgbClr val="4B5563"/>
                </a:solidFill>
                <a:latin typeface="Calibri"/>
                <a:ea typeface="Calibri"/>
                <a:cs typeface="Calibri"/>
                <a:sym typeface="Calibri"/>
              </a:rPr>
              <a:t>Did the typical value of features move a lot compared to normal variation?</a:t>
            </a:r>
            <a:endParaRPr b="0" i="1" sz="950">
              <a:solidFill>
                <a:srgbClr val="4B5563"/>
              </a:solidFill>
              <a:latin typeface="Calibri"/>
              <a:ea typeface="Calibri"/>
              <a:cs typeface="Calibri"/>
              <a:sym typeface="Calibri"/>
            </a:endParaRPr>
          </a:p>
        </p:txBody>
      </p:sp>
      <p:sp>
        <p:nvSpPr>
          <p:cNvPr id="406" name="Google Shape;406;p21"/>
          <p:cNvSpPr/>
          <p:nvPr/>
        </p:nvSpPr>
        <p:spPr>
          <a:xfrm>
            <a:off x="4590250" y="2762400"/>
            <a:ext cx="4095900" cy="1524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1"/>
          <p:cNvSpPr txBox="1"/>
          <p:nvPr/>
        </p:nvSpPr>
        <p:spPr>
          <a:xfrm>
            <a:off x="4733125" y="2857650"/>
            <a:ext cx="38100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rgbClr val="1E1E1E"/>
                </a:solidFill>
                <a:latin typeface="Calibri"/>
                <a:ea typeface="Calibri"/>
                <a:cs typeface="Calibri"/>
                <a:sym typeface="Calibri"/>
              </a:rPr>
              <a:t>2) Correlation Shift (Structural Change)</a:t>
            </a:r>
            <a:endParaRPr b="1">
              <a:solidFill>
                <a:srgbClr val="1E1E1E"/>
              </a:solidFill>
              <a:latin typeface="Calibri"/>
              <a:ea typeface="Calibri"/>
              <a:cs typeface="Calibri"/>
              <a:sym typeface="Calibri"/>
            </a:endParaRPr>
          </a:p>
          <a:p>
            <a:pPr indent="0" lvl="0" marL="0" rtl="0" algn="l">
              <a:spcBef>
                <a:spcPts val="375"/>
              </a:spcBef>
              <a:spcAft>
                <a:spcPts val="0"/>
              </a:spcAft>
              <a:buNone/>
            </a:pPr>
            <a:r>
              <a:rPr b="0" lang="en-GB" sz="1100">
                <a:solidFill>
                  <a:srgbClr val="1A1A2E"/>
                </a:solidFill>
                <a:latin typeface="Calibri"/>
                <a:ea typeface="Calibri"/>
                <a:cs typeface="Calibri"/>
                <a:sym typeface="Calibri"/>
              </a:rPr>
              <a:t>Detects changes in relationships between features:</a:t>
            </a:r>
            <a:endParaRPr b="0" sz="1100">
              <a:solidFill>
                <a:srgbClr val="1A1A2E"/>
              </a:solidFill>
              <a:latin typeface="Calibri"/>
              <a:ea typeface="Calibri"/>
              <a:cs typeface="Calibri"/>
              <a:sym typeface="Calibri"/>
            </a:endParaRPr>
          </a:p>
          <a:p>
            <a:pPr indent="0" lvl="0" marL="0" rtl="0" algn="l">
              <a:spcBef>
                <a:spcPts val="600"/>
              </a:spcBef>
              <a:spcAft>
                <a:spcPts val="0"/>
              </a:spcAft>
              <a:buNone/>
            </a:pPr>
            <a:br>
              <a:rPr b="1" lang="en-GB" sz="1050">
                <a:solidFill>
                  <a:srgbClr val="E94560"/>
                </a:solidFill>
                <a:latin typeface="Courier New"/>
                <a:ea typeface="Courier New"/>
                <a:cs typeface="Courier New"/>
                <a:sym typeface="Courier New"/>
              </a:rPr>
            </a:br>
            <a:br>
              <a:rPr b="1" lang="en-GB" sz="1050">
                <a:solidFill>
                  <a:srgbClr val="E94560"/>
                </a:solidFill>
                <a:latin typeface="Courier New"/>
                <a:ea typeface="Courier New"/>
                <a:cs typeface="Courier New"/>
                <a:sym typeface="Courier New"/>
              </a:rPr>
            </a:br>
            <a:endParaRPr b="1" sz="1050">
              <a:solidFill>
                <a:srgbClr val="E94560"/>
              </a:solidFill>
              <a:latin typeface="Courier New"/>
              <a:ea typeface="Courier New"/>
              <a:cs typeface="Courier New"/>
              <a:sym typeface="Courier New"/>
            </a:endParaRPr>
          </a:p>
          <a:p>
            <a:pPr indent="0" lvl="0" marL="0" rtl="0" algn="l">
              <a:spcBef>
                <a:spcPts val="1125"/>
              </a:spcBef>
              <a:spcAft>
                <a:spcPts val="0"/>
              </a:spcAft>
              <a:buNone/>
            </a:pPr>
            <a:r>
              <a:rPr i="1" lang="en-GB" sz="950">
                <a:solidFill>
                  <a:srgbClr val="4B5563"/>
                </a:solidFill>
                <a:latin typeface="Calibri"/>
                <a:ea typeface="Calibri"/>
                <a:cs typeface="Calibri"/>
                <a:sym typeface="Calibri"/>
              </a:rPr>
              <a:t>Even if averages look similar, did features start moving together differently?</a:t>
            </a:r>
            <a:endParaRPr b="0" i="1" sz="950">
              <a:solidFill>
                <a:srgbClr val="4B5563"/>
              </a:solidFill>
              <a:latin typeface="Calibri"/>
              <a:ea typeface="Calibri"/>
              <a:cs typeface="Calibri"/>
              <a:sym typeface="Calibri"/>
            </a:endParaRPr>
          </a:p>
        </p:txBody>
      </p:sp>
      <p:pic>
        <p:nvPicPr>
          <p:cNvPr id="408" name="Google Shape;408;p21" title="lagrida_latex_editor.png"/>
          <p:cNvPicPr preferRelativeResize="0"/>
          <p:nvPr/>
        </p:nvPicPr>
        <p:blipFill>
          <a:blip r:embed="rId3">
            <a:alphaModFix/>
          </a:blip>
          <a:stretch>
            <a:fillRect/>
          </a:stretch>
        </p:blipFill>
        <p:spPr>
          <a:xfrm>
            <a:off x="4733122" y="1589962"/>
            <a:ext cx="1723425" cy="439875"/>
          </a:xfrm>
          <a:prstGeom prst="rect">
            <a:avLst/>
          </a:prstGeom>
          <a:noFill/>
          <a:ln>
            <a:noFill/>
          </a:ln>
        </p:spPr>
      </p:pic>
      <p:pic>
        <p:nvPicPr>
          <p:cNvPr id="409" name="Google Shape;409;p21"/>
          <p:cNvPicPr preferRelativeResize="0"/>
          <p:nvPr/>
        </p:nvPicPr>
        <p:blipFill>
          <a:blip r:embed="rId4">
            <a:alphaModFix/>
          </a:blip>
          <a:stretch>
            <a:fillRect/>
          </a:stretch>
        </p:blipFill>
        <p:spPr>
          <a:xfrm>
            <a:off x="6456548" y="2029822"/>
            <a:ext cx="1915549" cy="178025"/>
          </a:xfrm>
          <a:prstGeom prst="rect">
            <a:avLst/>
          </a:prstGeom>
          <a:noFill/>
          <a:ln>
            <a:noFill/>
          </a:ln>
        </p:spPr>
      </p:pic>
      <p:pic>
        <p:nvPicPr>
          <p:cNvPr id="410" name="Google Shape;410;p21" title="lagrida_latex_editor (3).png"/>
          <p:cNvPicPr preferRelativeResize="0"/>
          <p:nvPr/>
        </p:nvPicPr>
        <p:blipFill>
          <a:blip r:embed="rId5">
            <a:alphaModFix/>
          </a:blip>
          <a:stretch>
            <a:fillRect/>
          </a:stretch>
        </p:blipFill>
        <p:spPr>
          <a:xfrm>
            <a:off x="4800213" y="3565775"/>
            <a:ext cx="3571875" cy="247650"/>
          </a:xfrm>
          <a:prstGeom prst="rect">
            <a:avLst/>
          </a:prstGeom>
          <a:noFill/>
          <a:ln>
            <a:noFill/>
          </a:ln>
        </p:spPr>
      </p:pic>
      <p:pic>
        <p:nvPicPr>
          <p:cNvPr id="411" name="Google Shape;411;p21" title="lagrida_latex_editor (2).png"/>
          <p:cNvPicPr preferRelativeResize="0"/>
          <p:nvPr/>
        </p:nvPicPr>
        <p:blipFill>
          <a:blip r:embed="rId6">
            <a:alphaModFix/>
          </a:blip>
          <a:stretch>
            <a:fillRect/>
          </a:stretch>
        </p:blipFill>
        <p:spPr>
          <a:xfrm>
            <a:off x="5196200" y="3300988"/>
            <a:ext cx="2779929" cy="178025"/>
          </a:xfrm>
          <a:prstGeom prst="rect">
            <a:avLst/>
          </a:prstGeom>
          <a:noFill/>
          <a:ln>
            <a:noFill/>
          </a:ln>
        </p:spPr>
      </p:pic>
      <p:pic>
        <p:nvPicPr>
          <p:cNvPr id="412" name="Google Shape;412;p21"/>
          <p:cNvPicPr preferRelativeResize="0"/>
          <p:nvPr/>
        </p:nvPicPr>
        <p:blipFill>
          <a:blip r:embed="rId7">
            <a:alphaModFix/>
          </a:blip>
          <a:stretch>
            <a:fillRect/>
          </a:stretch>
        </p:blipFill>
        <p:spPr>
          <a:xfrm>
            <a:off x="3674875" y="4569700"/>
            <a:ext cx="790426" cy="285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17" name="Shape 417"/>
        <p:cNvGrpSpPr/>
        <p:nvPr/>
      </p:nvGrpSpPr>
      <p:grpSpPr>
        <a:xfrm>
          <a:off x="0" y="0"/>
          <a:ext cx="0" cy="0"/>
          <a:chOff x="0" y="0"/>
          <a:chExt cx="0" cy="0"/>
        </a:xfrm>
      </p:grpSpPr>
      <p:sp>
        <p:nvSpPr>
          <p:cNvPr id="418" name="Google Shape;418;p22"/>
          <p:cNvSpPr/>
          <p:nvPr/>
        </p:nvSpPr>
        <p:spPr>
          <a:xfrm>
            <a:off x="0" y="0"/>
            <a:ext cx="9144000" cy="64008"/>
          </a:xfrm>
          <a:prstGeom prst="rect">
            <a:avLst/>
          </a:prstGeom>
          <a:solidFill>
            <a:srgbClr val="6B21A8"/>
          </a:solidFill>
          <a:ln cap="flat" cmpd="sng" w="12700">
            <a:solidFill>
              <a:srgbClr val="6B2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2"/>
          <p:cNvSpPr/>
          <p:nvPr/>
        </p:nvSpPr>
        <p:spPr>
          <a:xfrm>
            <a:off x="411480" y="128016"/>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300"/>
              <a:buFont typeface="Calibri"/>
              <a:buNone/>
            </a:pPr>
            <a:r>
              <a:rPr b="1" i="0" lang="en-GB" sz="2300" u="none" cap="none" strike="noStrike">
                <a:solidFill>
                  <a:srgbClr val="1A1A2E"/>
                </a:solidFill>
                <a:latin typeface="Calibri"/>
                <a:ea typeface="Calibri"/>
                <a:cs typeface="Calibri"/>
                <a:sym typeface="Calibri"/>
              </a:rPr>
              <a:t>LLM Sidecar — Ollama Integration</a:t>
            </a:r>
            <a:endParaRPr b="0" i="0" sz="2300" u="none" cap="none" strike="noStrike">
              <a:solidFill>
                <a:schemeClr val="dk1"/>
              </a:solidFill>
              <a:latin typeface="Calibri"/>
              <a:ea typeface="Calibri"/>
              <a:cs typeface="Calibri"/>
              <a:sym typeface="Calibri"/>
            </a:endParaRPr>
          </a:p>
        </p:txBody>
      </p:sp>
      <p:sp>
        <p:nvSpPr>
          <p:cNvPr id="420" name="Google Shape;420;p22"/>
          <p:cNvSpPr/>
          <p:nvPr/>
        </p:nvSpPr>
        <p:spPr>
          <a:xfrm>
            <a:off x="274320" y="822960"/>
            <a:ext cx="4160520" cy="1600200"/>
          </a:xfrm>
          <a:prstGeom prst="rect">
            <a:avLst/>
          </a:prstGeom>
          <a:solidFill>
            <a:srgbClr val="FFFFFF"/>
          </a:solidFill>
          <a:ln cap="flat" cmpd="sng" w="19050">
            <a:solidFill>
              <a:srgbClr val="E9D5FF"/>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2"/>
          <p:cNvSpPr/>
          <p:nvPr/>
        </p:nvSpPr>
        <p:spPr>
          <a:xfrm>
            <a:off x="274320" y="822960"/>
            <a:ext cx="4160520" cy="64008"/>
          </a:xfrm>
          <a:prstGeom prst="rect">
            <a:avLst/>
          </a:prstGeom>
          <a:solidFill>
            <a:srgbClr val="6B21A8"/>
          </a:solidFill>
          <a:ln cap="flat" cmpd="sng" w="12700">
            <a:solidFill>
              <a:srgbClr val="6B2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2"/>
          <p:cNvSpPr/>
          <p:nvPr/>
        </p:nvSpPr>
        <p:spPr>
          <a:xfrm>
            <a:off x="457200" y="987552"/>
            <a:ext cx="3794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21A8"/>
              </a:buClr>
              <a:buSzPts val="1300"/>
              <a:buFont typeface="Calibri"/>
              <a:buNone/>
            </a:pPr>
            <a:r>
              <a:rPr b="1" i="0" lang="en-GB" sz="1300" u="none" cap="none" strike="noStrike">
                <a:solidFill>
                  <a:srgbClr val="6B21A8"/>
                </a:solidFill>
                <a:latin typeface="Calibri"/>
                <a:ea typeface="Calibri"/>
                <a:cs typeface="Calibri"/>
                <a:sym typeface="Calibri"/>
              </a:rPr>
              <a:t>Source Strategy Selection</a:t>
            </a:r>
            <a:endParaRPr b="0" i="0" sz="1300" u="none" cap="none" strike="noStrike">
              <a:solidFill>
                <a:schemeClr val="dk1"/>
              </a:solidFill>
              <a:latin typeface="Calibri"/>
              <a:ea typeface="Calibri"/>
              <a:cs typeface="Calibri"/>
              <a:sym typeface="Calibri"/>
            </a:endParaRPr>
          </a:p>
        </p:txBody>
      </p:sp>
      <p:sp>
        <p:nvSpPr>
          <p:cNvPr id="423" name="Google Shape;423;p22"/>
          <p:cNvSpPr/>
          <p:nvPr/>
        </p:nvSpPr>
        <p:spPr>
          <a:xfrm>
            <a:off x="457200" y="1399032"/>
            <a:ext cx="37947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050"/>
              <a:buFont typeface="Calibri"/>
              <a:buNone/>
            </a:pPr>
            <a:r>
              <a:rPr b="0" i="0" lang="en-GB" sz="1050" u="none" cap="none" strike="noStrike">
                <a:solidFill>
                  <a:srgbClr val="1A1A2E"/>
                </a:solidFill>
                <a:latin typeface="Calibri"/>
                <a:ea typeface="Calibri"/>
                <a:cs typeface="Calibri"/>
                <a:sym typeface="Calibri"/>
              </a:rPr>
              <a:t>Helps source_selector choose bootstrap vs. steady strategy based on live SQLite class counts and provider yield metrics</a:t>
            </a:r>
            <a:endParaRPr b="0" i="0" sz="1050" u="none" cap="none" strike="noStrike">
              <a:solidFill>
                <a:schemeClr val="dk1"/>
              </a:solidFill>
              <a:latin typeface="Calibri"/>
              <a:ea typeface="Calibri"/>
              <a:cs typeface="Calibri"/>
              <a:sym typeface="Calibri"/>
            </a:endParaRPr>
          </a:p>
        </p:txBody>
      </p:sp>
      <p:sp>
        <p:nvSpPr>
          <p:cNvPr id="424" name="Google Shape;424;p22"/>
          <p:cNvSpPr/>
          <p:nvPr/>
        </p:nvSpPr>
        <p:spPr>
          <a:xfrm>
            <a:off x="4754880" y="822960"/>
            <a:ext cx="4160520" cy="1600200"/>
          </a:xfrm>
          <a:prstGeom prst="rect">
            <a:avLst/>
          </a:prstGeom>
          <a:solidFill>
            <a:srgbClr val="FFFFFF"/>
          </a:solidFill>
          <a:ln cap="flat" cmpd="sng" w="19050">
            <a:solidFill>
              <a:srgbClr val="E9D5FF"/>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2"/>
          <p:cNvSpPr/>
          <p:nvPr/>
        </p:nvSpPr>
        <p:spPr>
          <a:xfrm>
            <a:off x="4754880" y="822960"/>
            <a:ext cx="4160520" cy="64008"/>
          </a:xfrm>
          <a:prstGeom prst="rect">
            <a:avLst/>
          </a:prstGeom>
          <a:solidFill>
            <a:srgbClr val="6B21A8"/>
          </a:solidFill>
          <a:ln cap="flat" cmpd="sng" w="12700">
            <a:solidFill>
              <a:srgbClr val="6B2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2"/>
          <p:cNvSpPr/>
          <p:nvPr/>
        </p:nvSpPr>
        <p:spPr>
          <a:xfrm>
            <a:off x="4937760" y="987552"/>
            <a:ext cx="3794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21A8"/>
              </a:buClr>
              <a:buSzPts val="1300"/>
              <a:buFont typeface="Calibri"/>
              <a:buNone/>
            </a:pPr>
            <a:r>
              <a:rPr b="1" i="0" lang="en-GB" sz="1300" u="none" cap="none" strike="noStrike">
                <a:solidFill>
                  <a:srgbClr val="6B21A8"/>
                </a:solidFill>
                <a:latin typeface="Calibri"/>
                <a:ea typeface="Calibri"/>
                <a:cs typeface="Calibri"/>
                <a:sym typeface="Calibri"/>
              </a:rPr>
              <a:t>CTI Hash Filtering</a:t>
            </a:r>
            <a:endParaRPr b="0" i="0" sz="1300" u="none" cap="none" strike="noStrike">
              <a:solidFill>
                <a:schemeClr val="dk1"/>
              </a:solidFill>
              <a:latin typeface="Calibri"/>
              <a:ea typeface="Calibri"/>
              <a:cs typeface="Calibri"/>
              <a:sym typeface="Calibri"/>
            </a:endParaRPr>
          </a:p>
        </p:txBody>
      </p:sp>
      <p:sp>
        <p:nvSpPr>
          <p:cNvPr id="427" name="Google Shape;427;p22"/>
          <p:cNvSpPr/>
          <p:nvPr/>
        </p:nvSpPr>
        <p:spPr>
          <a:xfrm>
            <a:off x="4937760" y="1399032"/>
            <a:ext cx="37947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050"/>
              <a:buFont typeface="Calibri"/>
              <a:buNone/>
            </a:pPr>
            <a:r>
              <a:rPr b="0" i="0" lang="en-GB" sz="1050" u="none" cap="none" strike="noStrike">
                <a:solidFill>
                  <a:srgbClr val="1A1A2E"/>
                </a:solidFill>
                <a:latin typeface="Calibri"/>
                <a:ea typeface="Calibri"/>
                <a:cs typeface="Calibri"/>
                <a:sym typeface="Calibri"/>
              </a:rPr>
              <a:t>Structured semantic verdicts on OTX pulse raw text — extracts SHA256 indicators with confidence score ≥ 0.6, skips during bootstrap</a:t>
            </a:r>
            <a:endParaRPr b="0" i="0" sz="1050" u="none" cap="none" strike="noStrike">
              <a:solidFill>
                <a:schemeClr val="dk1"/>
              </a:solidFill>
              <a:latin typeface="Calibri"/>
              <a:ea typeface="Calibri"/>
              <a:cs typeface="Calibri"/>
              <a:sym typeface="Calibri"/>
            </a:endParaRPr>
          </a:p>
        </p:txBody>
      </p:sp>
      <p:sp>
        <p:nvSpPr>
          <p:cNvPr id="428" name="Google Shape;428;p22"/>
          <p:cNvSpPr/>
          <p:nvPr/>
        </p:nvSpPr>
        <p:spPr>
          <a:xfrm>
            <a:off x="274320" y="2542032"/>
            <a:ext cx="4160520" cy="1600200"/>
          </a:xfrm>
          <a:prstGeom prst="rect">
            <a:avLst/>
          </a:prstGeom>
          <a:solidFill>
            <a:srgbClr val="FFFFFF"/>
          </a:solidFill>
          <a:ln cap="flat" cmpd="sng" w="19050">
            <a:solidFill>
              <a:srgbClr val="E9D5FF"/>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2"/>
          <p:cNvSpPr/>
          <p:nvPr/>
        </p:nvSpPr>
        <p:spPr>
          <a:xfrm>
            <a:off x="274320" y="2542032"/>
            <a:ext cx="4160520" cy="64008"/>
          </a:xfrm>
          <a:prstGeom prst="rect">
            <a:avLst/>
          </a:prstGeom>
          <a:solidFill>
            <a:srgbClr val="6B21A8"/>
          </a:solidFill>
          <a:ln cap="flat" cmpd="sng" w="12700">
            <a:solidFill>
              <a:srgbClr val="6B2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2"/>
          <p:cNvSpPr/>
          <p:nvPr/>
        </p:nvSpPr>
        <p:spPr>
          <a:xfrm>
            <a:off x="457200" y="2706624"/>
            <a:ext cx="3794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21A8"/>
              </a:buClr>
              <a:buSzPts val="1300"/>
              <a:buFont typeface="Calibri"/>
              <a:buNone/>
            </a:pPr>
            <a:r>
              <a:rPr b="1" i="0" lang="en-GB" sz="1300" u="none" cap="none" strike="noStrike">
                <a:solidFill>
                  <a:srgbClr val="6B21A8"/>
                </a:solidFill>
                <a:latin typeface="Calibri"/>
                <a:ea typeface="Calibri"/>
                <a:cs typeface="Calibri"/>
                <a:sym typeface="Calibri"/>
              </a:rPr>
              <a:t>PE Parse-Error Triage</a:t>
            </a:r>
            <a:endParaRPr b="0" i="0" sz="1300" u="none" cap="none" strike="noStrike">
              <a:solidFill>
                <a:schemeClr val="dk1"/>
              </a:solidFill>
              <a:latin typeface="Calibri"/>
              <a:ea typeface="Calibri"/>
              <a:cs typeface="Calibri"/>
              <a:sym typeface="Calibri"/>
            </a:endParaRPr>
          </a:p>
        </p:txBody>
      </p:sp>
      <p:sp>
        <p:nvSpPr>
          <p:cNvPr id="431" name="Google Shape;431;p22"/>
          <p:cNvSpPr/>
          <p:nvPr/>
        </p:nvSpPr>
        <p:spPr>
          <a:xfrm>
            <a:off x="457200" y="3118104"/>
            <a:ext cx="37947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050"/>
              <a:buFont typeface="Calibri"/>
              <a:buNone/>
            </a:pPr>
            <a:r>
              <a:rPr b="0" i="0" lang="en-GB" sz="1050" u="none" cap="none" strike="noStrike">
                <a:solidFill>
                  <a:srgbClr val="1A1A2E"/>
                </a:solidFill>
                <a:latin typeface="Calibri"/>
                <a:ea typeface="Calibri"/>
                <a:cs typeface="Calibri"/>
                <a:sym typeface="Calibri"/>
              </a:rPr>
              <a:t>Reviews pefile parse warnings during feature extraction — helps skip corrupted or suspicious files faster, avoiding re-queuing</a:t>
            </a:r>
            <a:endParaRPr b="0" i="0" sz="1050" u="none" cap="none" strike="noStrike">
              <a:solidFill>
                <a:schemeClr val="dk1"/>
              </a:solidFill>
              <a:latin typeface="Calibri"/>
              <a:ea typeface="Calibri"/>
              <a:cs typeface="Calibri"/>
              <a:sym typeface="Calibri"/>
            </a:endParaRPr>
          </a:p>
        </p:txBody>
      </p:sp>
      <p:sp>
        <p:nvSpPr>
          <p:cNvPr id="432" name="Google Shape;432;p22"/>
          <p:cNvSpPr/>
          <p:nvPr/>
        </p:nvSpPr>
        <p:spPr>
          <a:xfrm>
            <a:off x="4754880" y="2542032"/>
            <a:ext cx="4160520" cy="1600200"/>
          </a:xfrm>
          <a:prstGeom prst="rect">
            <a:avLst/>
          </a:prstGeom>
          <a:solidFill>
            <a:srgbClr val="FFFFFF"/>
          </a:solidFill>
          <a:ln cap="flat" cmpd="sng" w="19050">
            <a:solidFill>
              <a:srgbClr val="E9D5FF"/>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2"/>
          <p:cNvSpPr/>
          <p:nvPr/>
        </p:nvSpPr>
        <p:spPr>
          <a:xfrm>
            <a:off x="4754880" y="2542032"/>
            <a:ext cx="4160520" cy="64008"/>
          </a:xfrm>
          <a:prstGeom prst="rect">
            <a:avLst/>
          </a:prstGeom>
          <a:solidFill>
            <a:srgbClr val="6B21A8"/>
          </a:solidFill>
          <a:ln cap="flat" cmpd="sng" w="12700">
            <a:solidFill>
              <a:srgbClr val="6B2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2"/>
          <p:cNvSpPr/>
          <p:nvPr/>
        </p:nvSpPr>
        <p:spPr>
          <a:xfrm>
            <a:off x="4937760" y="2706624"/>
            <a:ext cx="3794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21A8"/>
              </a:buClr>
              <a:buSzPts val="1300"/>
              <a:buFont typeface="Calibri"/>
              <a:buNone/>
            </a:pPr>
            <a:r>
              <a:rPr b="1" i="0" lang="en-GB" sz="1300" u="none" cap="none" strike="noStrike">
                <a:solidFill>
                  <a:srgbClr val="6B21A8"/>
                </a:solidFill>
                <a:latin typeface="Calibri"/>
                <a:ea typeface="Calibri"/>
                <a:cs typeface="Calibri"/>
                <a:sym typeface="Calibri"/>
              </a:rPr>
              <a:t>Drift Explanation Report</a:t>
            </a:r>
            <a:endParaRPr b="0" i="0" sz="1300" u="none" cap="none" strike="noStrike">
              <a:solidFill>
                <a:schemeClr val="dk1"/>
              </a:solidFill>
              <a:latin typeface="Calibri"/>
              <a:ea typeface="Calibri"/>
              <a:cs typeface="Calibri"/>
              <a:sym typeface="Calibri"/>
            </a:endParaRPr>
          </a:p>
        </p:txBody>
      </p:sp>
      <p:sp>
        <p:nvSpPr>
          <p:cNvPr id="435" name="Google Shape;435;p22"/>
          <p:cNvSpPr/>
          <p:nvPr/>
        </p:nvSpPr>
        <p:spPr>
          <a:xfrm>
            <a:off x="4937760" y="3118104"/>
            <a:ext cx="37947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050"/>
              <a:buFont typeface="Calibri"/>
              <a:buNone/>
            </a:pPr>
            <a:r>
              <a:rPr b="0" i="0" lang="en-GB" sz="1050" u="none" cap="none" strike="noStrike">
                <a:solidFill>
                  <a:srgbClr val="1A1A2E"/>
                </a:solidFill>
                <a:latin typeface="Calibri"/>
                <a:ea typeface="Calibri"/>
                <a:cs typeface="Calibri"/>
                <a:sym typeface="Calibri"/>
              </a:rPr>
              <a:t>Generates plain-text summary of drift events from ADWIN alert stats, anomalous PE features, and affected malware families</a:t>
            </a:r>
            <a:endParaRPr b="0" i="0" sz="1050" u="none" cap="none" strike="noStrike">
              <a:solidFill>
                <a:schemeClr val="dk1"/>
              </a:solidFill>
              <a:latin typeface="Calibri"/>
              <a:ea typeface="Calibri"/>
              <a:cs typeface="Calibri"/>
              <a:sym typeface="Calibri"/>
            </a:endParaRPr>
          </a:p>
        </p:txBody>
      </p:sp>
      <p:sp>
        <p:nvSpPr>
          <p:cNvPr id="436" name="Google Shape;436;p22"/>
          <p:cNvSpPr/>
          <p:nvPr/>
        </p:nvSpPr>
        <p:spPr>
          <a:xfrm>
            <a:off x="274320" y="4270248"/>
            <a:ext cx="8595360" cy="713232"/>
          </a:xfrm>
          <a:prstGeom prst="rect">
            <a:avLst/>
          </a:prstGeom>
          <a:solidFill>
            <a:srgbClr val="F1F5F9"/>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2"/>
          <p:cNvSpPr/>
          <p:nvPr/>
        </p:nvSpPr>
        <p:spPr>
          <a:xfrm>
            <a:off x="457200" y="4315968"/>
            <a:ext cx="82296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050"/>
              <a:buFont typeface="Calibri"/>
              <a:buNone/>
            </a:pPr>
            <a:r>
              <a:rPr b="1" i="0" lang="en-GB" sz="1050" u="none" cap="none" strike="noStrike">
                <a:solidFill>
                  <a:srgbClr val="1A1A2E"/>
                </a:solidFill>
                <a:latin typeface="Calibri"/>
                <a:ea typeface="Calibri"/>
                <a:cs typeface="Calibri"/>
                <a:sym typeface="Calibri"/>
              </a:rPr>
              <a:t>Deterministic fallback: </a:t>
            </a:r>
            <a:r>
              <a:rPr b="0" i="0" lang="en-GB" sz="1050" u="none" cap="none" strike="noStrike">
                <a:solidFill>
                  <a:srgbClr val="6B7280"/>
                </a:solidFill>
                <a:latin typeface="Calibri"/>
                <a:ea typeface="Calibri"/>
                <a:cs typeface="Calibri"/>
                <a:sym typeface="Calibri"/>
              </a:rPr>
              <a:t>All LLM calls have hard fallbacks. MZ header check, PE\0\0 signature, SHA256 filename match, duplicate detection, and SQLite quarantine run unconditionally. OLLAMA_ENABLED=False disables all LLM calls without breaking the pipeline.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442" name="Shape 442"/>
        <p:cNvGrpSpPr/>
        <p:nvPr/>
      </p:nvGrpSpPr>
      <p:grpSpPr>
        <a:xfrm>
          <a:off x="0" y="0"/>
          <a:ext cx="0" cy="0"/>
          <a:chOff x="0" y="0"/>
          <a:chExt cx="0" cy="0"/>
        </a:xfrm>
      </p:grpSpPr>
      <p:sp>
        <p:nvSpPr>
          <p:cNvPr id="443" name="Google Shape;443;p23"/>
          <p:cNvSpPr/>
          <p:nvPr/>
        </p:nvSpPr>
        <p:spPr>
          <a:xfrm>
            <a:off x="1899175" y="868685"/>
            <a:ext cx="5486400" cy="3291900"/>
          </a:xfrm>
          <a:prstGeom prst="rect">
            <a:avLst/>
          </a:prstGeom>
          <a:solidFill>
            <a:srgbClr val="16213E"/>
          </a:solidFill>
          <a:ln cap="flat" cmpd="sng" w="254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3"/>
          <p:cNvSpPr/>
          <p:nvPr/>
        </p:nvSpPr>
        <p:spPr>
          <a:xfrm>
            <a:off x="2926080" y="1005840"/>
            <a:ext cx="3291840" cy="1645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4560"/>
              </a:buClr>
              <a:buSzPts val="8000"/>
              <a:buFont typeface="Calibri"/>
              <a:buNone/>
            </a:pPr>
            <a:r>
              <a:rPr b="0" i="0" lang="en-GB" sz="8000" u="none" cap="none" strike="noStrike">
                <a:solidFill>
                  <a:srgbClr val="E94560"/>
                </a:solidFill>
                <a:latin typeface="Calibri"/>
                <a:ea typeface="Calibri"/>
                <a:cs typeface="Calibri"/>
                <a:sym typeface="Calibri"/>
              </a:rPr>
              <a:t>▶</a:t>
            </a:r>
            <a:endParaRPr b="0" i="0" sz="8000" u="none" cap="none" strike="noStrike">
              <a:solidFill>
                <a:schemeClr val="dk1"/>
              </a:solidFill>
              <a:latin typeface="Calibri"/>
              <a:ea typeface="Calibri"/>
              <a:cs typeface="Calibri"/>
              <a:sym typeface="Calibri"/>
            </a:endParaRPr>
          </a:p>
        </p:txBody>
      </p:sp>
      <p:sp>
        <p:nvSpPr>
          <p:cNvPr id="445" name="Google Shape;445;p23"/>
          <p:cNvSpPr/>
          <p:nvPr/>
        </p:nvSpPr>
        <p:spPr>
          <a:xfrm>
            <a:off x="1828800" y="2788920"/>
            <a:ext cx="54864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Calibri"/>
              <a:buNone/>
            </a:pPr>
            <a:r>
              <a:rPr b="1" i="0" lang="en-GB" sz="3000" u="none" cap="none" strike="noStrike">
                <a:solidFill>
                  <a:srgbClr val="FFFFFF"/>
                </a:solidFill>
                <a:latin typeface="Calibri"/>
                <a:ea typeface="Calibri"/>
                <a:cs typeface="Calibri"/>
                <a:sym typeface="Calibri"/>
              </a:rPr>
              <a:t>LIVE DEMO</a:t>
            </a:r>
            <a:endParaRPr b="0" i="0" sz="3000" u="none" cap="none" strike="noStrike">
              <a:solidFill>
                <a:schemeClr val="dk1"/>
              </a:solidFill>
              <a:latin typeface="Calibri"/>
              <a:ea typeface="Calibri"/>
              <a:cs typeface="Calibri"/>
              <a:sym typeface="Calibri"/>
            </a:endParaRPr>
          </a:p>
        </p:txBody>
      </p:sp>
      <p:sp>
        <p:nvSpPr>
          <p:cNvPr id="446" name="Google Shape;446;p23"/>
          <p:cNvSpPr/>
          <p:nvPr/>
        </p:nvSpPr>
        <p:spPr>
          <a:xfrm>
            <a:off x="914400" y="4206240"/>
            <a:ext cx="73152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400"/>
              <a:buFont typeface="Calibri"/>
              <a:buNone/>
            </a:pPr>
            <a:r>
              <a:rPr b="0" i="1" lang="en-GB" sz="1400" u="none" cap="none" strike="noStrike">
                <a:solidFill>
                  <a:srgbClr val="6B7280"/>
                </a:solidFill>
                <a:latin typeface="Calibri"/>
                <a:ea typeface="Calibri"/>
                <a:cs typeface="Calibri"/>
                <a:sym typeface="Calibri"/>
              </a:rPr>
              <a:t>[Insert demo video here]</a:t>
            </a:r>
            <a:endParaRPr b="0" i="0" sz="1400" u="none" cap="none" strike="noStrike">
              <a:solidFill>
                <a:schemeClr val="dk1"/>
              </a:solidFill>
              <a:latin typeface="Calibri"/>
              <a:ea typeface="Calibri"/>
              <a:cs typeface="Calibri"/>
              <a:sym typeface="Calibri"/>
            </a:endParaRPr>
          </a:p>
        </p:txBody>
      </p:sp>
      <p:sp>
        <p:nvSpPr>
          <p:cNvPr id="447" name="Google Shape;447;p23"/>
          <p:cNvSpPr/>
          <p:nvPr/>
        </p:nvSpPr>
        <p:spPr>
          <a:xfrm>
            <a:off x="457200" y="4663440"/>
            <a:ext cx="82296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050"/>
              <a:buFont typeface="Calibri"/>
              <a:buNone/>
            </a:pPr>
            <a:r>
              <a:rPr b="0" i="0" lang="en-GB" sz="1050" u="none" cap="none" strike="noStrike">
                <a:solidFill>
                  <a:srgbClr val="4B5563"/>
                </a:solidFill>
                <a:latin typeface="Calibri"/>
                <a:ea typeface="Calibri"/>
                <a:cs typeface="Calibri"/>
                <a:sym typeface="Calibri"/>
              </a:rPr>
              <a:t>Bootstrap  →  Sample collection  →  Feature extraction  →  Drift detection  →  Model retrain  →  Evaluation</a:t>
            </a:r>
            <a:endParaRPr b="0" i="0" sz="1050" u="none" cap="none" strike="noStrike">
              <a:solidFill>
                <a:schemeClr val="dk1"/>
              </a:solidFill>
              <a:latin typeface="Calibri"/>
              <a:ea typeface="Calibri"/>
              <a:cs typeface="Calibri"/>
              <a:sym typeface="Calibri"/>
            </a:endParaRPr>
          </a:p>
        </p:txBody>
      </p:sp>
      <p:pic>
        <p:nvPicPr>
          <p:cNvPr id="448" name="Google Shape;448;p23" title="AMD Agent - final project">
            <a:hlinkClick r:id="rId3"/>
          </p:cNvPr>
          <p:cNvPicPr preferRelativeResize="0"/>
          <p:nvPr/>
        </p:nvPicPr>
        <p:blipFill>
          <a:blip r:embed="rId4">
            <a:alphaModFix/>
          </a:blip>
          <a:stretch>
            <a:fillRect/>
          </a:stretch>
        </p:blipFill>
        <p:spPr>
          <a:xfrm>
            <a:off x="861913" y="388113"/>
            <a:ext cx="7560934" cy="4253025"/>
          </a:xfrm>
          <a:prstGeom prst="rect">
            <a:avLst/>
          </a:prstGeom>
          <a:noFill/>
          <a:ln>
            <a:noFill/>
          </a:ln>
        </p:spPr>
      </p:pic>
      <p:sp>
        <p:nvSpPr>
          <p:cNvPr id="449" name="Google Shape;449;p23"/>
          <p:cNvSpPr/>
          <p:nvPr/>
        </p:nvSpPr>
        <p:spPr>
          <a:xfrm>
            <a:off x="0" y="0"/>
            <a:ext cx="9144000" cy="63900"/>
          </a:xfrm>
          <a:prstGeom prst="rect">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53" name="Shape 453"/>
        <p:cNvGrpSpPr/>
        <p:nvPr/>
      </p:nvGrpSpPr>
      <p:grpSpPr>
        <a:xfrm>
          <a:off x="0" y="0"/>
          <a:ext cx="0" cy="0"/>
          <a:chOff x="0" y="0"/>
          <a:chExt cx="0" cy="0"/>
        </a:xfrm>
      </p:grpSpPr>
      <p:sp>
        <p:nvSpPr>
          <p:cNvPr id="454" name="Google Shape;454;p24"/>
          <p:cNvSpPr/>
          <p:nvPr/>
        </p:nvSpPr>
        <p:spPr>
          <a:xfrm>
            <a:off x="0" y="0"/>
            <a:ext cx="9144000" cy="63900"/>
          </a:xfrm>
          <a:prstGeom prst="rect">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24"/>
          <p:cNvSpPr txBox="1"/>
          <p:nvPr/>
        </p:nvSpPr>
        <p:spPr>
          <a:xfrm>
            <a:off x="409575" y="190500"/>
            <a:ext cx="8315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300">
                <a:solidFill>
                  <a:srgbClr val="1A1A2E"/>
                </a:solidFill>
                <a:latin typeface="Calibri"/>
                <a:ea typeface="Calibri"/>
                <a:cs typeface="Calibri"/>
                <a:sym typeface="Calibri"/>
              </a:rPr>
              <a:t>Last Model </a:t>
            </a:r>
            <a:r>
              <a:rPr b="1" lang="en-GB" sz="2300">
                <a:solidFill>
                  <a:srgbClr val="1A1A2E"/>
                </a:solidFill>
                <a:latin typeface="Calibri"/>
                <a:ea typeface="Calibri"/>
                <a:cs typeface="Calibri"/>
                <a:sym typeface="Calibri"/>
              </a:rPr>
              <a:t>Performance Results</a:t>
            </a:r>
            <a:endParaRPr b="1" sz="2300">
              <a:solidFill>
                <a:srgbClr val="1A1A2E"/>
              </a:solidFill>
              <a:latin typeface="Calibri"/>
              <a:ea typeface="Calibri"/>
              <a:cs typeface="Calibri"/>
              <a:sym typeface="Calibri"/>
            </a:endParaRPr>
          </a:p>
        </p:txBody>
      </p:sp>
      <p:sp>
        <p:nvSpPr>
          <p:cNvPr id="456" name="Google Shape;456;p24"/>
          <p:cNvSpPr/>
          <p:nvPr/>
        </p:nvSpPr>
        <p:spPr>
          <a:xfrm>
            <a:off x="3619500" y="4524375"/>
            <a:ext cx="1905000" cy="285900"/>
          </a:xfrm>
          <a:prstGeom prst="roundRect">
            <a:avLst>
              <a:gd fmla="val 13333" name="adj"/>
            </a:avLst>
          </a:prstGeom>
          <a:solidFill>
            <a:srgbClr val="FFFFFF"/>
          </a:solidFill>
          <a:ln cap="flat"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4"/>
          <p:cNvSpPr txBox="1"/>
          <p:nvPr/>
        </p:nvSpPr>
        <p:spPr>
          <a:xfrm>
            <a:off x="3619500" y="4524375"/>
            <a:ext cx="1905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0D9488"/>
                </a:solidFill>
                <a:latin typeface="Calibri"/>
                <a:ea typeface="Calibri"/>
                <a:cs typeface="Calibri"/>
                <a:sym typeface="Calibri"/>
              </a:rPr>
              <a:t>EXPERIMENTAL RESULTS OVERVIEW</a:t>
            </a:r>
            <a:endParaRPr b="1" sz="1000">
              <a:solidFill>
                <a:srgbClr val="0D9488"/>
              </a:solidFill>
              <a:latin typeface="Calibri"/>
              <a:ea typeface="Calibri"/>
              <a:cs typeface="Calibri"/>
              <a:sym typeface="Calibri"/>
            </a:endParaRPr>
          </a:p>
        </p:txBody>
      </p:sp>
      <p:sp>
        <p:nvSpPr>
          <p:cNvPr id="458" name="Google Shape;458;p24"/>
          <p:cNvSpPr txBox="1"/>
          <p:nvPr/>
        </p:nvSpPr>
        <p:spPr>
          <a:xfrm>
            <a:off x="409575" y="4857750"/>
            <a:ext cx="83154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4B5563"/>
                </a:solidFill>
                <a:latin typeface="Calibri"/>
                <a:ea typeface="Calibri"/>
                <a:cs typeface="Calibri"/>
                <a:sym typeface="Calibri"/>
              </a:rPr>
              <a:t>Comprehensive evaluation metrics demonstrating the model's efficacy and reliability across varied test scenarios.</a:t>
            </a:r>
            <a:endParaRPr b="0" sz="1100">
              <a:solidFill>
                <a:srgbClr val="4B5563"/>
              </a:solidFill>
              <a:latin typeface="Calibri"/>
              <a:ea typeface="Calibri"/>
              <a:cs typeface="Calibri"/>
              <a:sym typeface="Calibri"/>
            </a:endParaRPr>
          </a:p>
        </p:txBody>
      </p:sp>
      <p:pic>
        <p:nvPicPr>
          <p:cNvPr id="459" name="Google Shape;459;p24" title="confusion_matrices.png"/>
          <p:cNvPicPr preferRelativeResize="0"/>
          <p:nvPr/>
        </p:nvPicPr>
        <p:blipFill>
          <a:blip r:embed="rId3">
            <a:alphaModFix/>
          </a:blip>
          <a:stretch>
            <a:fillRect/>
          </a:stretch>
        </p:blipFill>
        <p:spPr>
          <a:xfrm>
            <a:off x="648488" y="793500"/>
            <a:ext cx="4148550" cy="3552675"/>
          </a:xfrm>
          <a:prstGeom prst="rect">
            <a:avLst/>
          </a:prstGeom>
          <a:noFill/>
          <a:ln>
            <a:noFill/>
          </a:ln>
        </p:spPr>
      </p:pic>
      <p:pic>
        <p:nvPicPr>
          <p:cNvPr id="460" name="Google Shape;460;p24" title="roc_curves.png"/>
          <p:cNvPicPr preferRelativeResize="0"/>
          <p:nvPr/>
        </p:nvPicPr>
        <p:blipFill>
          <a:blip r:embed="rId4">
            <a:alphaModFix/>
          </a:blip>
          <a:stretch>
            <a:fillRect/>
          </a:stretch>
        </p:blipFill>
        <p:spPr>
          <a:xfrm>
            <a:off x="4949437" y="793500"/>
            <a:ext cx="3546071" cy="3552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25"/>
          <p:cNvPicPr preferRelativeResize="0"/>
          <p:nvPr/>
        </p:nvPicPr>
        <p:blipFill>
          <a:blip r:embed="rId3">
            <a:alphaModFix/>
          </a:blip>
          <a:stretch>
            <a:fillRect/>
          </a:stretch>
        </p:blipFill>
        <p:spPr>
          <a:xfrm>
            <a:off x="1276953" y="1474016"/>
            <a:ext cx="6590075" cy="1996325"/>
          </a:xfrm>
          <a:prstGeom prst="rect">
            <a:avLst/>
          </a:prstGeom>
          <a:noFill/>
          <a:ln>
            <a:noFill/>
          </a:ln>
        </p:spPr>
      </p:pic>
      <p:sp>
        <p:nvSpPr>
          <p:cNvPr id="466" name="Google Shape;466;p25"/>
          <p:cNvSpPr/>
          <p:nvPr/>
        </p:nvSpPr>
        <p:spPr>
          <a:xfrm>
            <a:off x="0" y="0"/>
            <a:ext cx="9144000" cy="66600"/>
          </a:xfrm>
          <a:prstGeom prst="rect">
            <a:avLst/>
          </a:prstGeom>
          <a:solidFill>
            <a:srgbClr val="E945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25"/>
          <p:cNvSpPr/>
          <p:nvPr/>
        </p:nvSpPr>
        <p:spPr>
          <a:xfrm>
            <a:off x="0" y="0"/>
            <a:ext cx="9144000" cy="63900"/>
          </a:xfrm>
          <a:prstGeom prst="rect">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68" name="Google Shape;468;p25"/>
          <p:cNvPicPr preferRelativeResize="0"/>
          <p:nvPr/>
        </p:nvPicPr>
        <p:blipFill>
          <a:blip r:embed="rId4">
            <a:alphaModFix/>
          </a:blip>
          <a:stretch>
            <a:fillRect/>
          </a:stretch>
        </p:blipFill>
        <p:spPr>
          <a:xfrm>
            <a:off x="539400" y="1214450"/>
            <a:ext cx="7828623" cy="2324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73" name="Shape 473"/>
        <p:cNvGrpSpPr/>
        <p:nvPr/>
      </p:nvGrpSpPr>
      <p:grpSpPr>
        <a:xfrm>
          <a:off x="0" y="0"/>
          <a:ext cx="0" cy="0"/>
          <a:chOff x="0" y="0"/>
          <a:chExt cx="0" cy="0"/>
        </a:xfrm>
      </p:grpSpPr>
      <p:sp>
        <p:nvSpPr>
          <p:cNvPr id="474" name="Google Shape;474;p26"/>
          <p:cNvSpPr/>
          <p:nvPr/>
        </p:nvSpPr>
        <p:spPr>
          <a:xfrm>
            <a:off x="0" y="0"/>
            <a:ext cx="9144000" cy="64008"/>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6"/>
          <p:cNvSpPr/>
          <p:nvPr/>
        </p:nvSpPr>
        <p:spPr>
          <a:xfrm>
            <a:off x="411480" y="128016"/>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300"/>
              <a:buFont typeface="Calibri"/>
              <a:buNone/>
            </a:pPr>
            <a:r>
              <a:rPr b="1" lang="en-GB" sz="2300">
                <a:solidFill>
                  <a:srgbClr val="1A1A2E"/>
                </a:solidFill>
                <a:latin typeface="Calibri"/>
                <a:ea typeface="Calibri"/>
                <a:cs typeface="Calibri"/>
                <a:sym typeface="Calibri"/>
              </a:rPr>
              <a:t>Performance over Time &amp; Drift </a:t>
            </a:r>
            <a:r>
              <a:rPr b="1" i="0" lang="en-GB" sz="2300" u="none" cap="none" strike="noStrike">
                <a:solidFill>
                  <a:srgbClr val="1A1A2E"/>
                </a:solidFill>
                <a:latin typeface="Calibri"/>
                <a:ea typeface="Calibri"/>
                <a:cs typeface="Calibri"/>
                <a:sym typeface="Calibri"/>
              </a:rPr>
              <a:t>Results &amp; Evaluation</a:t>
            </a:r>
            <a:endParaRPr b="0" i="0" sz="2300" u="none" cap="none" strike="noStrike">
              <a:solidFill>
                <a:schemeClr val="dk1"/>
              </a:solidFill>
              <a:latin typeface="Calibri"/>
              <a:ea typeface="Calibri"/>
              <a:cs typeface="Calibri"/>
              <a:sym typeface="Calibri"/>
            </a:endParaRPr>
          </a:p>
        </p:txBody>
      </p:sp>
      <p:pic>
        <p:nvPicPr>
          <p:cNvPr descr="C:\Users\doric\Desktop\Dor\Studies\Ariel\Third Year\Semester B\נושאים מתקדמים בהגנת סייבר\Matala 2\graphs\perf_over_time.png" id="476" name="Google Shape;476;p26"/>
          <p:cNvPicPr preferRelativeResize="0"/>
          <p:nvPr/>
        </p:nvPicPr>
        <p:blipFill rotWithShape="1">
          <a:blip r:embed="rId3">
            <a:alphaModFix/>
          </a:blip>
          <a:srcRect b="0" l="0" r="0" t="0"/>
          <a:stretch/>
        </p:blipFill>
        <p:spPr>
          <a:xfrm>
            <a:off x="411488" y="1137362"/>
            <a:ext cx="4160528" cy="2868774"/>
          </a:xfrm>
          <a:prstGeom prst="rect">
            <a:avLst/>
          </a:prstGeom>
          <a:noFill/>
          <a:ln>
            <a:noFill/>
          </a:ln>
        </p:spPr>
      </p:pic>
      <p:sp>
        <p:nvSpPr>
          <p:cNvPr id="477" name="Google Shape;477;p26"/>
          <p:cNvSpPr/>
          <p:nvPr/>
        </p:nvSpPr>
        <p:spPr>
          <a:xfrm>
            <a:off x="411570" y="4088215"/>
            <a:ext cx="41604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Calibri"/>
              <a:buNone/>
            </a:pPr>
            <a:r>
              <a:rPr b="0" i="1" lang="en-GB" sz="900" u="none" cap="none" strike="noStrike">
                <a:solidFill>
                  <a:srgbClr val="6B7280"/>
                </a:solidFill>
                <a:latin typeface="Calibri"/>
                <a:ea typeface="Calibri"/>
                <a:cs typeface="Calibri"/>
                <a:sym typeface="Calibri"/>
              </a:rPr>
              <a:t>Performance Over Time (Acc/Prec/Rec/FPR)</a:t>
            </a:r>
            <a:endParaRPr b="0" i="0" sz="900" u="none" cap="none" strike="noStrike">
              <a:solidFill>
                <a:schemeClr val="dk1"/>
              </a:solidFill>
              <a:latin typeface="Calibri"/>
              <a:ea typeface="Calibri"/>
              <a:cs typeface="Calibri"/>
              <a:sym typeface="Calibri"/>
            </a:endParaRPr>
          </a:p>
        </p:txBody>
      </p:sp>
      <p:pic>
        <p:nvPicPr>
          <p:cNvPr descr="C:\Users\doric\Desktop\Dor\Studies\Ariel\Third Year\Semester B\נושאים מתקדמים בהגנת סייבר\Matala 2\graphs\drift_retrain_impact.png" id="478" name="Google Shape;478;p26"/>
          <p:cNvPicPr preferRelativeResize="0"/>
          <p:nvPr/>
        </p:nvPicPr>
        <p:blipFill rotWithShape="1">
          <a:blip r:embed="rId4">
            <a:alphaModFix/>
          </a:blip>
          <a:srcRect b="0" l="0" r="0" t="0"/>
          <a:stretch/>
        </p:blipFill>
        <p:spPr>
          <a:xfrm>
            <a:off x="4657025" y="1137350"/>
            <a:ext cx="4160403" cy="2868776"/>
          </a:xfrm>
          <a:prstGeom prst="rect">
            <a:avLst/>
          </a:prstGeom>
          <a:noFill/>
          <a:ln>
            <a:noFill/>
          </a:ln>
        </p:spPr>
      </p:pic>
      <p:sp>
        <p:nvSpPr>
          <p:cNvPr id="479" name="Google Shape;479;p26"/>
          <p:cNvSpPr/>
          <p:nvPr/>
        </p:nvSpPr>
        <p:spPr>
          <a:xfrm>
            <a:off x="4657020" y="4088213"/>
            <a:ext cx="41604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Calibri"/>
              <a:buNone/>
            </a:pPr>
            <a:r>
              <a:rPr b="0" i="1" lang="en-GB" sz="900" u="none" cap="none" strike="noStrike">
                <a:solidFill>
                  <a:srgbClr val="6B7280"/>
                </a:solidFill>
                <a:latin typeface="Calibri"/>
                <a:ea typeface="Calibri"/>
                <a:cs typeface="Calibri"/>
                <a:sym typeface="Calibri"/>
              </a:rPr>
              <a:t>Drift → Retrain Delta (before/after)</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84" name="Shape 484"/>
        <p:cNvGrpSpPr/>
        <p:nvPr/>
      </p:nvGrpSpPr>
      <p:grpSpPr>
        <a:xfrm>
          <a:off x="0" y="0"/>
          <a:ext cx="0" cy="0"/>
          <a:chOff x="0" y="0"/>
          <a:chExt cx="0" cy="0"/>
        </a:xfrm>
      </p:grpSpPr>
      <p:sp>
        <p:nvSpPr>
          <p:cNvPr id="485" name="Google Shape;485;p27"/>
          <p:cNvSpPr/>
          <p:nvPr/>
        </p:nvSpPr>
        <p:spPr>
          <a:xfrm>
            <a:off x="0" y="0"/>
            <a:ext cx="9144000" cy="64008"/>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7"/>
          <p:cNvSpPr/>
          <p:nvPr/>
        </p:nvSpPr>
        <p:spPr>
          <a:xfrm>
            <a:off x="411480" y="128016"/>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300"/>
              <a:buFont typeface="Calibri"/>
              <a:buNone/>
            </a:pPr>
            <a:r>
              <a:rPr b="1" i="0" lang="en-GB" sz="2300" u="none" cap="none" strike="noStrike">
                <a:solidFill>
                  <a:srgbClr val="1A1A2E"/>
                </a:solidFill>
                <a:latin typeface="Calibri"/>
                <a:ea typeface="Calibri"/>
                <a:cs typeface="Calibri"/>
                <a:sym typeface="Calibri"/>
              </a:rPr>
              <a:t>Additional Metrics — Source &amp; Tool Analysis</a:t>
            </a:r>
            <a:endParaRPr b="0" i="0" sz="2300" u="none" cap="none" strike="noStrike">
              <a:solidFill>
                <a:schemeClr val="dk1"/>
              </a:solidFill>
              <a:latin typeface="Calibri"/>
              <a:ea typeface="Calibri"/>
              <a:cs typeface="Calibri"/>
              <a:sym typeface="Calibri"/>
            </a:endParaRPr>
          </a:p>
        </p:txBody>
      </p:sp>
      <p:pic>
        <p:nvPicPr>
          <p:cNvPr descr="C:\Users\doric\Desktop\Dor\Studies\Ariel\Third Year\Semester B\נושאים מתקדמים בהגנת סייבר\Matala 2\graphs\data_per_source.png" id="487" name="Google Shape;487;p27"/>
          <p:cNvPicPr preferRelativeResize="0"/>
          <p:nvPr/>
        </p:nvPicPr>
        <p:blipFill rotWithShape="1">
          <a:blip r:embed="rId3">
            <a:alphaModFix/>
          </a:blip>
          <a:srcRect b="0" l="0" r="0" t="0"/>
          <a:stretch/>
        </p:blipFill>
        <p:spPr>
          <a:xfrm>
            <a:off x="4663440" y="786384"/>
            <a:ext cx="4206240" cy="4023360"/>
          </a:xfrm>
          <a:prstGeom prst="rect">
            <a:avLst/>
          </a:prstGeom>
          <a:noFill/>
          <a:ln>
            <a:noFill/>
          </a:ln>
        </p:spPr>
      </p:pic>
      <p:sp>
        <p:nvSpPr>
          <p:cNvPr id="488" name="Google Shape;488;p27"/>
          <p:cNvSpPr/>
          <p:nvPr/>
        </p:nvSpPr>
        <p:spPr>
          <a:xfrm>
            <a:off x="274320" y="4828032"/>
            <a:ext cx="42062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Calibri"/>
              <a:buNone/>
            </a:pPr>
            <a:r>
              <a:rPr b="0" i="1" lang="en-GB" sz="900" u="none" cap="none" strike="noStrike">
                <a:solidFill>
                  <a:srgbClr val="6B7280"/>
                </a:solidFill>
                <a:latin typeface="Calibri"/>
                <a:ea typeface="Calibri"/>
                <a:cs typeface="Calibri"/>
                <a:sym typeface="Calibri"/>
              </a:rPr>
              <a:t>Agent Tool Usage Breakdown</a:t>
            </a:r>
            <a:endParaRPr b="0" i="0" sz="900" u="none" cap="none" strike="noStrike">
              <a:solidFill>
                <a:schemeClr val="dk1"/>
              </a:solidFill>
              <a:latin typeface="Calibri"/>
              <a:ea typeface="Calibri"/>
              <a:cs typeface="Calibri"/>
              <a:sym typeface="Calibri"/>
            </a:endParaRPr>
          </a:p>
        </p:txBody>
      </p:sp>
      <p:sp>
        <p:nvSpPr>
          <p:cNvPr id="489" name="Google Shape;489;p27"/>
          <p:cNvSpPr/>
          <p:nvPr/>
        </p:nvSpPr>
        <p:spPr>
          <a:xfrm>
            <a:off x="4663440" y="4828032"/>
            <a:ext cx="42062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Calibri"/>
              <a:buNone/>
            </a:pPr>
            <a:r>
              <a:rPr b="0" i="1" lang="en-GB" sz="900" u="none" cap="none" strike="noStrike">
                <a:solidFill>
                  <a:srgbClr val="6B7280"/>
                </a:solidFill>
                <a:latin typeface="Calibri"/>
                <a:ea typeface="Calibri"/>
                <a:cs typeface="Calibri"/>
                <a:sym typeface="Calibri"/>
              </a:rPr>
              <a:t>Sample Distribution per Source</a:t>
            </a:r>
            <a:endParaRPr b="0" i="0" sz="900" u="none" cap="none" strike="noStrike">
              <a:solidFill>
                <a:schemeClr val="dk1"/>
              </a:solidFill>
              <a:latin typeface="Calibri"/>
              <a:ea typeface="Calibri"/>
              <a:cs typeface="Calibri"/>
              <a:sym typeface="Calibri"/>
            </a:endParaRPr>
          </a:p>
        </p:txBody>
      </p:sp>
      <p:pic>
        <p:nvPicPr>
          <p:cNvPr descr="C:\Users\doric\Desktop\Dor\Studies\Ariel\Third Year\Semester B\נושאים מתקדמים בהגנת סייבר\Matala 2\graphs\agent_tool_utilization.png" id="490" name="Google Shape;490;p27"/>
          <p:cNvPicPr preferRelativeResize="0"/>
          <p:nvPr/>
        </p:nvPicPr>
        <p:blipFill rotWithShape="1">
          <a:blip r:embed="rId4">
            <a:alphaModFix/>
          </a:blip>
          <a:srcRect b="0" l="0" r="0" t="0"/>
          <a:stretch/>
        </p:blipFill>
        <p:spPr>
          <a:xfrm>
            <a:off x="274325" y="777238"/>
            <a:ext cx="4206225" cy="40416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495" name="Shape 495"/>
        <p:cNvGrpSpPr/>
        <p:nvPr/>
      </p:nvGrpSpPr>
      <p:grpSpPr>
        <a:xfrm>
          <a:off x="0" y="0"/>
          <a:ext cx="0" cy="0"/>
          <a:chOff x="0" y="0"/>
          <a:chExt cx="0" cy="0"/>
        </a:xfrm>
      </p:grpSpPr>
      <p:sp>
        <p:nvSpPr>
          <p:cNvPr id="496" name="Google Shape;496;p28"/>
          <p:cNvSpPr/>
          <p:nvPr/>
        </p:nvSpPr>
        <p:spPr>
          <a:xfrm>
            <a:off x="0" y="0"/>
            <a:ext cx="100584" cy="5143500"/>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8"/>
          <p:cNvSpPr/>
          <p:nvPr/>
        </p:nvSpPr>
        <p:spPr>
          <a:xfrm>
            <a:off x="7680960" y="0"/>
            <a:ext cx="1463040" cy="5143500"/>
          </a:xfrm>
          <a:prstGeom prst="rect">
            <a:avLst/>
          </a:prstGeom>
          <a:solidFill>
            <a:srgbClr val="16213E"/>
          </a:solidFill>
          <a:ln cap="flat" cmpd="sng" w="12700">
            <a:solidFill>
              <a:srgbClr val="1621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8"/>
          <p:cNvSpPr/>
          <p:nvPr/>
        </p:nvSpPr>
        <p:spPr>
          <a:xfrm>
            <a:off x="347472" y="256032"/>
            <a:ext cx="71323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GB" sz="3000" u="none" cap="none" strike="noStrike">
                <a:solidFill>
                  <a:srgbClr val="FFFFFF"/>
                </a:solidFill>
                <a:latin typeface="Calibri"/>
                <a:ea typeface="Calibri"/>
                <a:cs typeface="Calibri"/>
                <a:sym typeface="Calibri"/>
              </a:rPr>
              <a:t>Conclusion</a:t>
            </a:r>
            <a:endParaRPr b="0" i="0" sz="3000" u="none" cap="none" strike="noStrike">
              <a:solidFill>
                <a:schemeClr val="dk1"/>
              </a:solidFill>
              <a:latin typeface="Calibri"/>
              <a:ea typeface="Calibri"/>
              <a:cs typeface="Calibri"/>
              <a:sym typeface="Calibri"/>
            </a:endParaRPr>
          </a:p>
        </p:txBody>
      </p:sp>
      <p:sp>
        <p:nvSpPr>
          <p:cNvPr id="499" name="Google Shape;499;p28"/>
          <p:cNvSpPr/>
          <p:nvPr/>
        </p:nvSpPr>
        <p:spPr>
          <a:xfrm>
            <a:off x="347472" y="914400"/>
            <a:ext cx="3657600" cy="41148"/>
          </a:xfrm>
          <a:prstGeom prst="rect">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8"/>
          <p:cNvSpPr/>
          <p:nvPr/>
        </p:nvSpPr>
        <p:spPr>
          <a:xfrm>
            <a:off x="347472" y="1005840"/>
            <a:ext cx="7132320" cy="2743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E5E7EB"/>
              </a:buClr>
              <a:buSzPts val="1150"/>
              <a:buFont typeface="Calibri"/>
              <a:buChar char="•"/>
            </a:pPr>
            <a:r>
              <a:rPr b="0" i="0" lang="en-GB" sz="1150" u="none" cap="none" strike="noStrike">
                <a:solidFill>
                  <a:srgbClr val="E5E7EB"/>
                </a:solidFill>
                <a:latin typeface="Calibri"/>
                <a:ea typeface="Calibri"/>
                <a:cs typeface="Calibri"/>
                <a:sym typeface="Calibri"/>
              </a:rPr>
              <a:t>Fully autonomous PE malware detection — no predefined dataset</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5E7EB"/>
              </a:buClr>
              <a:buSzPts val="1150"/>
              <a:buFont typeface="Calibri"/>
              <a:buChar char="•"/>
            </a:pPr>
            <a:r>
              <a:rPr b="0" i="0" lang="en-GB" sz="1150" u="none" cap="none" strike="noStrike">
                <a:solidFill>
                  <a:srgbClr val="E5E7EB"/>
                </a:solidFill>
                <a:latin typeface="Calibri"/>
                <a:ea typeface="Calibri"/>
                <a:cs typeface="Calibri"/>
                <a:sym typeface="Calibri"/>
              </a:rPr>
              <a:t>9 live data sources with circuit breakers, cooldown &amp; success-rate ranking</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5E7EB"/>
              </a:buClr>
              <a:buSzPts val="1150"/>
              <a:buFont typeface="Calibri"/>
              <a:buChar char="•"/>
            </a:pPr>
            <a:r>
              <a:rPr b="0" i="0" lang="en-GB" sz="1150" u="none" cap="none" strike="noStrike">
                <a:solidFill>
                  <a:srgbClr val="E5E7EB"/>
                </a:solidFill>
                <a:latin typeface="Calibri"/>
                <a:ea typeface="Calibri"/>
                <a:cs typeface="Calibri"/>
                <a:sym typeface="Calibri"/>
              </a:rPr>
              <a:t>2304-dim EMBER-like vector, XGBoost selection → top 384 features</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5E7EB"/>
              </a:buClr>
              <a:buSzPts val="1150"/>
              <a:buFont typeface="Calibri"/>
              <a:buChar char="•"/>
            </a:pPr>
            <a:r>
              <a:rPr b="0" i="0" lang="en-GB" sz="1150" u="none" cap="none" strike="noStrike">
                <a:solidFill>
                  <a:srgbClr val="E5E7EB"/>
                </a:solidFill>
                <a:latin typeface="Calibri"/>
                <a:ea typeface="Calibri"/>
                <a:cs typeface="Calibri"/>
                <a:sym typeface="Calibri"/>
              </a:rPr>
              <a:t>Dual drift detection: ADWIN entropy stream + multivariate window shift</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5E7EB"/>
              </a:buClr>
              <a:buSzPts val="1150"/>
              <a:buFont typeface="Calibri"/>
              <a:buChar char="•"/>
            </a:pPr>
            <a:r>
              <a:rPr b="0" i="0" lang="en-GB" sz="1150" u="none" cap="none" strike="noStrike">
                <a:solidFill>
                  <a:srgbClr val="E5E7EB"/>
                </a:solidFill>
                <a:latin typeface="Calibri"/>
                <a:ea typeface="Calibri"/>
                <a:cs typeface="Calibri"/>
                <a:sym typeface="Calibri"/>
              </a:rPr>
              <a:t>MADAR-inspired replay: family-proportional + Isolation Forest ranking</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5E7EB"/>
              </a:buClr>
              <a:buSzPts val="1150"/>
              <a:buFont typeface="Calibri"/>
              <a:buChar char="•"/>
            </a:pPr>
            <a:r>
              <a:rPr b="0" i="0" lang="en-GB" sz="1150" u="none" cap="none" strike="noStrike">
                <a:solidFill>
                  <a:srgbClr val="E5E7EB"/>
                </a:solidFill>
                <a:latin typeface="Calibri"/>
                <a:ea typeface="Calibri"/>
                <a:cs typeface="Calibri"/>
                <a:sym typeface="Calibri"/>
              </a:rPr>
              <a:t>TESSERACT chronological holdout prevents temporal data leakage</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5E7EB"/>
              </a:buClr>
              <a:buSzPts val="1150"/>
              <a:buFont typeface="Calibri"/>
              <a:buChar char="•"/>
            </a:pPr>
            <a:r>
              <a:rPr b="0" i="0" lang="en-GB" sz="1150" u="none" cap="none" strike="noStrike">
                <a:solidFill>
                  <a:srgbClr val="E5E7EB"/>
                </a:solidFill>
                <a:latin typeface="Calibri"/>
                <a:ea typeface="Calibri"/>
                <a:cs typeface="Calibri"/>
                <a:sym typeface="Calibri"/>
              </a:rPr>
              <a:t>Ollama LLM sidecar for CTI filtering &amp; drift explanations — fully optional</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5E7EB"/>
              </a:buClr>
              <a:buSzPts val="1150"/>
              <a:buFont typeface="Calibri"/>
              <a:buChar char="•"/>
            </a:pPr>
            <a:r>
              <a:rPr b="0" i="0" lang="en-GB" sz="1150" u="none" cap="none" strike="noStrike">
                <a:solidFill>
                  <a:srgbClr val="E5E7EB"/>
                </a:solidFill>
                <a:latin typeface="Calibri"/>
                <a:ea typeface="Calibri"/>
                <a:cs typeface="Calibri"/>
                <a:sym typeface="Calibri"/>
              </a:rPr>
              <a:t>Docker-first with iptables egress for safe live malware handling</a:t>
            </a:r>
            <a:endParaRPr b="0" i="0" sz="1150" u="none" cap="none" strike="noStrike">
              <a:solidFill>
                <a:schemeClr val="dk1"/>
              </a:solidFill>
              <a:latin typeface="Calibri"/>
              <a:ea typeface="Calibri"/>
              <a:cs typeface="Calibri"/>
              <a:sym typeface="Calibri"/>
            </a:endParaRPr>
          </a:p>
        </p:txBody>
      </p:sp>
      <p:sp>
        <p:nvSpPr>
          <p:cNvPr id="501" name="Google Shape;501;p28"/>
          <p:cNvSpPr/>
          <p:nvPr/>
        </p:nvSpPr>
        <p:spPr>
          <a:xfrm>
            <a:off x="347472" y="3822192"/>
            <a:ext cx="7132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4560"/>
              </a:buClr>
              <a:buSzPts val="1250"/>
              <a:buFont typeface="Calibri"/>
              <a:buNone/>
            </a:pPr>
            <a:r>
              <a:rPr b="1" i="0" lang="en-GB" sz="1250" u="none" cap="none" strike="noStrike">
                <a:solidFill>
                  <a:srgbClr val="E94560"/>
                </a:solidFill>
                <a:latin typeface="Calibri"/>
                <a:ea typeface="Calibri"/>
                <a:cs typeface="Calibri"/>
                <a:sym typeface="Calibri"/>
              </a:rPr>
              <a:t>Future Work:</a:t>
            </a:r>
            <a:endParaRPr b="0" i="0" sz="1250" u="none" cap="none" strike="noStrike">
              <a:solidFill>
                <a:schemeClr val="dk1"/>
              </a:solidFill>
              <a:latin typeface="Calibri"/>
              <a:ea typeface="Calibri"/>
              <a:cs typeface="Calibri"/>
              <a:sym typeface="Calibri"/>
            </a:endParaRPr>
          </a:p>
        </p:txBody>
      </p:sp>
      <p:sp>
        <p:nvSpPr>
          <p:cNvPr id="502" name="Google Shape;502;p28"/>
          <p:cNvSpPr/>
          <p:nvPr/>
        </p:nvSpPr>
        <p:spPr>
          <a:xfrm>
            <a:off x="347472" y="4169664"/>
            <a:ext cx="7132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alibri"/>
              <a:buNone/>
            </a:pPr>
            <a:r>
              <a:rPr b="0" i="1" lang="en-GB" sz="1050" u="none" cap="none" strike="noStrike">
                <a:solidFill>
                  <a:srgbClr val="9CA3AF"/>
                </a:solidFill>
                <a:latin typeface="Calibri"/>
                <a:ea typeface="Calibri"/>
                <a:cs typeface="Calibri"/>
                <a:sym typeface="Calibri"/>
              </a:rPr>
              <a:t>Multi-agent LangGraph subgraphs  ·  RL-based source selection  ·  Automatic query generation  ·  Malware clustering + explainability</a:t>
            </a:r>
            <a:endParaRPr b="0" i="0" sz="1050" u="none" cap="none" strike="noStrike">
              <a:solidFill>
                <a:schemeClr val="dk1"/>
              </a:solidFill>
              <a:latin typeface="Calibri"/>
              <a:ea typeface="Calibri"/>
              <a:cs typeface="Calibri"/>
              <a:sym typeface="Calibri"/>
            </a:endParaRPr>
          </a:p>
        </p:txBody>
      </p:sp>
      <p:sp>
        <p:nvSpPr>
          <p:cNvPr id="503" name="Google Shape;503;p28"/>
          <p:cNvSpPr/>
          <p:nvPr/>
        </p:nvSpPr>
        <p:spPr>
          <a:xfrm>
            <a:off x="347472" y="4645152"/>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4560"/>
              </a:buClr>
              <a:buSzPts val="1700"/>
              <a:buFont typeface="Calibri"/>
              <a:buNone/>
            </a:pPr>
            <a:r>
              <a:rPr b="1" i="0" lang="en-GB" sz="1700" u="none" cap="none" strike="noStrike">
                <a:solidFill>
                  <a:srgbClr val="E94560"/>
                </a:solidFill>
                <a:latin typeface="Calibri"/>
                <a:ea typeface="Calibri"/>
                <a:cs typeface="Calibri"/>
                <a:sym typeface="Calibri"/>
              </a:rPr>
              <a:t>Thank you!</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